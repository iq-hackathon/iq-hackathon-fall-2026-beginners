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1"/>
  </p:notesMasterIdLst>
  <p:sldIdLst>
    <p:sldId id="257" r:id="rId3"/>
    <p:sldId id="361" r:id="rId4"/>
    <p:sldId id="360" r:id="rId5"/>
    <p:sldId id="362" r:id="rId6"/>
    <p:sldId id="363" r:id="rId7"/>
    <p:sldId id="364" r:id="rId8"/>
    <p:sldId id="365" r:id="rId9"/>
    <p:sldId id="260" r:id="rId10"/>
    <p:sldId id="366" r:id="rId11"/>
    <p:sldId id="367" r:id="rId12"/>
    <p:sldId id="368" r:id="rId13"/>
    <p:sldId id="369" r:id="rId14"/>
    <p:sldId id="372" r:id="rId15"/>
    <p:sldId id="373" r:id="rId16"/>
    <p:sldId id="370" r:id="rId17"/>
    <p:sldId id="374" r:id="rId18"/>
    <p:sldId id="371" r:id="rId19"/>
    <p:sldId id="3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5568"/>
    <a:srgbClr val="163E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/>
    <p:restoredTop sz="94606"/>
  </p:normalViewPr>
  <p:slideViewPr>
    <p:cSldViewPr snapToGrid="0">
      <p:cViewPr varScale="1">
        <p:scale>
          <a:sx n="92" d="100"/>
          <a:sy n="92" d="100"/>
        </p:scale>
        <p:origin x="184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A7DC9-BD05-9242-9DC8-91D8DD7DAB2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40A6D2-53AE-1340-9332-FCE20C4E4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73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E72E1-1AE0-4643-8460-6A602C5A1D2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763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1C2E2-5B9A-B1A6-D4E3-0372CA86D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943437-6923-BAC5-B6A9-BC81777FDD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93A6DD-6A79-AB18-BC51-B64114868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A4B06-73F1-510D-5348-F390F9524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EE72E1-1AE0-4643-8460-6A602C5A1D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067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874A5-83BB-FE23-620C-FC98026A6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52DB0-AE80-EE82-9CED-9C53F1488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F31919-CC3D-F984-F248-5887277E2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Poll 1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E7EBA-C7DF-4418-70EE-4253065AD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EE72E1-1AE0-4643-8460-6A602C5A1D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9230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3723B-5D64-B690-C237-A29C1493C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715517-5308-8B8A-D56C-8BE5D55DC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D0ECBD-D5E3-E213-2463-33F0E6CFC2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3C94B-870B-EEE1-4DDD-E64AFBF1C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EE72E1-1AE0-4643-8460-6A602C5A1D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2975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CF2C9-EB75-DAC5-A8E5-5E0290B61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97D7D9-DF61-72EB-0346-7B95F6243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01EAE1-AEA2-9C69-EEF2-AB801F8A3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5BAD9-FED4-5D42-4BD1-73A3E7338D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EE72E1-1AE0-4643-8460-6A602C5A1D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779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A4850-ECC8-E009-2735-0599FA211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97EECE-B2C8-C8C2-FF02-F1E9C28FBE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556567-2183-3D33-0128-930527342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D7695-96FE-1848-21E7-6C5E709C7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EE72E1-1AE0-4643-8460-6A602C5A1D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2402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22052-969F-8CBD-5932-2F2EA17F1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F6C340-187C-DD8F-D62F-D42B1A922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791C2A-119F-1CFD-B8AE-C7640FE36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Poll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028B1-C16F-7A9E-A4C7-31A3208AE9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EE72E1-1AE0-4643-8460-6A602C5A1D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373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9A6B7-6490-D980-D780-2E6871921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AB4CC-B518-5458-E9C4-15657C476A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46E68D-AD88-11DB-E98F-030030B5A2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EEF1C-60D8-2147-B271-0AABAD974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EE72E1-1AE0-4643-8460-6A602C5A1D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76221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32DBA-1AF1-95AD-C5B8-39625A729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53E0D7-39E1-FDBD-16D1-4883FB4150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FF1563-7A24-A7C3-D80A-B67C1B071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Poll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59A3F-088B-BCDE-B371-BEBF2F3BE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EE72E1-1AE0-4643-8460-6A602C5A1D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80124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CBB15-ED2D-6864-C308-E97A5A686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DCA97-A141-CA6F-2E19-9A54498DFC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5B89B-8F04-E366-370E-F2CE5E048A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20A7B-90AC-3A2C-62CA-D0F484184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EE72E1-1AE0-4643-8460-6A602C5A1D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23164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7A580-1832-0BA5-4527-5A01DB956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5F27BB-EFDF-B5AF-AFBC-9D233A3282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A07D99-6562-910F-6128-857F0E94C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Poll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5B6F1-DFC9-C0E5-1BEF-D2A7A03513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EE72E1-1AE0-4643-8460-6A602C5A1D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56768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D8BF0-9EC0-4C66-ADA4-1975BF422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22702E-6C3F-C393-FC54-F014296A6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79481-EA5E-6DD9-F311-5EE28B48A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91845-011F-ECED-87ED-8260287DAE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EE72E1-1AE0-4643-8460-6A602C5A1D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41582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88BDD-C072-70E1-A6C3-E3EBC811C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04ADDE-5A09-F8F6-6F0A-5C4C9895C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F7C2CE-F2A7-0F4F-A9DA-5F93D758E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Poll 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F8562-504E-DDD6-2124-0F21B67DD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EE72E1-1AE0-4643-8460-6A602C5A1D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55343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99D4C-F9F4-EE66-2F67-1845C2D9E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76D2E-01AB-B49D-4EE3-8AC391964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340ABE-A01B-B96F-ACBC-0608704E7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9BA96-1B5D-8D2A-3B4D-8D6F9020D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EE72E1-1AE0-4643-8460-6A602C5A1D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16315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34EF8-63AD-9CFC-E0B9-8A64DBB7D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F021E1-93B1-3D48-B1E7-BD904A434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19E8E3-3A82-CC27-581F-7F137F6D5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9054C-7DE8-917A-AF41-AAAFE2AD1B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EE72E1-1AE0-4643-8460-6A602C5A1D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32129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38197-5B28-4B10-29B5-74A2E2C1F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29E0A-4546-72C9-A479-27960F531D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8DF119-C639-1B90-2FFE-8B15324C5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A2F78-ADEB-ADC3-E95C-BE52BBDF0D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EE72E1-1AE0-4643-8460-6A602C5A1D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24508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3E004-B034-62A1-3DEA-072DB3AB7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A4364-7C9F-649D-4E1F-1A8C63232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EA30D1-42D9-386E-B247-49C762966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3BA11-68A2-B711-420B-190D66D16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EE72E1-1AE0-4643-8460-6A602C5A1D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7387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FB820-230E-BFCC-1D1D-BE84964B2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5641-1CE6-2432-1E30-C66D41902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00039-6E21-7C74-FA50-D339D990B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93D29-ED27-5C4E-BEFE-C0E4D4757D9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F1848-726E-C6D0-4E16-11A1BC64A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D4833-5F07-8B85-3949-3135D29AA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E0297-EB06-3A46-9E14-FE40B2F39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8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3B760-589C-F79D-8149-5627A6BB7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7AB75-EAF6-AFF7-346A-AF587225D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90BBE-FDF2-2ED7-8C6C-916A7B33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93D29-ED27-5C4E-BEFE-C0E4D4757D9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F8C7C-AF25-D748-2556-30EBBA3F2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55302-2227-9C6D-197B-1F1271F9C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E0297-EB06-3A46-9E14-FE40B2F39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346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0D50D-DF7B-8A9F-70C8-00C6E428B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3D75D-961E-0C99-804A-9FE72D22F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8577B-9355-B6F1-4102-306082A10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93D29-ED27-5C4E-BEFE-C0E4D4757D9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55D14-18F8-9F67-5BD2-4771BBDB5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F7255-BD95-B2EF-775B-7924FE941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E0297-EB06-3A46-9E14-FE40B2F39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322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D69FC-F20F-7956-427A-EA2EFDD0A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3B652-1F1B-CD25-482C-8474168D24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2172A-0D26-8B03-EFCE-358F0B047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AD76D7-8731-3E13-8ACC-7B8FB805B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93D29-ED27-5C4E-BEFE-C0E4D4757D9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258C2-6A60-63AB-A832-600D8FF93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F2CEA-6CB6-33BE-49EC-0568A7E67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E0297-EB06-3A46-9E14-FE40B2F39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474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CB568-0CF1-95B2-0FEC-A51235A5C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2F79B-2125-A283-9ABE-01398845C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83940B-7AD6-3B74-6A82-47C333D1E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DAB1A9-B910-EBF6-99B0-9CF9423F6C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39CA4E-1103-6280-ABB4-19FE85195C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DA7194-E37D-3A29-6967-A4823F6CE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93D29-ED27-5C4E-BEFE-C0E4D4757D9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9F2649-46E9-CAEB-62B1-AB05110E1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438446-0186-E4AD-B43D-C72DF5359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E0297-EB06-3A46-9E14-FE40B2F39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235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B365-30EB-7C0C-A764-2F60DB820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8A27A0-15F8-1F28-CFAC-FCEE69842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93D29-ED27-5C4E-BEFE-C0E4D4757D9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0F9316-C090-593E-2569-145092C02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748CC-B6EB-9929-B48E-9DF756B38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E0297-EB06-3A46-9E14-FE40B2F39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343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54F964-CFA3-4015-9C88-7A486D6B3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93D29-ED27-5C4E-BEFE-C0E4D4757D9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894A44-AC64-5043-F685-0D11C517F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2CF1C-EB47-6FCC-A6E6-559ED197E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E0297-EB06-3A46-9E14-FE40B2F39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CBAB6-0DC8-6F84-1709-C721870D0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BA5A2-FF90-7E65-EC01-A4382AF6F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9868F0-BE75-4C3A-5074-6103866D3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F2382-767F-E32E-2DA4-9E2663EEE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93D29-ED27-5C4E-BEFE-C0E4D4757D9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6802C-2532-E4A4-8D60-A03C2A5C5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106D1-9708-B0B8-6F1A-2F657A8BF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E0297-EB06-3A46-9E14-FE40B2F39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921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5536C-4D05-7A84-D4E9-C348CF5FF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699BB3-69C3-E612-A4A2-0D8E2CDD65B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4FF99D-26D4-0802-BC87-0D96A30FA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6721C-F308-E4ED-33E3-B637CA515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93D29-ED27-5C4E-BEFE-C0E4D4757D9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9F4E4-1CCE-99F7-3A5B-D7843A542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D1B6D-FAD4-3628-696D-A9E6CB8D8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E0297-EB06-3A46-9E14-FE40B2F39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67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9895C-49CA-AA2D-A9E3-85F83FF92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F73945-0F74-CE84-E720-00E606AF58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AD8F6-7557-F703-6E36-A1BE9C89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93D29-ED27-5C4E-BEFE-C0E4D4757D9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F662B-19AB-707F-00A6-6B07F8FAE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8EB26-5CF5-BA6E-51A0-E5F73F42C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E0297-EB06-3A46-9E14-FE40B2F39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858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91E449-9AA1-28F1-8C83-E292EF1D27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B588C3-CEE4-7FDF-46FC-7F4D80F45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2C36F-C2A1-50C8-AB54-100CF708A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93D29-ED27-5C4E-BEFE-C0E4D4757D9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98B42-1D78-4A02-8190-C3AA9ADE8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2289B-3ACB-CD43-FFCC-59D7A5B0B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E0297-EB06-3A46-9E14-FE40B2F39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15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32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023070"/>
            <a:ext cx="10566400" cy="4022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321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55749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D175D-A503-7A55-22AC-5B40D97DF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BAA18-732D-3F75-A5DB-6398E1537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945AF-6930-8285-D28C-1E3FBE04DE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F93D29-ED27-5C4E-BEFE-C0E4D4757D9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96869-653A-FA0D-29B7-7800158B8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B901A-1A1E-29DF-0797-C01B28C2E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5E0297-EB06-3A46-9E14-FE40B2F39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29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32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023070"/>
            <a:ext cx="10566400" cy="4022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321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91594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7.png"/><Relationship Id="rId4" Type="http://schemas.openxmlformats.org/officeDocument/2006/relationships/image" Target="../media/image26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7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9" Type="http://schemas.openxmlformats.org/officeDocument/2006/relationships/image" Target="../media/image3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74895D8-F085-F27D-F615-C19E3FA6AFE5}"/>
              </a:ext>
            </a:extLst>
          </p:cNvPr>
          <p:cNvSpPr/>
          <p:nvPr/>
        </p:nvSpPr>
        <p:spPr>
          <a:xfrm>
            <a:off x="256303" y="1170810"/>
            <a:ext cx="11676464" cy="1416817"/>
          </a:xfrm>
          <a:prstGeom prst="roundRect">
            <a:avLst/>
          </a:prstGeom>
          <a:solidFill>
            <a:srgbClr val="163E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Univers Light" panose="020B0403020202020204" pitchFamily="34" charset="0"/>
              </a:rPr>
              <a:t>Variational quantum </a:t>
            </a:r>
            <a:r>
              <a:rPr lang="en-US" sz="3200" dirty="0" err="1">
                <a:latin typeface="Univers Light" panose="020B0403020202020204" pitchFamily="34" charset="0"/>
              </a:rPr>
              <a:t>eigensolver</a:t>
            </a:r>
            <a:endParaRPr lang="en-US" sz="3200" dirty="0">
              <a:latin typeface="Univers Light" panose="020B0403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01BA97-38FD-9583-D2DE-0B527FA5C687}"/>
              </a:ext>
            </a:extLst>
          </p:cNvPr>
          <p:cNvSpPr txBox="1"/>
          <p:nvPr/>
        </p:nvSpPr>
        <p:spPr>
          <a:xfrm>
            <a:off x="4709381" y="3112441"/>
            <a:ext cx="27703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Univers Light" panose="020B0403020202020204" pitchFamily="34" charset="0"/>
              </a:rPr>
              <a:t>Abhijit Chakraborty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9ECB26-B47B-AB20-16F0-F002561277EA}"/>
              </a:ext>
            </a:extLst>
          </p:cNvPr>
          <p:cNvSpPr txBox="1"/>
          <p:nvPr/>
        </p:nvSpPr>
        <p:spPr>
          <a:xfrm>
            <a:off x="1728596" y="3839749"/>
            <a:ext cx="873187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Univers Light" panose="020B0403020202020204" pitchFamily="34" charset="0"/>
              </a:rPr>
              <a:t>Department of Physics and Astronomy, Middle Tennessee State University</a:t>
            </a:r>
          </a:p>
          <a:p>
            <a:pPr algn="ctr"/>
            <a:endParaRPr lang="en-US" sz="2000" dirty="0">
              <a:latin typeface="Univers Light" panose="020B0403020202020204" pitchFamily="34" charset="0"/>
            </a:endParaRPr>
          </a:p>
          <a:p>
            <a:pPr algn="ctr"/>
            <a:r>
              <a:rPr lang="en-US" sz="2000" dirty="0">
                <a:latin typeface="Univers Light" panose="020B0403020202020204" pitchFamily="34" charset="0"/>
              </a:rPr>
              <a:t>Interstate quantum hackathon for beginners 2026</a:t>
            </a:r>
          </a:p>
        </p:txBody>
      </p:sp>
      <p:pic>
        <p:nvPicPr>
          <p:cNvPr id="7" name="Picture 6" descr="MTSU, MTE partner on tech hub to build region's quantum infrastructure –  MTSU News">
            <a:extLst>
              <a:ext uri="{FF2B5EF4-FFF2-40B4-BE49-F238E27FC236}">
                <a16:creationId xmlns:a16="http://schemas.microsoft.com/office/drawing/2014/main" id="{459D38E1-7FC8-14A8-1627-BBD4C3C9A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9281" y="5262546"/>
            <a:ext cx="1423471" cy="14641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C0A6AB-011A-D5DA-94E1-E100229F3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753" y="5395476"/>
            <a:ext cx="1198283" cy="11982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08678F-6AE5-1178-0FF1-C3ADA58AE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037" y="5632667"/>
            <a:ext cx="1689100" cy="7239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AC55AC-BA89-0E32-7262-0898F5FFDF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138" y="5371835"/>
            <a:ext cx="1984458" cy="1245564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EE798F41-75C0-E204-A42A-68EB36AC77B3}"/>
              </a:ext>
            </a:extLst>
          </p:cNvPr>
          <p:cNvGrpSpPr/>
          <p:nvPr/>
        </p:nvGrpSpPr>
        <p:grpSpPr>
          <a:xfrm>
            <a:off x="10876595" y="5279502"/>
            <a:ext cx="1260571" cy="1430230"/>
            <a:chOff x="10672195" y="5287563"/>
            <a:chExt cx="1260571" cy="143023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2C86932-90EB-50B4-6279-289E7B62E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72195" y="5287563"/>
              <a:ext cx="1260571" cy="1245564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11016B4-BBE5-75C0-4935-0F16245EA126}"/>
                </a:ext>
              </a:extLst>
            </p:cNvPr>
            <p:cNvSpPr txBox="1"/>
            <p:nvPr/>
          </p:nvSpPr>
          <p:spPr>
            <a:xfrm>
              <a:off x="10743545" y="6348461"/>
              <a:ext cx="1117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Scan me!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6B369A1D-C89A-C0CE-0FEA-D90EB330F02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7473" t="5432" r="6851" b="9222"/>
          <a:stretch>
            <a:fillRect/>
          </a:stretch>
        </p:blipFill>
        <p:spPr>
          <a:xfrm>
            <a:off x="161366" y="5407291"/>
            <a:ext cx="2754914" cy="117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444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E0165-F412-9B32-334F-2B37D7963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370F1BE-778A-E8CC-AC63-5C6A26E21ECB}"/>
              </a:ext>
            </a:extLst>
          </p:cNvPr>
          <p:cNvSpPr/>
          <p:nvPr/>
        </p:nvSpPr>
        <p:spPr>
          <a:xfrm>
            <a:off x="0" y="0"/>
            <a:ext cx="12192000" cy="653143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 panose="020B0403020202020204" pitchFamily="34" charset="0"/>
                <a:ea typeface="+mn-ea"/>
                <a:cs typeface="+mn-cs"/>
              </a:rPr>
              <a:t>Logistics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8FE11E-989F-422F-168C-A7D757E811BB}"/>
              </a:ext>
            </a:extLst>
          </p:cNvPr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ACB42F-FF53-1434-7819-CBFE527A6EDE}"/>
              </a:ext>
            </a:extLst>
          </p:cNvPr>
          <p:cNvSpPr txBox="1"/>
          <p:nvPr/>
        </p:nvSpPr>
        <p:spPr>
          <a:xfrm>
            <a:off x="1153722" y="656172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VQE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2BBAA-24D8-875B-7AD9-B72C96C40A29}"/>
              </a:ext>
            </a:extLst>
          </p:cNvPr>
          <p:cNvSpPr txBox="1"/>
          <p:nvPr/>
        </p:nvSpPr>
        <p:spPr>
          <a:xfrm>
            <a:off x="11450918" y="6551563"/>
            <a:ext cx="32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1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FC1611-9A6A-7BD0-3BDE-747C3E8295EC}"/>
              </a:ext>
            </a:extLst>
          </p:cNvPr>
          <p:cNvCxnSpPr/>
          <p:nvPr/>
        </p:nvCxnSpPr>
        <p:spPr>
          <a:xfrm>
            <a:off x="2733040" y="658368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6A2E63-FA34-FD78-771C-7FF771525C5E}"/>
              </a:ext>
            </a:extLst>
          </p:cNvPr>
          <p:cNvCxnSpPr/>
          <p:nvPr/>
        </p:nvCxnSpPr>
        <p:spPr>
          <a:xfrm>
            <a:off x="7762240" y="659384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7A6D4A9-C97E-01EA-F33C-2BF8447389C1}"/>
              </a:ext>
            </a:extLst>
          </p:cNvPr>
          <p:cNvSpPr txBox="1"/>
          <p:nvPr/>
        </p:nvSpPr>
        <p:spPr>
          <a:xfrm flipH="1">
            <a:off x="8424424" y="6551563"/>
            <a:ext cx="204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October 16, 2026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54CD114-09AF-8EF0-03C5-FAE4565C4012}"/>
              </a:ext>
            </a:extLst>
          </p:cNvPr>
          <p:cNvCxnSpPr/>
          <p:nvPr/>
        </p:nvCxnSpPr>
        <p:spPr>
          <a:xfrm>
            <a:off x="10911840" y="6595477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2005CA6-A77F-C7B4-56C5-4B40035747CB}"/>
              </a:ext>
            </a:extLst>
          </p:cNvPr>
          <p:cNvSpPr txBox="1"/>
          <p:nvPr/>
        </p:nvSpPr>
        <p:spPr>
          <a:xfrm>
            <a:off x="4857553" y="6551563"/>
            <a:ext cx="764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Univers Light"/>
              </a:rPr>
              <a:t>MTSU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4A5EA-E9AB-5110-C337-1DEEEF14B358}"/>
              </a:ext>
            </a:extLst>
          </p:cNvPr>
          <p:cNvSpPr txBox="1"/>
          <p:nvPr/>
        </p:nvSpPr>
        <p:spPr>
          <a:xfrm>
            <a:off x="258184" y="968188"/>
            <a:ext cx="978945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Lecture recordings, slides, and notebooks are available on </a:t>
            </a:r>
            <a:r>
              <a:rPr lang="en-US" dirty="0" err="1"/>
              <a:t>Github</a:t>
            </a:r>
            <a:r>
              <a:rPr lang="en-US" dirty="0"/>
              <a:t> (public repository):</a:t>
            </a:r>
          </a:p>
          <a:p>
            <a:endParaRPr lang="en-US" dirty="0"/>
          </a:p>
          <a:p>
            <a:r>
              <a:rPr lang="en-US" dirty="0"/>
              <a:t> 	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iq</a:t>
            </a:r>
            <a:r>
              <a:rPr lang="en-US" dirty="0"/>
              <a:t>-hackathon/IQ-Hackathon-Fall-2026-Beginners 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The materials will be uploaded after the lecture.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Challenges will be published on Thursday October 22, 2026.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You’re allowed to form a team of up to 5 people (look out for email with more instructions).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You’ll be given three tracks to choose from (three topics covered in today’s lecture):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1200150" lvl="2" indent="-285750">
              <a:buFont typeface="Wingdings" pitchFamily="2" charset="2"/>
              <a:buChar char="§"/>
            </a:pPr>
            <a:r>
              <a:rPr lang="en-US" dirty="0"/>
              <a:t>Variational quantum </a:t>
            </a:r>
            <a:r>
              <a:rPr lang="en-US" dirty="0" err="1"/>
              <a:t>eigensolvers</a:t>
            </a:r>
            <a:endParaRPr lang="en-US" dirty="0"/>
          </a:p>
          <a:p>
            <a:pPr marL="1200150" lvl="2" indent="-285750">
              <a:buFont typeface="Wingdings" pitchFamily="2" charset="2"/>
              <a:buChar char="§"/>
            </a:pPr>
            <a:endParaRPr lang="en-US" dirty="0"/>
          </a:p>
          <a:p>
            <a:pPr marL="1200150" lvl="2" indent="-285750">
              <a:buFont typeface="Wingdings" pitchFamily="2" charset="2"/>
              <a:buChar char="§"/>
            </a:pPr>
            <a:r>
              <a:rPr lang="en-US" dirty="0"/>
              <a:t>Quantum machine learning</a:t>
            </a:r>
          </a:p>
          <a:p>
            <a:pPr marL="1200150" lvl="2" indent="-285750">
              <a:buFont typeface="Wingdings" pitchFamily="2" charset="2"/>
              <a:buChar char="§"/>
            </a:pPr>
            <a:endParaRPr lang="en-US" dirty="0"/>
          </a:p>
          <a:p>
            <a:pPr marL="1200150" lvl="2" indent="-285750">
              <a:buFont typeface="Wingdings" pitchFamily="2" charset="2"/>
              <a:buChar char="§"/>
            </a:pPr>
            <a:r>
              <a:rPr lang="en-US" dirty="0"/>
              <a:t>Quantum approximate optimization algorithm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42EE83-672F-75E5-3AA3-6B9292CAF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597" y="714059"/>
            <a:ext cx="1627991" cy="162799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EC2C2C9-8676-88EC-494D-FF2A6C7C8EE8}"/>
              </a:ext>
            </a:extLst>
          </p:cNvPr>
          <p:cNvSpPr txBox="1"/>
          <p:nvPr/>
        </p:nvSpPr>
        <p:spPr>
          <a:xfrm>
            <a:off x="10283780" y="2402967"/>
            <a:ext cx="1763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Github</a:t>
            </a:r>
            <a:r>
              <a:rPr lang="en-US" dirty="0"/>
              <a:t> QR code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E854756-7AE4-8B6C-6653-166B195A1231}"/>
              </a:ext>
            </a:extLst>
          </p:cNvPr>
          <p:cNvGrpSpPr/>
          <p:nvPr/>
        </p:nvGrpSpPr>
        <p:grpSpPr>
          <a:xfrm>
            <a:off x="10283780" y="4628068"/>
            <a:ext cx="1260571" cy="1430230"/>
            <a:chOff x="10672195" y="5287563"/>
            <a:chExt cx="1260571" cy="143023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94CD664-C6D4-B1D2-C848-AC7DBD5020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72195" y="5287563"/>
              <a:ext cx="1260571" cy="1245564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17F787C-5DDD-0890-4BC7-47820196459E}"/>
                </a:ext>
              </a:extLst>
            </p:cNvPr>
            <p:cNvSpPr txBox="1"/>
            <p:nvPr/>
          </p:nvSpPr>
          <p:spPr>
            <a:xfrm>
              <a:off x="10743545" y="6348461"/>
              <a:ext cx="1117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Scan me!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8C56C79-37A5-CBA6-60C7-C4E52F0A96F5}"/>
              </a:ext>
            </a:extLst>
          </p:cNvPr>
          <p:cNvSpPr txBox="1"/>
          <p:nvPr/>
        </p:nvSpPr>
        <p:spPr>
          <a:xfrm>
            <a:off x="9269079" y="6054164"/>
            <a:ext cx="2778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ibm.biz</a:t>
            </a:r>
            <a:r>
              <a:rPr lang="en-US" dirty="0"/>
              <a:t>/IBMQFF26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97D70C-7841-68B6-9265-E3BF73B63DA7}"/>
              </a:ext>
            </a:extLst>
          </p:cNvPr>
          <p:cNvSpPr txBox="1"/>
          <p:nvPr/>
        </p:nvSpPr>
        <p:spPr>
          <a:xfrm>
            <a:off x="6660594" y="6054164"/>
            <a:ext cx="2716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More resources from IBM:</a:t>
            </a:r>
          </a:p>
        </p:txBody>
      </p:sp>
    </p:spTree>
    <p:extLst>
      <p:ext uri="{BB962C8B-B14F-4D97-AF65-F5344CB8AC3E}">
        <p14:creationId xmlns:p14="http://schemas.microsoft.com/office/powerpoint/2010/main" val="505950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6F115-EF2F-2B3B-A6AD-2077EEC2B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7206075-243E-89A0-50E5-43F73F810517}"/>
              </a:ext>
            </a:extLst>
          </p:cNvPr>
          <p:cNvSpPr/>
          <p:nvPr/>
        </p:nvSpPr>
        <p:spPr>
          <a:xfrm>
            <a:off x="0" y="-1"/>
            <a:ext cx="12192000" cy="653143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 panose="020B0403020202020204" pitchFamily="34" charset="0"/>
                <a:ea typeface="+mn-ea"/>
                <a:cs typeface="+mn-cs"/>
              </a:rPr>
              <a:t> What is optimization?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1A1264-7064-AD09-1169-1843849F32E9}"/>
              </a:ext>
            </a:extLst>
          </p:cNvPr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A75EA5-6089-8F90-4324-B05977B9D286}"/>
              </a:ext>
            </a:extLst>
          </p:cNvPr>
          <p:cNvSpPr txBox="1"/>
          <p:nvPr/>
        </p:nvSpPr>
        <p:spPr>
          <a:xfrm>
            <a:off x="1153722" y="656172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VQE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22CEDF-9AAB-AF44-42B6-A21708B2B95E}"/>
              </a:ext>
            </a:extLst>
          </p:cNvPr>
          <p:cNvSpPr txBox="1"/>
          <p:nvPr/>
        </p:nvSpPr>
        <p:spPr>
          <a:xfrm>
            <a:off x="11450918" y="6551563"/>
            <a:ext cx="32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Univers Light"/>
              </a:rPr>
              <a:t>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DC4287D-F549-17E7-F8DE-B9B708262A79}"/>
              </a:ext>
            </a:extLst>
          </p:cNvPr>
          <p:cNvCxnSpPr/>
          <p:nvPr/>
        </p:nvCxnSpPr>
        <p:spPr>
          <a:xfrm>
            <a:off x="2733040" y="658368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83059BC-9C32-6663-95BB-02AC07C59DDE}"/>
              </a:ext>
            </a:extLst>
          </p:cNvPr>
          <p:cNvCxnSpPr/>
          <p:nvPr/>
        </p:nvCxnSpPr>
        <p:spPr>
          <a:xfrm>
            <a:off x="7762240" y="659384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0A52FD6-86D3-BE7F-D87F-9BB19DC58D41}"/>
              </a:ext>
            </a:extLst>
          </p:cNvPr>
          <p:cNvSpPr txBox="1"/>
          <p:nvPr/>
        </p:nvSpPr>
        <p:spPr>
          <a:xfrm flipH="1">
            <a:off x="8424424" y="6551563"/>
            <a:ext cx="204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October 16, 2026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9F494B-0B58-27CB-DE1B-889E63BF64E9}"/>
              </a:ext>
            </a:extLst>
          </p:cNvPr>
          <p:cNvCxnSpPr/>
          <p:nvPr/>
        </p:nvCxnSpPr>
        <p:spPr>
          <a:xfrm>
            <a:off x="10911840" y="6595477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2D244D4-AB32-8925-1598-5040067AB458}"/>
              </a:ext>
            </a:extLst>
          </p:cNvPr>
          <p:cNvSpPr txBox="1"/>
          <p:nvPr/>
        </p:nvSpPr>
        <p:spPr>
          <a:xfrm>
            <a:off x="4857553" y="6551563"/>
            <a:ext cx="764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Univers Light"/>
              </a:rPr>
              <a:t>MTSU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A33FE078-F87F-9619-341F-833261326265}"/>
              </a:ext>
            </a:extLst>
          </p:cNvPr>
          <p:cNvSpPr/>
          <p:nvPr/>
        </p:nvSpPr>
        <p:spPr>
          <a:xfrm>
            <a:off x="328705" y="1025597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latin typeface="Aptos" panose="020B0004020202020204" pitchFamily="34" charset="0"/>
                <a:ea typeface="Arial" pitchFamily="34" charset="-122"/>
                <a:cs typeface="Calibri" panose="020F0502020204030204" pitchFamily="34" charset="0"/>
              </a:rPr>
              <a:t>Finding the best choice among many possible options.</a:t>
            </a:r>
            <a:endParaRPr lang="en-US" sz="1800" dirty="0"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934A8B65-CEF4-E033-7AEE-DB1FE229E493}"/>
              </a:ext>
            </a:extLst>
          </p:cNvPr>
          <p:cNvSpPr/>
          <p:nvPr/>
        </p:nvSpPr>
        <p:spPr>
          <a:xfrm>
            <a:off x="652047" y="1749069"/>
            <a:ext cx="3380284" cy="1611313"/>
          </a:xfrm>
          <a:prstGeom prst="roundRect">
            <a:avLst>
              <a:gd name="adj" fmla="val 6108"/>
            </a:avLst>
          </a:prstGeom>
          <a:solidFill>
            <a:srgbClr val="FFFDF8"/>
          </a:solidFill>
          <a:ln w="6350">
            <a:solidFill>
              <a:srgbClr val="E0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A881341B-D0CC-61D8-DC33-EB2D93F0AD4A}"/>
              </a:ext>
            </a:extLst>
          </p:cNvPr>
          <p:cNvSpPr/>
          <p:nvPr/>
        </p:nvSpPr>
        <p:spPr>
          <a:xfrm>
            <a:off x="909222" y="2006244"/>
            <a:ext cx="295191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213A"/>
                </a:solidFill>
                <a:latin typeface="Aptos" panose="020B0004020202020204" pitchFamily="34" charset="0"/>
                <a:ea typeface="Georgia" pitchFamily="18" charset="-122"/>
                <a:cs typeface="Georgia" pitchFamily="18" charset="-120"/>
              </a:rPr>
              <a:t>Cost function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3C573D71-4C38-AB3F-A248-5C26DA101390}"/>
              </a:ext>
            </a:extLst>
          </p:cNvPr>
          <p:cNvSpPr/>
          <p:nvPr/>
        </p:nvSpPr>
        <p:spPr>
          <a:xfrm>
            <a:off x="909222" y="2356684"/>
            <a:ext cx="295191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The quantity you want to make as small or as large as possible, such as time, cost or energy.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B3FFA395-8262-C3E8-0DFC-9B56BD668614}"/>
              </a:ext>
            </a:extLst>
          </p:cNvPr>
          <p:cNvSpPr/>
          <p:nvPr/>
        </p:nvSpPr>
        <p:spPr>
          <a:xfrm>
            <a:off x="4241881" y="1749069"/>
            <a:ext cx="3380383" cy="1611313"/>
          </a:xfrm>
          <a:prstGeom prst="roundRect">
            <a:avLst>
              <a:gd name="adj" fmla="val 6108"/>
            </a:avLst>
          </a:prstGeom>
          <a:solidFill>
            <a:srgbClr val="FFFDF8"/>
          </a:solidFill>
          <a:ln w="6350">
            <a:solidFill>
              <a:srgbClr val="E0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0F085500-560C-2E87-F7D1-B1F3410121D8}"/>
              </a:ext>
            </a:extLst>
          </p:cNvPr>
          <p:cNvSpPr/>
          <p:nvPr/>
        </p:nvSpPr>
        <p:spPr>
          <a:xfrm>
            <a:off x="4499056" y="2006244"/>
            <a:ext cx="295201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/>
              <a:t>Variables</a:t>
            </a: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4281891D-D6E7-E41F-2D28-4093548ED5B3}"/>
              </a:ext>
            </a:extLst>
          </p:cNvPr>
          <p:cNvSpPr/>
          <p:nvPr/>
        </p:nvSpPr>
        <p:spPr>
          <a:xfrm>
            <a:off x="4499056" y="2356684"/>
            <a:ext cx="295201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The choices you are free to adjust in order to change the objective.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EE80A302-193A-0258-0628-DB84F302FDCF}"/>
              </a:ext>
            </a:extLst>
          </p:cNvPr>
          <p:cNvSpPr/>
          <p:nvPr/>
        </p:nvSpPr>
        <p:spPr>
          <a:xfrm>
            <a:off x="7831813" y="1749069"/>
            <a:ext cx="3380284" cy="1611313"/>
          </a:xfrm>
          <a:prstGeom prst="roundRect">
            <a:avLst>
              <a:gd name="adj" fmla="val 6108"/>
            </a:avLst>
          </a:prstGeom>
          <a:solidFill>
            <a:srgbClr val="FFFDF8"/>
          </a:solidFill>
          <a:ln w="6350">
            <a:solidFill>
              <a:srgbClr val="E0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C00A128E-AA60-03AF-FF75-ADC2080D08DE}"/>
              </a:ext>
            </a:extLst>
          </p:cNvPr>
          <p:cNvSpPr/>
          <p:nvPr/>
        </p:nvSpPr>
        <p:spPr>
          <a:xfrm>
            <a:off x="8088988" y="2006244"/>
            <a:ext cx="295191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213A"/>
                </a:solidFill>
                <a:latin typeface="Aptos" panose="020B0004020202020204" pitchFamily="34" charset="0"/>
                <a:ea typeface="Georgia" pitchFamily="18" charset="-122"/>
                <a:cs typeface="Georgia" pitchFamily="18" charset="-120"/>
              </a:rPr>
              <a:t>Constraints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F6373818-FB58-AE41-D607-50A89C7A8DC3}"/>
              </a:ext>
            </a:extLst>
          </p:cNvPr>
          <p:cNvSpPr/>
          <p:nvPr/>
        </p:nvSpPr>
        <p:spPr>
          <a:xfrm>
            <a:off x="8088988" y="2356684"/>
            <a:ext cx="295191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The rules a valid answer must follow, such as a budget or a size limit.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F90D0B5E-5294-A2A4-AAFF-3BE6FCEDADC5}"/>
              </a:ext>
            </a:extLst>
          </p:cNvPr>
          <p:cNvSpPr/>
          <p:nvPr/>
        </p:nvSpPr>
        <p:spPr>
          <a:xfrm>
            <a:off x="328705" y="3793585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latin typeface="Aptos" panose="020B0004020202020204" pitchFamily="34" charset="0"/>
                <a:ea typeface="Arial" pitchFamily="34" charset="-122"/>
                <a:cs typeface="Calibri" panose="020F0502020204030204" pitchFamily="34" charset="0"/>
              </a:rPr>
              <a:t>Everyday examples:</a:t>
            </a:r>
            <a:endParaRPr lang="en-US" sz="1800" b="1" dirty="0"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2">
            <a:extLst>
              <a:ext uri="{FF2B5EF4-FFF2-40B4-BE49-F238E27FC236}">
                <a16:creationId xmlns:a16="http://schemas.microsoft.com/office/drawing/2014/main" id="{A413F8D9-19EB-B0A0-07A6-CC7F40E19953}"/>
              </a:ext>
            </a:extLst>
          </p:cNvPr>
          <p:cNvSpPr/>
          <p:nvPr/>
        </p:nvSpPr>
        <p:spPr>
          <a:xfrm>
            <a:off x="652047" y="4632374"/>
            <a:ext cx="5175250" cy="1601192"/>
          </a:xfrm>
          <a:prstGeom prst="roundRect">
            <a:avLst>
              <a:gd name="adj" fmla="val 6147"/>
            </a:avLst>
          </a:prstGeom>
          <a:solidFill>
            <a:srgbClr val="FFFDF8"/>
          </a:solidFill>
          <a:ln w="6350">
            <a:solidFill>
              <a:srgbClr val="E0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3">
            <a:extLst>
              <a:ext uri="{FF2B5EF4-FFF2-40B4-BE49-F238E27FC236}">
                <a16:creationId xmlns:a16="http://schemas.microsoft.com/office/drawing/2014/main" id="{48EDB9A6-AF3E-A25C-CA2C-7527A812CA5B}"/>
              </a:ext>
            </a:extLst>
          </p:cNvPr>
          <p:cNvSpPr/>
          <p:nvPr/>
        </p:nvSpPr>
        <p:spPr>
          <a:xfrm>
            <a:off x="858422" y="4838749"/>
            <a:ext cx="1202432" cy="289520"/>
          </a:xfrm>
          <a:prstGeom prst="roundRect">
            <a:avLst>
              <a:gd name="adj" fmla="val 43866"/>
            </a:avLst>
          </a:prstGeom>
          <a:solidFill>
            <a:srgbClr val="DCEBE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 time</a:t>
            </a:r>
            <a:endParaRPr lang="en-US" sz="1200" dirty="0"/>
          </a:p>
        </p:txBody>
      </p:sp>
      <p:sp>
        <p:nvSpPr>
          <p:cNvPr id="61" name="Text 4">
            <a:extLst>
              <a:ext uri="{FF2B5EF4-FFF2-40B4-BE49-F238E27FC236}">
                <a16:creationId xmlns:a16="http://schemas.microsoft.com/office/drawing/2014/main" id="{3F0B55ED-FC5A-4E05-AA21-99AB50CD6EF5}"/>
              </a:ext>
            </a:extLst>
          </p:cNvPr>
          <p:cNvSpPr/>
          <p:nvPr/>
        </p:nvSpPr>
        <p:spPr>
          <a:xfrm>
            <a:off x="858422" y="5191770"/>
            <a:ext cx="490537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213A"/>
                </a:solidFill>
                <a:latin typeface="Aptos" panose="020B0004020202020204" pitchFamily="34" charset="0"/>
                <a:ea typeface="Georgia" pitchFamily="18" charset="-122"/>
                <a:cs typeface="Georgia" pitchFamily="18" charset="-120"/>
              </a:rPr>
              <a:t>Getting to work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62" name="Text 5">
            <a:extLst>
              <a:ext uri="{FF2B5EF4-FFF2-40B4-BE49-F238E27FC236}">
                <a16:creationId xmlns:a16="http://schemas.microsoft.com/office/drawing/2014/main" id="{21DC432B-CB66-4535-112E-3EE28D208B9F}"/>
              </a:ext>
            </a:extLst>
          </p:cNvPr>
          <p:cNvSpPr/>
          <p:nvPr/>
        </p:nvSpPr>
        <p:spPr>
          <a:xfrm>
            <a:off x="858422" y="5529510"/>
            <a:ext cx="490537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Pick the route and departure time that get you there fastest, within the tolls you are willing to pay.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63" name="Shape 6">
            <a:extLst>
              <a:ext uri="{FF2B5EF4-FFF2-40B4-BE49-F238E27FC236}">
                <a16:creationId xmlns:a16="http://schemas.microsoft.com/office/drawing/2014/main" id="{104DA804-15C7-3731-1697-BA76958D43ED}"/>
              </a:ext>
            </a:extLst>
          </p:cNvPr>
          <p:cNvSpPr/>
          <p:nvPr/>
        </p:nvSpPr>
        <p:spPr>
          <a:xfrm>
            <a:off x="6036847" y="4632374"/>
            <a:ext cx="5175250" cy="1601192"/>
          </a:xfrm>
          <a:prstGeom prst="roundRect">
            <a:avLst>
              <a:gd name="adj" fmla="val 6147"/>
            </a:avLst>
          </a:prstGeom>
          <a:solidFill>
            <a:srgbClr val="FFFDF8"/>
          </a:solidFill>
          <a:ln w="6350">
            <a:solidFill>
              <a:srgbClr val="E0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20" name="Text 7">
            <a:extLst>
              <a:ext uri="{FF2B5EF4-FFF2-40B4-BE49-F238E27FC236}">
                <a16:creationId xmlns:a16="http://schemas.microsoft.com/office/drawing/2014/main" id="{385B559D-7AFE-1036-0C22-88643888DB45}"/>
              </a:ext>
            </a:extLst>
          </p:cNvPr>
          <p:cNvSpPr/>
          <p:nvPr/>
        </p:nvSpPr>
        <p:spPr>
          <a:xfrm>
            <a:off x="6243222" y="4838749"/>
            <a:ext cx="1312863" cy="289520"/>
          </a:xfrm>
          <a:prstGeom prst="roundRect">
            <a:avLst>
              <a:gd name="adj" fmla="val 43866"/>
            </a:avLst>
          </a:prstGeom>
          <a:solidFill>
            <a:srgbClr val="DCEBE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Maximize value</a:t>
            </a:r>
            <a:endParaRPr lang="en-US" sz="1200" dirty="0"/>
          </a:p>
        </p:txBody>
      </p:sp>
      <p:sp>
        <p:nvSpPr>
          <p:cNvPr id="5121" name="Text 8">
            <a:extLst>
              <a:ext uri="{FF2B5EF4-FFF2-40B4-BE49-F238E27FC236}">
                <a16:creationId xmlns:a16="http://schemas.microsoft.com/office/drawing/2014/main" id="{8F0B2D8B-6DCB-4219-622D-74950DC5B926}"/>
              </a:ext>
            </a:extLst>
          </p:cNvPr>
          <p:cNvSpPr/>
          <p:nvPr/>
        </p:nvSpPr>
        <p:spPr>
          <a:xfrm>
            <a:off x="6243222" y="5191770"/>
            <a:ext cx="490537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213A"/>
                </a:solidFill>
                <a:latin typeface="Aptos" panose="020B0004020202020204" pitchFamily="34" charset="0"/>
                <a:ea typeface="Georgia" pitchFamily="18" charset="-122"/>
                <a:cs typeface="Georgia" pitchFamily="18" charset="-120"/>
              </a:rPr>
              <a:t>Grocery shopping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5123" name="Text 9">
            <a:extLst>
              <a:ext uri="{FF2B5EF4-FFF2-40B4-BE49-F238E27FC236}">
                <a16:creationId xmlns:a16="http://schemas.microsoft.com/office/drawing/2014/main" id="{CB22B154-A54E-D39C-7576-B576F3EA199F}"/>
              </a:ext>
            </a:extLst>
          </p:cNvPr>
          <p:cNvSpPr/>
          <p:nvPr/>
        </p:nvSpPr>
        <p:spPr>
          <a:xfrm>
            <a:off x="6243222" y="5529510"/>
            <a:ext cx="490537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Fill the cart with the most useful food while staying under your weekly budget.</a:t>
            </a:r>
            <a:endParaRPr lang="en-US" sz="1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452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40" grpId="0" animBg="1"/>
      <p:bldP spid="55" grpId="0" animBg="1"/>
      <p:bldP spid="58" grpId="0" animBg="1"/>
      <p:bldP spid="61" grpId="0" animBg="1"/>
      <p:bldP spid="62" grpId="0" animBg="1"/>
      <p:bldP spid="63" grpId="0" animBg="1"/>
      <p:bldP spid="5120" grpId="0" animBg="1"/>
      <p:bldP spid="5121" grpId="0" animBg="1"/>
      <p:bldP spid="51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66A2E-C82B-B553-9655-C86874F57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27EACF-A481-0811-B400-EE8AE83AAC50}"/>
              </a:ext>
            </a:extLst>
          </p:cNvPr>
          <p:cNvSpPr/>
          <p:nvPr/>
        </p:nvSpPr>
        <p:spPr>
          <a:xfrm>
            <a:off x="0" y="0"/>
            <a:ext cx="12192000" cy="653143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 panose="020B0403020202020204" pitchFamily="34" charset="0"/>
                <a:ea typeface="+mn-ea"/>
                <a:cs typeface="+mn-cs"/>
              </a:rPr>
              <a:t>Mathematical formulation of optimization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34AC56-B82B-40B2-2319-D8B336341065}"/>
              </a:ext>
            </a:extLst>
          </p:cNvPr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BDAE7F-5CC6-179D-B0BA-56EAAEBC9A14}"/>
              </a:ext>
            </a:extLst>
          </p:cNvPr>
          <p:cNvSpPr txBox="1"/>
          <p:nvPr/>
        </p:nvSpPr>
        <p:spPr>
          <a:xfrm>
            <a:off x="1153722" y="656172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VQE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AC7FF8-0FEB-63B5-BCE4-03C35E42D7A3}"/>
              </a:ext>
            </a:extLst>
          </p:cNvPr>
          <p:cNvSpPr txBox="1"/>
          <p:nvPr/>
        </p:nvSpPr>
        <p:spPr>
          <a:xfrm>
            <a:off x="11450918" y="6551563"/>
            <a:ext cx="32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Univers Light"/>
              </a:rPr>
              <a:t>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5F1E91-844A-FB2C-BA95-269B552085A8}"/>
              </a:ext>
            </a:extLst>
          </p:cNvPr>
          <p:cNvCxnSpPr/>
          <p:nvPr/>
        </p:nvCxnSpPr>
        <p:spPr>
          <a:xfrm>
            <a:off x="2733040" y="658368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8484B7-4A08-4F7E-123E-1A21D222ACC7}"/>
              </a:ext>
            </a:extLst>
          </p:cNvPr>
          <p:cNvCxnSpPr/>
          <p:nvPr/>
        </p:nvCxnSpPr>
        <p:spPr>
          <a:xfrm>
            <a:off x="7762240" y="659384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C567561-2EC2-1834-42E3-662B94850AC1}"/>
              </a:ext>
            </a:extLst>
          </p:cNvPr>
          <p:cNvSpPr txBox="1"/>
          <p:nvPr/>
        </p:nvSpPr>
        <p:spPr>
          <a:xfrm flipH="1">
            <a:off x="8424424" y="6551563"/>
            <a:ext cx="204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October 16, 2026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B1CA52-28F5-F4CC-5EEA-7C5974B2FF8B}"/>
              </a:ext>
            </a:extLst>
          </p:cNvPr>
          <p:cNvCxnSpPr/>
          <p:nvPr/>
        </p:nvCxnSpPr>
        <p:spPr>
          <a:xfrm>
            <a:off x="10911840" y="6595477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EAF6708-A2AA-0718-6D2E-C738764D0313}"/>
              </a:ext>
            </a:extLst>
          </p:cNvPr>
          <p:cNvSpPr txBox="1"/>
          <p:nvPr/>
        </p:nvSpPr>
        <p:spPr>
          <a:xfrm>
            <a:off x="4857553" y="6551563"/>
            <a:ext cx="764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Univers Light"/>
              </a:rPr>
              <a:t>MTSU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8E0CC7-5FE5-FA20-D83E-BA569D527B66}"/>
              </a:ext>
            </a:extLst>
          </p:cNvPr>
          <p:cNvSpPr txBox="1"/>
          <p:nvPr/>
        </p:nvSpPr>
        <p:spPr>
          <a:xfrm>
            <a:off x="258184" y="968188"/>
            <a:ext cx="978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A cost function with variables.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B3E897-DE23-5B68-A027-FA7A247FA4D3}"/>
                  </a:ext>
                </a:extLst>
              </p:cNvPr>
              <p:cNvSpPr txBox="1"/>
              <p:nvPr/>
            </p:nvSpPr>
            <p:spPr>
              <a:xfrm>
                <a:off x="4885893" y="1514065"/>
                <a:ext cx="24202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=0.1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B3E897-DE23-5B68-A027-FA7A247FA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893" y="1514065"/>
                <a:ext cx="2420214" cy="276999"/>
              </a:xfrm>
              <a:prstGeom prst="rect">
                <a:avLst/>
              </a:prstGeom>
              <a:blipFill>
                <a:blip r:embed="rId3"/>
                <a:stretch>
                  <a:fillRect l="-3125" t="-8696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E4F0F8C8-0DD4-C6A2-B28D-8636D9751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5283" y="2199075"/>
            <a:ext cx="5941434" cy="378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44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4476C-8D54-9440-5D0E-386E80C86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AB6FEC-1075-3007-A410-AFE53D261458}"/>
              </a:ext>
            </a:extLst>
          </p:cNvPr>
          <p:cNvSpPr/>
          <p:nvPr/>
        </p:nvSpPr>
        <p:spPr>
          <a:xfrm>
            <a:off x="0" y="0"/>
            <a:ext cx="12192000" cy="653143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 panose="020B0403020202020204" pitchFamily="34" charset="0"/>
                <a:ea typeface="+mn-ea"/>
                <a:cs typeface="+mn-cs"/>
              </a:rPr>
              <a:t> Optimization with two parameters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84FAAE-EBC4-E2F2-B3FB-C0D90E776F59}"/>
              </a:ext>
            </a:extLst>
          </p:cNvPr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E8F2C8-DAC4-3D13-F68E-C841E1C71499}"/>
              </a:ext>
            </a:extLst>
          </p:cNvPr>
          <p:cNvSpPr txBox="1"/>
          <p:nvPr/>
        </p:nvSpPr>
        <p:spPr>
          <a:xfrm>
            <a:off x="1153722" y="656172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VQE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14FE48-5282-06AF-8726-C37645B951DE}"/>
              </a:ext>
            </a:extLst>
          </p:cNvPr>
          <p:cNvSpPr txBox="1"/>
          <p:nvPr/>
        </p:nvSpPr>
        <p:spPr>
          <a:xfrm>
            <a:off x="11450918" y="6551563"/>
            <a:ext cx="32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Univers Light"/>
              </a:rPr>
              <a:t>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719A66-0F6F-E156-09A1-85861C0EAAC5}"/>
              </a:ext>
            </a:extLst>
          </p:cNvPr>
          <p:cNvCxnSpPr/>
          <p:nvPr/>
        </p:nvCxnSpPr>
        <p:spPr>
          <a:xfrm>
            <a:off x="2733040" y="658368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9608E9-E74B-9EA7-4C96-A8A9F1E97293}"/>
              </a:ext>
            </a:extLst>
          </p:cNvPr>
          <p:cNvCxnSpPr/>
          <p:nvPr/>
        </p:nvCxnSpPr>
        <p:spPr>
          <a:xfrm>
            <a:off x="7762240" y="659384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CAB012D-392C-3014-7874-70EDD62BA993}"/>
              </a:ext>
            </a:extLst>
          </p:cNvPr>
          <p:cNvSpPr txBox="1"/>
          <p:nvPr/>
        </p:nvSpPr>
        <p:spPr>
          <a:xfrm flipH="1">
            <a:off x="8424424" y="6551563"/>
            <a:ext cx="204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October 16, 2026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CB5887-7373-C000-96E0-D494F9CFE571}"/>
              </a:ext>
            </a:extLst>
          </p:cNvPr>
          <p:cNvCxnSpPr/>
          <p:nvPr/>
        </p:nvCxnSpPr>
        <p:spPr>
          <a:xfrm>
            <a:off x="10911840" y="6595477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FC3EBC5-36F8-DA21-1D47-37D1132938F3}"/>
              </a:ext>
            </a:extLst>
          </p:cNvPr>
          <p:cNvSpPr txBox="1"/>
          <p:nvPr/>
        </p:nvSpPr>
        <p:spPr>
          <a:xfrm>
            <a:off x="4857553" y="6551563"/>
            <a:ext cx="764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Univers Light"/>
              </a:rPr>
              <a:t>MTSU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AC5D18-2D96-3A35-FD8A-8B3854E3C78E}"/>
                  </a:ext>
                </a:extLst>
              </p:cNvPr>
              <p:cNvSpPr txBox="1"/>
              <p:nvPr/>
            </p:nvSpPr>
            <p:spPr>
              <a:xfrm>
                <a:off x="4183008" y="1080841"/>
                <a:ext cx="38259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=0.1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AC5D18-2D96-3A35-FD8A-8B3854E3C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008" y="1080841"/>
                <a:ext cx="3825984" cy="276999"/>
              </a:xfrm>
              <a:prstGeom prst="rect">
                <a:avLst/>
              </a:prstGeom>
              <a:blipFill>
                <a:blip r:embed="rId3"/>
                <a:stretch>
                  <a:fillRect l="-1656" t="-4167" r="-165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E6B0DD81-1712-466E-3E3C-B7DCB1F0B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2832845"/>
            <a:ext cx="7772400" cy="3421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19FC566-91E8-0D7B-C805-8D03DE80C2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3750" y="1965068"/>
            <a:ext cx="29845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371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24FF4-D354-E417-222A-C01DEE738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3F38F38-2603-9571-99FF-2C80D1F0C518}"/>
              </a:ext>
            </a:extLst>
          </p:cNvPr>
          <p:cNvGrpSpPr/>
          <p:nvPr/>
        </p:nvGrpSpPr>
        <p:grpSpPr>
          <a:xfrm>
            <a:off x="411167" y="2124326"/>
            <a:ext cx="3380284" cy="1611313"/>
            <a:chOff x="411167" y="2124326"/>
            <a:chExt cx="3380284" cy="1611313"/>
          </a:xfrm>
        </p:grpSpPr>
        <p:sp>
          <p:nvSpPr>
            <p:cNvPr id="15" name="Shape 3">
              <a:extLst>
                <a:ext uri="{FF2B5EF4-FFF2-40B4-BE49-F238E27FC236}">
                  <a16:creationId xmlns:a16="http://schemas.microsoft.com/office/drawing/2014/main" id="{ADD25DDB-5707-206D-8162-EC1F7FDF2CC9}"/>
                </a:ext>
              </a:extLst>
            </p:cNvPr>
            <p:cNvSpPr/>
            <p:nvPr/>
          </p:nvSpPr>
          <p:spPr>
            <a:xfrm>
              <a:off x="411167" y="2124326"/>
              <a:ext cx="3380284" cy="1611313"/>
            </a:xfrm>
            <a:prstGeom prst="roundRect">
              <a:avLst>
                <a:gd name="adj" fmla="val 6108"/>
              </a:avLst>
            </a:prstGeom>
            <a:solidFill>
              <a:srgbClr val="FFFDF8"/>
            </a:solidFill>
            <a:ln w="6350">
              <a:solidFill>
                <a:srgbClr val="E0DDD2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Text 5">
              <a:extLst>
                <a:ext uri="{FF2B5EF4-FFF2-40B4-BE49-F238E27FC236}">
                  <a16:creationId xmlns:a16="http://schemas.microsoft.com/office/drawing/2014/main" id="{09B63FEF-98E9-7886-C675-CB448235F1F2}"/>
                </a:ext>
              </a:extLst>
            </p:cNvPr>
            <p:cNvSpPr/>
            <p:nvPr/>
          </p:nvSpPr>
          <p:spPr>
            <a:xfrm>
              <a:off x="532704" y="2816221"/>
              <a:ext cx="2951912" cy="7719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dirty="0">
                  <a:solidFill>
                    <a:srgbClr val="4A556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Move in the direction of maximum decrease of the cost function at each step.</a:t>
              </a:r>
              <a:endParaRPr lang="en-US" sz="1400" dirty="0">
                <a:latin typeface="Aptos" panose="020B0004020202020204" pitchFamily="34" charset="0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FA8FC393-1999-7DF3-0262-4D8143F4B1F3}"/>
              </a:ext>
            </a:extLst>
          </p:cNvPr>
          <p:cNvSpPr/>
          <p:nvPr/>
        </p:nvSpPr>
        <p:spPr>
          <a:xfrm>
            <a:off x="0" y="0"/>
            <a:ext cx="12192000" cy="653143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 panose="020B0403020202020204" pitchFamily="34" charset="0"/>
                <a:ea typeface="+mn-ea"/>
                <a:cs typeface="+mn-cs"/>
              </a:rPr>
              <a:t> Optimization with multiple parameters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050C31-1C93-AB97-C0F5-6356B9477A59}"/>
              </a:ext>
            </a:extLst>
          </p:cNvPr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B1DC76-054C-3665-5E83-562FB07CE482}"/>
              </a:ext>
            </a:extLst>
          </p:cNvPr>
          <p:cNvSpPr txBox="1"/>
          <p:nvPr/>
        </p:nvSpPr>
        <p:spPr>
          <a:xfrm>
            <a:off x="1153722" y="656172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VQE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A2ADC1-7A9A-F3C5-7600-DF28B86A7799}"/>
              </a:ext>
            </a:extLst>
          </p:cNvPr>
          <p:cNvSpPr txBox="1"/>
          <p:nvPr/>
        </p:nvSpPr>
        <p:spPr>
          <a:xfrm>
            <a:off x="11450918" y="6551563"/>
            <a:ext cx="32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Univers Light"/>
              </a:rPr>
              <a:t>5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ADA273-1C12-F04A-574A-B61039BE7E8B}"/>
              </a:ext>
            </a:extLst>
          </p:cNvPr>
          <p:cNvCxnSpPr/>
          <p:nvPr/>
        </p:nvCxnSpPr>
        <p:spPr>
          <a:xfrm>
            <a:off x="2733040" y="658368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2EC6D9-B069-6584-CE02-1A26E3462AC2}"/>
              </a:ext>
            </a:extLst>
          </p:cNvPr>
          <p:cNvCxnSpPr/>
          <p:nvPr/>
        </p:nvCxnSpPr>
        <p:spPr>
          <a:xfrm>
            <a:off x="7762240" y="659384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0C97A4E-BFB0-3AFC-2F9F-2BC818250C39}"/>
              </a:ext>
            </a:extLst>
          </p:cNvPr>
          <p:cNvSpPr txBox="1"/>
          <p:nvPr/>
        </p:nvSpPr>
        <p:spPr>
          <a:xfrm flipH="1">
            <a:off x="8424424" y="6551563"/>
            <a:ext cx="204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October 16, 2026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A7C778A-D0A3-C7EA-D7A7-93C7915DB279}"/>
              </a:ext>
            </a:extLst>
          </p:cNvPr>
          <p:cNvCxnSpPr/>
          <p:nvPr/>
        </p:nvCxnSpPr>
        <p:spPr>
          <a:xfrm>
            <a:off x="10911840" y="6595477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E12DE29-232E-FF4D-6C56-0495DB06E820}"/>
              </a:ext>
            </a:extLst>
          </p:cNvPr>
          <p:cNvSpPr txBox="1"/>
          <p:nvPr/>
        </p:nvSpPr>
        <p:spPr>
          <a:xfrm>
            <a:off x="4857553" y="6551563"/>
            <a:ext cx="764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Univers Light"/>
              </a:rPr>
              <a:t>MTSU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5C6DB3-E130-F0CF-61DF-638670A53189}"/>
              </a:ext>
            </a:extLst>
          </p:cNvPr>
          <p:cNvSpPr txBox="1"/>
          <p:nvPr/>
        </p:nvSpPr>
        <p:spPr>
          <a:xfrm>
            <a:off x="411167" y="914400"/>
            <a:ext cx="1131867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It’s very hard to visualize the cost function values (energy landscape) for multiple parameters. More than 3-d plot.</a:t>
            </a:r>
          </a:p>
          <a:p>
            <a:endParaRPr lang="en-US" dirty="0"/>
          </a:p>
          <a:p>
            <a:r>
              <a:rPr lang="en-US" dirty="0"/>
              <a:t>How can we find the optimal value (minimum) in these cases? </a:t>
            </a:r>
            <a:r>
              <a:rPr lang="en-US" dirty="0">
                <a:sym typeface="Wingdings" pitchFamily="2" charset="2"/>
              </a:rPr>
              <a:t> Optimization algorithms.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r>
              <a:rPr lang="en-US" b="1" dirty="0">
                <a:sym typeface="Wingdings" pitchFamily="2" charset="2"/>
              </a:rPr>
              <a:t>Gradient-based algorithms:</a:t>
            </a:r>
            <a:endParaRPr lang="en-US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BC3F146-15B6-F9E5-D376-2B85F46D4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574" y="2115487"/>
            <a:ext cx="7935858" cy="303742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040446C-AFEF-1DBA-176B-CA30F5BD5AC1}"/>
              </a:ext>
            </a:extLst>
          </p:cNvPr>
          <p:cNvSpPr txBox="1"/>
          <p:nvPr/>
        </p:nvSpPr>
        <p:spPr>
          <a:xfrm>
            <a:off x="411167" y="5492091"/>
            <a:ext cx="64478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Gradient-based: Stochastic gradient descent, ADAM, BFGS etc.</a:t>
            </a:r>
          </a:p>
          <a:p>
            <a:endParaRPr lang="en-US" dirty="0"/>
          </a:p>
          <a:p>
            <a:r>
              <a:rPr lang="en-US" dirty="0"/>
              <a:t>Problem: Getting stuck in a local minima.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1782CCB-8288-9068-DE2D-B8D159065A8D}"/>
                  </a:ext>
                </a:extLst>
              </p:cNvPr>
              <p:cNvSpPr txBox="1"/>
              <p:nvPr/>
            </p:nvSpPr>
            <p:spPr>
              <a:xfrm>
                <a:off x="829005" y="3960993"/>
                <a:ext cx="25446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𝑜𝑙𝑑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𝑜𝑙𝑑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1782CCB-8288-9068-DE2D-B8D159065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05" y="3960993"/>
                <a:ext cx="2544607" cy="276999"/>
              </a:xfrm>
              <a:prstGeom prst="rect">
                <a:avLst/>
              </a:prstGeom>
              <a:blipFill>
                <a:blip r:embed="rId4"/>
                <a:stretch>
                  <a:fillRect l="-995" t="-9091" r="-2985" b="-4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B61D6F54-1299-6AE1-8E4A-8643946F1A5A}"/>
              </a:ext>
            </a:extLst>
          </p:cNvPr>
          <p:cNvSpPr txBox="1"/>
          <p:nvPr/>
        </p:nvSpPr>
        <p:spPr>
          <a:xfrm>
            <a:off x="2733040" y="4406251"/>
            <a:ext cx="1049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Gradient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D2DF1D-2C69-47BC-7F1B-E5953729E2BE}"/>
              </a:ext>
            </a:extLst>
          </p:cNvPr>
          <p:cNvSpPr txBox="1"/>
          <p:nvPr/>
        </p:nvSpPr>
        <p:spPr>
          <a:xfrm>
            <a:off x="1187530" y="4406251"/>
            <a:ext cx="1476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Learning rate</a:t>
            </a:r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AFC4EABF-EAA6-88A2-DE91-423C3943585F}"/>
              </a:ext>
            </a:extLst>
          </p:cNvPr>
          <p:cNvSpPr/>
          <p:nvPr/>
        </p:nvSpPr>
        <p:spPr>
          <a:xfrm rot="5400000">
            <a:off x="2853064" y="3931602"/>
            <a:ext cx="206287" cy="834807"/>
          </a:xfrm>
          <a:prstGeom prst="rightBrace">
            <a:avLst>
              <a:gd name="adj1" fmla="val 31634"/>
              <a:gd name="adj2" fmla="val 48711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8C8036A-770A-B01B-1660-5723EB902835}"/>
              </a:ext>
            </a:extLst>
          </p:cNvPr>
          <p:cNvCxnSpPr/>
          <p:nvPr/>
        </p:nvCxnSpPr>
        <p:spPr>
          <a:xfrm flipH="1">
            <a:off x="2097741" y="4235104"/>
            <a:ext cx="204395" cy="283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836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EA8C3-5CD0-472F-0013-42DB85016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3">
            <a:extLst>
              <a:ext uri="{FF2B5EF4-FFF2-40B4-BE49-F238E27FC236}">
                <a16:creationId xmlns:a16="http://schemas.microsoft.com/office/drawing/2014/main" id="{5658B352-FC4E-93C0-2163-60B697C29ABA}"/>
              </a:ext>
            </a:extLst>
          </p:cNvPr>
          <p:cNvSpPr/>
          <p:nvPr/>
        </p:nvSpPr>
        <p:spPr>
          <a:xfrm>
            <a:off x="404568" y="1006054"/>
            <a:ext cx="3380284" cy="1611313"/>
          </a:xfrm>
          <a:prstGeom prst="roundRect">
            <a:avLst>
              <a:gd name="adj" fmla="val 6108"/>
            </a:avLst>
          </a:prstGeom>
          <a:solidFill>
            <a:srgbClr val="FFFDF8"/>
          </a:solidFill>
          <a:ln w="6350">
            <a:solidFill>
              <a:srgbClr val="E0DDD2"/>
            </a:solidFill>
            <a:prstDash val="solid"/>
          </a:ln>
        </p:spPr>
        <p:txBody>
          <a:bodyPr/>
          <a:lstStyle/>
          <a:p>
            <a:r>
              <a:rPr lang="en-US" dirty="0"/>
              <a:t>Gradient-free algorithms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68CFFF-3F2A-A163-FCF2-2819D7DD1258}"/>
              </a:ext>
            </a:extLst>
          </p:cNvPr>
          <p:cNvSpPr/>
          <p:nvPr/>
        </p:nvSpPr>
        <p:spPr>
          <a:xfrm>
            <a:off x="0" y="0"/>
            <a:ext cx="12192000" cy="653143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 panose="020B0403020202020204" pitchFamily="34" charset="0"/>
                <a:ea typeface="+mn-ea"/>
                <a:cs typeface="+mn-cs"/>
              </a:rPr>
              <a:t> Optimization with multiple parameters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B8C973-B682-8A94-5D8A-8855C4D03BF7}"/>
              </a:ext>
            </a:extLst>
          </p:cNvPr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FAA378-810B-E7F9-CAEA-CA94A9460DAE}"/>
              </a:ext>
            </a:extLst>
          </p:cNvPr>
          <p:cNvSpPr txBox="1"/>
          <p:nvPr/>
        </p:nvSpPr>
        <p:spPr>
          <a:xfrm>
            <a:off x="1153722" y="656172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VQE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A43CF5-4F02-18E0-14EC-99A0110F6696}"/>
              </a:ext>
            </a:extLst>
          </p:cNvPr>
          <p:cNvSpPr txBox="1"/>
          <p:nvPr/>
        </p:nvSpPr>
        <p:spPr>
          <a:xfrm>
            <a:off x="11450918" y="6551563"/>
            <a:ext cx="32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Univers Light"/>
              </a:rPr>
              <a:t>6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5C2E2B-DC17-9439-B58B-67D2BBED8956}"/>
              </a:ext>
            </a:extLst>
          </p:cNvPr>
          <p:cNvCxnSpPr/>
          <p:nvPr/>
        </p:nvCxnSpPr>
        <p:spPr>
          <a:xfrm>
            <a:off x="2733040" y="658368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0D8DB2-2343-6A74-66DB-8377FC3DF3D5}"/>
              </a:ext>
            </a:extLst>
          </p:cNvPr>
          <p:cNvCxnSpPr/>
          <p:nvPr/>
        </p:nvCxnSpPr>
        <p:spPr>
          <a:xfrm>
            <a:off x="7762240" y="659384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C379148-DC0F-56C5-D3AC-82146E7F5542}"/>
              </a:ext>
            </a:extLst>
          </p:cNvPr>
          <p:cNvSpPr txBox="1"/>
          <p:nvPr/>
        </p:nvSpPr>
        <p:spPr>
          <a:xfrm flipH="1">
            <a:off x="8424424" y="6551563"/>
            <a:ext cx="204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October 16, 2026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B85087-2125-86FF-251B-FA829F40122F}"/>
              </a:ext>
            </a:extLst>
          </p:cNvPr>
          <p:cNvCxnSpPr/>
          <p:nvPr/>
        </p:nvCxnSpPr>
        <p:spPr>
          <a:xfrm>
            <a:off x="10911840" y="6595477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E056AE6-52A3-ED80-64A3-0D8055F0CBC9}"/>
              </a:ext>
            </a:extLst>
          </p:cNvPr>
          <p:cNvSpPr txBox="1"/>
          <p:nvPr/>
        </p:nvSpPr>
        <p:spPr>
          <a:xfrm>
            <a:off x="4857553" y="6551563"/>
            <a:ext cx="764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Univers Light"/>
              </a:rPr>
              <a:t>MTSU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5349644B-50CE-A039-546F-BAFD4DC16785}"/>
              </a:ext>
            </a:extLst>
          </p:cNvPr>
          <p:cNvSpPr/>
          <p:nvPr/>
        </p:nvSpPr>
        <p:spPr>
          <a:xfrm>
            <a:off x="526105" y="1697949"/>
            <a:ext cx="295191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Some kind of grid-based search process.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501FEC-0712-1E77-E18B-66EFD7CD0D35}"/>
              </a:ext>
            </a:extLst>
          </p:cNvPr>
          <p:cNvSpPr txBox="1"/>
          <p:nvPr/>
        </p:nvSpPr>
        <p:spPr>
          <a:xfrm>
            <a:off x="404568" y="4138858"/>
            <a:ext cx="1125410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Gradient-based: Nelder-Mead, COBYLA, SPSA etc.</a:t>
            </a:r>
          </a:p>
          <a:p>
            <a:endParaRPr lang="en-US" dirty="0"/>
          </a:p>
          <a:p>
            <a:r>
              <a:rPr lang="en-US" dirty="0"/>
              <a:t>Problem: Grid search, modifications of greedy-search.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Advantage: More possibility of avoiding local minima. Useful for quantum computers, less experimentally costly.</a:t>
            </a:r>
          </a:p>
          <a:p>
            <a:endParaRPr lang="en-US" dirty="0"/>
          </a:p>
          <a:p>
            <a:r>
              <a:rPr lang="en-US" dirty="0"/>
              <a:t>Q: Where does quantum come into all this?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C7F5F7F-5BBF-105B-99FD-F2AF1757704C}"/>
              </a:ext>
            </a:extLst>
          </p:cNvPr>
          <p:cNvGrpSpPr/>
          <p:nvPr/>
        </p:nvGrpSpPr>
        <p:grpSpPr>
          <a:xfrm>
            <a:off x="4791523" y="902362"/>
            <a:ext cx="5941434" cy="2997635"/>
            <a:chOff x="4791523" y="902362"/>
            <a:chExt cx="5941434" cy="299763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FD0F688-89FA-3DE5-1296-E6F50E104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0829"/>
            <a:stretch>
              <a:fillRect/>
            </a:stretch>
          </p:blipFill>
          <p:spPr>
            <a:xfrm>
              <a:off x="4791523" y="902362"/>
              <a:ext cx="5941434" cy="2997635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00F7923-3842-5726-6190-9C3AF02C58D1}"/>
                </a:ext>
              </a:extLst>
            </p:cNvPr>
            <p:cNvCxnSpPr>
              <a:cxnSpLocks/>
            </p:cNvCxnSpPr>
            <p:nvPr/>
          </p:nvCxnSpPr>
          <p:spPr>
            <a:xfrm>
              <a:off x="5995586" y="973780"/>
              <a:ext cx="0" cy="2465978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BC5CEDE-4311-1FAD-839E-049BCE61782D}"/>
                </a:ext>
              </a:extLst>
            </p:cNvPr>
            <p:cNvCxnSpPr>
              <a:cxnSpLocks/>
            </p:cNvCxnSpPr>
            <p:nvPr/>
          </p:nvCxnSpPr>
          <p:spPr>
            <a:xfrm>
              <a:off x="6814960" y="973780"/>
              <a:ext cx="0" cy="2465978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D52815B-676D-FBE4-178B-6E16FA13DBC6}"/>
                </a:ext>
              </a:extLst>
            </p:cNvPr>
            <p:cNvCxnSpPr>
              <a:cxnSpLocks/>
            </p:cNvCxnSpPr>
            <p:nvPr/>
          </p:nvCxnSpPr>
          <p:spPr>
            <a:xfrm>
              <a:off x="7623577" y="977796"/>
              <a:ext cx="0" cy="2465978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86CCF8B-5398-0BB4-D7CD-741D6B1FE61D}"/>
                </a:ext>
              </a:extLst>
            </p:cNvPr>
            <p:cNvCxnSpPr>
              <a:cxnSpLocks/>
            </p:cNvCxnSpPr>
            <p:nvPr/>
          </p:nvCxnSpPr>
          <p:spPr>
            <a:xfrm>
              <a:off x="8411865" y="973780"/>
              <a:ext cx="0" cy="2465978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5BFF553-FDF9-700C-DBA9-1C67F997207B}"/>
                </a:ext>
              </a:extLst>
            </p:cNvPr>
            <p:cNvCxnSpPr>
              <a:cxnSpLocks/>
            </p:cNvCxnSpPr>
            <p:nvPr/>
          </p:nvCxnSpPr>
          <p:spPr>
            <a:xfrm>
              <a:off x="9209724" y="973780"/>
              <a:ext cx="0" cy="2465978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5E3F893-C3E4-97B3-ACBF-4320C60A1F08}"/>
                </a:ext>
              </a:extLst>
            </p:cNvPr>
            <p:cNvCxnSpPr>
              <a:cxnSpLocks/>
            </p:cNvCxnSpPr>
            <p:nvPr/>
          </p:nvCxnSpPr>
          <p:spPr>
            <a:xfrm>
              <a:off x="10027305" y="973780"/>
              <a:ext cx="0" cy="2465978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47896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E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192139"/>
            <a:ext cx="10883392" cy="1869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6F4EE"/>
                </a:solidFill>
                <a:latin typeface="Aptos" panose="020B0004020202020204" pitchFamily="34" charset="0"/>
                <a:ea typeface="Georgia" pitchFamily="18" charset="-122"/>
                <a:cs typeface="Georgia" pitchFamily="18" charset="-120"/>
              </a:rPr>
              <a:t>Nature optimizes too: quantum systems settle into the lowest-energy state they can reach.</a:t>
            </a:r>
            <a:endParaRPr lang="en-US" sz="4400" dirty="0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5202039"/>
            <a:ext cx="1088339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EAE6"/>
                </a:solidFill>
                <a:effectLst/>
                <a:uLnTx/>
                <a:uFillTx/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In quantum mechanics, many questions become: find the configuration that minimizes the energy of the system.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3213A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62784-B9B0-4C95-94C9-EF7010732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A1DD6E9-4EA6-4F41-C9CD-9E8E5A2A58A2}"/>
              </a:ext>
            </a:extLst>
          </p:cNvPr>
          <p:cNvSpPr/>
          <p:nvPr/>
        </p:nvSpPr>
        <p:spPr>
          <a:xfrm>
            <a:off x="0" y="-1"/>
            <a:ext cx="12192000" cy="653143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 panose="020B0403020202020204" pitchFamily="34" charset="0"/>
                <a:ea typeface="+mn-ea"/>
                <a:cs typeface="+mn-cs"/>
              </a:rPr>
              <a:t> Example: Finding the ground state of a molecule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4EB4CD-7166-A871-B8DD-2F729D254386}"/>
              </a:ext>
            </a:extLst>
          </p:cNvPr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56CD00-3C3B-60ED-2E5B-F0F348DBE481}"/>
              </a:ext>
            </a:extLst>
          </p:cNvPr>
          <p:cNvSpPr txBox="1"/>
          <p:nvPr/>
        </p:nvSpPr>
        <p:spPr>
          <a:xfrm>
            <a:off x="1153722" y="656172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VQE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2C2FFD-EE6E-047C-1803-3A01C8385976}"/>
              </a:ext>
            </a:extLst>
          </p:cNvPr>
          <p:cNvSpPr txBox="1"/>
          <p:nvPr/>
        </p:nvSpPr>
        <p:spPr>
          <a:xfrm>
            <a:off x="11450918" y="6551563"/>
            <a:ext cx="32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Univers Light"/>
              </a:rPr>
              <a:t>7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C92A7F-9B47-72FE-D610-2A0F03A54CF2}"/>
              </a:ext>
            </a:extLst>
          </p:cNvPr>
          <p:cNvCxnSpPr/>
          <p:nvPr/>
        </p:nvCxnSpPr>
        <p:spPr>
          <a:xfrm>
            <a:off x="2733040" y="658368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368423F-C5D0-E724-0AF5-44159D1D69D1}"/>
              </a:ext>
            </a:extLst>
          </p:cNvPr>
          <p:cNvCxnSpPr/>
          <p:nvPr/>
        </p:nvCxnSpPr>
        <p:spPr>
          <a:xfrm>
            <a:off x="7762240" y="659384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B83C259-87E3-E241-1A6A-945EC5E9596B}"/>
              </a:ext>
            </a:extLst>
          </p:cNvPr>
          <p:cNvSpPr txBox="1"/>
          <p:nvPr/>
        </p:nvSpPr>
        <p:spPr>
          <a:xfrm flipH="1">
            <a:off x="8424424" y="6551563"/>
            <a:ext cx="204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October 16, 2026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405BC2-0450-C3EF-9C1C-8D0E2953A3D7}"/>
              </a:ext>
            </a:extLst>
          </p:cNvPr>
          <p:cNvCxnSpPr/>
          <p:nvPr/>
        </p:nvCxnSpPr>
        <p:spPr>
          <a:xfrm>
            <a:off x="10911840" y="6595477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E0DA40A-857F-9F7D-A332-B5483404D87B}"/>
              </a:ext>
            </a:extLst>
          </p:cNvPr>
          <p:cNvSpPr txBox="1"/>
          <p:nvPr/>
        </p:nvSpPr>
        <p:spPr>
          <a:xfrm>
            <a:off x="4857553" y="6551563"/>
            <a:ext cx="764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MTSU</a:t>
            </a: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720A05BB-E977-0B71-DDF1-D58940838B7E}"/>
              </a:ext>
            </a:extLst>
          </p:cNvPr>
          <p:cNvSpPr/>
          <p:nvPr/>
        </p:nvSpPr>
        <p:spPr>
          <a:xfrm>
            <a:off x="328705" y="1025597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rial" pitchFamily="34" charset="-122"/>
                <a:cs typeface="Calibri" panose="020F0502020204030204" pitchFamily="34" charset="0"/>
              </a:rPr>
              <a:t>One of the crucial problems in quantum chemistry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5A207FEA-70D3-9CE9-37C1-FECC1979B803}"/>
              </a:ext>
            </a:extLst>
          </p:cNvPr>
          <p:cNvSpPr/>
          <p:nvPr/>
        </p:nvSpPr>
        <p:spPr>
          <a:xfrm>
            <a:off x="652047" y="1650213"/>
            <a:ext cx="3380284" cy="1726519"/>
          </a:xfrm>
          <a:prstGeom prst="roundRect">
            <a:avLst>
              <a:gd name="adj" fmla="val 6108"/>
            </a:avLst>
          </a:prstGeom>
          <a:solidFill>
            <a:srgbClr val="FFFDF8"/>
          </a:solidFill>
          <a:ln w="6350">
            <a:solidFill>
              <a:srgbClr val="E0DDD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9EB0A27A-0A95-1F38-2F89-B46D8DC3DCAF}"/>
              </a:ext>
            </a:extLst>
          </p:cNvPr>
          <p:cNvSpPr/>
          <p:nvPr/>
        </p:nvSpPr>
        <p:spPr>
          <a:xfrm>
            <a:off x="909222" y="1907388"/>
            <a:ext cx="295191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3213A"/>
                </a:solidFill>
                <a:effectLst/>
                <a:uLnTx/>
                <a:uFillTx/>
                <a:latin typeface="Aptos" panose="020B0004020202020204" pitchFamily="34" charset="0"/>
                <a:ea typeface="Georgia" pitchFamily="18" charset="-122"/>
                <a:cs typeface="Georgia" pitchFamily="18" charset="-120"/>
              </a:rPr>
              <a:t>Problem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6FCAB37A-50D5-C5E1-FE69-4E3F84FA6EF5}"/>
              </a:ext>
            </a:extLst>
          </p:cNvPr>
          <p:cNvSpPr/>
          <p:nvPr/>
        </p:nvSpPr>
        <p:spPr>
          <a:xfrm>
            <a:off x="909222" y="2257828"/>
            <a:ext cx="295191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960"/>
              </a:lnSpc>
            </a:pPr>
            <a:r>
              <a:rPr lang="en-US" sz="1600" dirty="0">
                <a:solidFill>
                  <a:srgbClr val="49556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Given a molecule, which arrangement of its electrons has the lowest possible energy?</a:t>
            </a:r>
            <a:endParaRPr lang="en-US" sz="1600" dirty="0">
              <a:solidFill>
                <a:srgbClr val="495568"/>
              </a:solidFill>
              <a:latin typeface="Aptos" panose="020B0004020202020204" pitchFamily="34" charset="0"/>
            </a:endParaRPr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D0B0D401-98E8-CEAB-40C1-FA7A9FB69D01}"/>
              </a:ext>
            </a:extLst>
          </p:cNvPr>
          <p:cNvSpPr/>
          <p:nvPr/>
        </p:nvSpPr>
        <p:spPr>
          <a:xfrm>
            <a:off x="4241881" y="1650213"/>
            <a:ext cx="3418735" cy="1726519"/>
          </a:xfrm>
          <a:prstGeom prst="roundRect">
            <a:avLst>
              <a:gd name="adj" fmla="val 6108"/>
            </a:avLst>
          </a:prstGeom>
          <a:solidFill>
            <a:srgbClr val="FFFDF8"/>
          </a:solidFill>
          <a:ln w="6350">
            <a:solidFill>
              <a:srgbClr val="E0DDD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C552855E-D219-35CA-825B-4DA47BDD0AE5}"/>
              </a:ext>
            </a:extLst>
          </p:cNvPr>
          <p:cNvSpPr/>
          <p:nvPr/>
        </p:nvSpPr>
        <p:spPr>
          <a:xfrm>
            <a:off x="4499056" y="1907388"/>
            <a:ext cx="295201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What is optimized?</a:t>
            </a: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35EC09AC-8BC8-492D-5D73-9E7D763075D4}"/>
              </a:ext>
            </a:extLst>
          </p:cNvPr>
          <p:cNvSpPr/>
          <p:nvPr/>
        </p:nvSpPr>
        <p:spPr>
          <a:xfrm>
            <a:off x="4499056" y="2257827"/>
            <a:ext cx="3263184" cy="1210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95568"/>
                </a:solidFill>
                <a:effectLst/>
                <a:uLnTx/>
                <a:uFillTx/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The parameters that define a molecular state wave function, until the energy of the state is as low as possible.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95568"/>
              </a:solidFill>
              <a:effectLst/>
              <a:uLnTx/>
              <a:uFillTx/>
              <a:latin typeface="Aptos" panose="020B0004020202020204" pitchFamily="34" charset="0"/>
            </a:endParaRPr>
          </a:p>
          <a:p>
            <a:pPr>
              <a:lnSpc>
                <a:spcPts val="1960"/>
              </a:lnSpc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95568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B1EDE17F-BF37-3D13-12BE-BABBE1CBA353}"/>
              </a:ext>
            </a:extLst>
          </p:cNvPr>
          <p:cNvSpPr/>
          <p:nvPr/>
        </p:nvSpPr>
        <p:spPr>
          <a:xfrm>
            <a:off x="7831813" y="1650213"/>
            <a:ext cx="3380284" cy="1726519"/>
          </a:xfrm>
          <a:prstGeom prst="roundRect">
            <a:avLst>
              <a:gd name="adj" fmla="val 6108"/>
            </a:avLst>
          </a:prstGeom>
          <a:solidFill>
            <a:srgbClr val="FFFDF8"/>
          </a:solidFill>
          <a:ln w="6350">
            <a:solidFill>
              <a:srgbClr val="E0DDD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055DE8E-71CE-B437-5D70-3BA8D70FF987}"/>
              </a:ext>
            </a:extLst>
          </p:cNvPr>
          <p:cNvSpPr/>
          <p:nvPr/>
        </p:nvSpPr>
        <p:spPr>
          <a:xfrm>
            <a:off x="8088988" y="1907388"/>
            <a:ext cx="295191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3213A"/>
                </a:solidFill>
                <a:effectLst/>
                <a:uLnTx/>
                <a:uFillTx/>
                <a:latin typeface="Aptos" panose="020B0004020202020204" pitchFamily="34" charset="0"/>
                <a:ea typeface="Georgia" pitchFamily="18" charset="-122"/>
                <a:cs typeface="Georgia" pitchFamily="18" charset="-120"/>
              </a:rPr>
              <a:t>Why it is useful?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16B7B360-263E-4C16-A0BF-F5348A6D96BE}"/>
              </a:ext>
            </a:extLst>
          </p:cNvPr>
          <p:cNvSpPr/>
          <p:nvPr/>
        </p:nvSpPr>
        <p:spPr>
          <a:xfrm>
            <a:off x="8088988" y="2257828"/>
            <a:ext cx="295191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The ground-state energy and structure set bond lengths and energies, which guide material design.</a:t>
            </a:r>
          </a:p>
        </p:txBody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FDB84EF7-22FE-DB5E-FCB4-8C44A2C6DB86}"/>
              </a:ext>
            </a:extLst>
          </p:cNvPr>
          <p:cNvSpPr/>
          <p:nvPr/>
        </p:nvSpPr>
        <p:spPr>
          <a:xfrm>
            <a:off x="328705" y="3744157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rial" pitchFamily="34" charset="-122"/>
                <a:cs typeface="Calibri" panose="020F0502020204030204" pitchFamily="34" charset="0"/>
              </a:rPr>
              <a:t>Variational principle: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38D731-DF91-0138-5AE5-EC281B110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767" y="3664755"/>
            <a:ext cx="5534442" cy="2854691"/>
          </a:xfrm>
          <a:prstGeom prst="rect">
            <a:avLst/>
          </a:prstGeom>
        </p:spPr>
      </p:pic>
      <p:sp>
        <p:nvSpPr>
          <p:cNvPr id="14" name="Text 12">
            <a:extLst>
              <a:ext uri="{FF2B5EF4-FFF2-40B4-BE49-F238E27FC236}">
                <a16:creationId xmlns:a16="http://schemas.microsoft.com/office/drawing/2014/main" id="{DE9F243C-740A-B526-CA4E-FF8E083216A6}"/>
              </a:ext>
            </a:extLst>
          </p:cNvPr>
          <p:cNvSpPr/>
          <p:nvPr/>
        </p:nvSpPr>
        <p:spPr>
          <a:xfrm>
            <a:off x="332540" y="4456460"/>
            <a:ext cx="2832434" cy="1601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600" b="1" dirty="0">
                <a:solidFill>
                  <a:srgbClr val="49556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No </a:t>
            </a:r>
            <a:r>
              <a:rPr lang="en-US" sz="1600" dirty="0">
                <a:solidFill>
                  <a:srgbClr val="49556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trial state can give an energy below the true ground-state energy, so a lower energy is a better approximation.</a:t>
            </a:r>
            <a:endParaRPr lang="en-US" sz="1600" dirty="0">
              <a:solidFill>
                <a:srgbClr val="49556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794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C1B2A-FA99-F310-6612-B75F70A79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0147E3F-32C8-898B-CA19-271B4876BD8F}"/>
              </a:ext>
            </a:extLst>
          </p:cNvPr>
          <p:cNvSpPr/>
          <p:nvPr/>
        </p:nvSpPr>
        <p:spPr>
          <a:xfrm>
            <a:off x="0" y="-1"/>
            <a:ext cx="12192000" cy="653143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 panose="020B0403020202020204" pitchFamily="34" charset="0"/>
                <a:ea typeface="+mn-ea"/>
                <a:cs typeface="+mn-cs"/>
              </a:rPr>
              <a:t> Quantum cost function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E167A5-4D95-9DF8-4CE0-D57DC0F093D1}"/>
              </a:ext>
            </a:extLst>
          </p:cNvPr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B9378-51BC-92A3-2D9F-B4F91F5A97AB}"/>
              </a:ext>
            </a:extLst>
          </p:cNvPr>
          <p:cNvSpPr txBox="1"/>
          <p:nvPr/>
        </p:nvSpPr>
        <p:spPr>
          <a:xfrm>
            <a:off x="1153722" y="656172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VQE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7CDB5-01BD-DE13-4DD8-5D541B426575}"/>
              </a:ext>
            </a:extLst>
          </p:cNvPr>
          <p:cNvSpPr txBox="1"/>
          <p:nvPr/>
        </p:nvSpPr>
        <p:spPr>
          <a:xfrm>
            <a:off x="11450918" y="6551563"/>
            <a:ext cx="32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Univers Light"/>
              </a:rPr>
              <a:t>8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55F8C59-2A01-7E08-BEA2-9F99F0D90748}"/>
              </a:ext>
            </a:extLst>
          </p:cNvPr>
          <p:cNvCxnSpPr/>
          <p:nvPr/>
        </p:nvCxnSpPr>
        <p:spPr>
          <a:xfrm>
            <a:off x="2733040" y="658368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CCD295-1B80-7F66-CF36-B505EA7562BB}"/>
              </a:ext>
            </a:extLst>
          </p:cNvPr>
          <p:cNvCxnSpPr/>
          <p:nvPr/>
        </p:nvCxnSpPr>
        <p:spPr>
          <a:xfrm>
            <a:off x="7762240" y="659384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BF8D3B5-663B-E2AC-C1D5-EEEA7051B39A}"/>
              </a:ext>
            </a:extLst>
          </p:cNvPr>
          <p:cNvSpPr txBox="1"/>
          <p:nvPr/>
        </p:nvSpPr>
        <p:spPr>
          <a:xfrm flipH="1">
            <a:off x="8424424" y="6551563"/>
            <a:ext cx="204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October 16, 2026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F4330B-5DA7-6C48-87F3-42927F6A43A7}"/>
              </a:ext>
            </a:extLst>
          </p:cNvPr>
          <p:cNvCxnSpPr/>
          <p:nvPr/>
        </p:nvCxnSpPr>
        <p:spPr>
          <a:xfrm>
            <a:off x="10911840" y="6595477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7562641-1D61-8307-E602-478264259616}"/>
              </a:ext>
            </a:extLst>
          </p:cNvPr>
          <p:cNvSpPr txBox="1"/>
          <p:nvPr/>
        </p:nvSpPr>
        <p:spPr>
          <a:xfrm>
            <a:off x="4857553" y="6551563"/>
            <a:ext cx="764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MTSU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2">
                <a:extLst>
                  <a:ext uri="{FF2B5EF4-FFF2-40B4-BE49-F238E27FC236}">
                    <a16:creationId xmlns:a16="http://schemas.microsoft.com/office/drawing/2014/main" id="{40503ECB-3A11-58B1-D8B7-98EFD465FA94}"/>
                  </a:ext>
                </a:extLst>
              </p:cNvPr>
              <p:cNvSpPr/>
              <p:nvPr/>
            </p:nvSpPr>
            <p:spPr>
              <a:xfrm>
                <a:off x="328705" y="1025596"/>
                <a:ext cx="10883392" cy="240340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252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Calibri" panose="020F0502020204030204" pitchFamily="34" charset="0"/>
                  </a:rPr>
                  <a:t>A cost function that is evaluated on a quantum computer.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ts val="252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>
                  <a:solidFill>
                    <a:prstClr val="black"/>
                  </a:solidFill>
                  <a:latin typeface="Aptos" panose="020B000402020202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ts val="2520"/>
                  </a:lnSpc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Calibri" panose="020F0502020204030204" pitchFamily="34" charset="0"/>
                  </a:rPr>
                  <a:t>Example: Energy of a molecule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ts val="252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Text 2">
                <a:extLst>
                  <a:ext uri="{FF2B5EF4-FFF2-40B4-BE49-F238E27FC236}">
                    <a16:creationId xmlns:a16="http://schemas.microsoft.com/office/drawing/2014/main" id="{40503ECB-3A11-58B1-D8B7-98EFD465FA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05" y="1025596"/>
                <a:ext cx="10883392" cy="2403403"/>
              </a:xfrm>
              <a:prstGeom prst="rect">
                <a:avLst/>
              </a:prstGeom>
              <a:blipFill>
                <a:blip r:embed="rId3"/>
                <a:stretch>
                  <a:fillRect l="-1282" t="-210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59AC5925-C755-C0C1-8AAD-E487D2066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39" y="2226702"/>
            <a:ext cx="2717800" cy="8636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E469DC0-6621-52A4-B4F5-CA5343FD78A0}"/>
              </a:ext>
            </a:extLst>
          </p:cNvPr>
          <p:cNvSpPr/>
          <p:nvPr/>
        </p:nvSpPr>
        <p:spPr>
          <a:xfrm>
            <a:off x="462845" y="2506133"/>
            <a:ext cx="383822" cy="3499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2FD818E-99D7-BF91-CE44-E12284DF1381}"/>
                  </a:ext>
                </a:extLst>
              </p:cNvPr>
              <p:cNvSpPr txBox="1"/>
              <p:nvPr/>
            </p:nvSpPr>
            <p:spPr>
              <a:xfrm>
                <a:off x="541863" y="2534352"/>
                <a:ext cx="3318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2FD818E-99D7-BF91-CE44-E12284DF1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863" y="2534352"/>
                <a:ext cx="331822" cy="276999"/>
              </a:xfrm>
              <a:prstGeom prst="rect">
                <a:avLst/>
              </a:prstGeom>
              <a:blipFill>
                <a:blip r:embed="rId5"/>
                <a:stretch>
                  <a:fillRect l="-22222" r="-25926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40BD4D-B2E2-5EB8-BDFB-9C66110518C7}"/>
                  </a:ext>
                </a:extLst>
              </p:cNvPr>
              <p:cNvSpPr txBox="1"/>
              <p:nvPr/>
            </p:nvSpPr>
            <p:spPr>
              <a:xfrm>
                <a:off x="2733040" y="2443828"/>
                <a:ext cx="838200" cy="429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⟩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40BD4D-B2E2-5EB8-BDFB-9C6611051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040" y="2443828"/>
                <a:ext cx="838200" cy="429348"/>
              </a:xfrm>
              <a:prstGeom prst="rect">
                <a:avLst/>
              </a:prstGeom>
              <a:blipFill>
                <a:blip r:embed="rId6"/>
                <a:stretch>
                  <a:fillRect t="-8571"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0464CEB-CA4C-023A-F9BC-F6EB974D84BB}"/>
                  </a:ext>
                </a:extLst>
              </p:cNvPr>
              <p:cNvSpPr txBox="1"/>
              <p:nvPr/>
            </p:nvSpPr>
            <p:spPr>
              <a:xfrm>
                <a:off x="1240356" y="3033372"/>
                <a:ext cx="1061957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0464CEB-CA4C-023A-F9BC-F6EB974D8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356" y="3033372"/>
                <a:ext cx="1061957" cy="314766"/>
              </a:xfrm>
              <a:prstGeom prst="rect">
                <a:avLst/>
              </a:prstGeom>
              <a:blipFill>
                <a:blip r:embed="rId7"/>
                <a:stretch>
                  <a:fillRect l="-4706" t="-36000" r="-7059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D581715-326F-2321-8C4C-6025F6473705}"/>
              </a:ext>
            </a:extLst>
          </p:cNvPr>
          <p:cNvCxnSpPr>
            <a:cxnSpLocks/>
          </p:cNvCxnSpPr>
          <p:nvPr/>
        </p:nvCxnSpPr>
        <p:spPr>
          <a:xfrm>
            <a:off x="3747910" y="2654056"/>
            <a:ext cx="745068" cy="8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069D63-065A-FFD6-5595-B877D6FD81C0}"/>
                  </a:ext>
                </a:extLst>
              </p:cNvPr>
              <p:cNvSpPr txBox="1"/>
              <p:nvPr/>
            </p:nvSpPr>
            <p:spPr>
              <a:xfrm>
                <a:off x="4481689" y="2443828"/>
                <a:ext cx="3831818" cy="429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“Measure energy” on this state: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069D63-065A-FFD6-5595-B877D6FD8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689" y="2443828"/>
                <a:ext cx="3831818" cy="429348"/>
              </a:xfrm>
              <a:prstGeom prst="rect">
                <a:avLst/>
              </a:prstGeom>
              <a:blipFill>
                <a:blip r:embed="rId8"/>
                <a:stretch>
                  <a:fillRect l="-1320" t="-8571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9FDF51B-C57E-DD1D-8B53-3DB42D6C2990}"/>
              </a:ext>
            </a:extLst>
          </p:cNvPr>
          <p:cNvCxnSpPr>
            <a:cxnSpLocks/>
          </p:cNvCxnSpPr>
          <p:nvPr/>
        </p:nvCxnSpPr>
        <p:spPr>
          <a:xfrm>
            <a:off x="8313507" y="2658502"/>
            <a:ext cx="6724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42B6B5F-B645-EAB6-4CE7-BFB31ABC78D8}"/>
              </a:ext>
            </a:extLst>
          </p:cNvPr>
          <p:cNvSpPr txBox="1"/>
          <p:nvPr/>
        </p:nvSpPr>
        <p:spPr>
          <a:xfrm>
            <a:off x="9180635" y="2058338"/>
            <a:ext cx="3075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Rotate knobs in the circuit to vary the parameters, measure energy until you reach minimum energy.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F5DFCF8-8DBA-847F-37C0-BF67FEAF3D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4812" y="3322305"/>
            <a:ext cx="4182375" cy="313350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B1D7774-EC66-211A-581C-6C955BD309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98031" y="4218939"/>
            <a:ext cx="2844800" cy="787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1705E99-563C-5D63-363F-F2339105B293}"/>
                  </a:ext>
                </a:extLst>
              </p:cNvPr>
              <p:cNvSpPr txBox="1"/>
              <p:nvPr/>
            </p:nvSpPr>
            <p:spPr>
              <a:xfrm>
                <a:off x="1003170" y="4604491"/>
                <a:ext cx="1806969" cy="284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=0.6 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+0.8 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1705E99-563C-5D63-363F-F2339105B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170" y="4604491"/>
                <a:ext cx="1806969" cy="284565"/>
              </a:xfrm>
              <a:prstGeom prst="rect">
                <a:avLst/>
              </a:prstGeom>
              <a:blipFill>
                <a:blip r:embed="rId11"/>
                <a:stretch>
                  <a:fillRect l="-2797" t="-21739" r="-2098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DB28B6-7D1B-CDB3-4EAA-8A7849C07E65}"/>
                  </a:ext>
                </a:extLst>
              </p:cNvPr>
              <p:cNvSpPr txBox="1"/>
              <p:nvPr/>
            </p:nvSpPr>
            <p:spPr>
              <a:xfrm>
                <a:off x="555273" y="5411778"/>
                <a:ext cx="1292578" cy="554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X 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DB28B6-7D1B-CDB3-4EAA-8A7849C07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273" y="5411778"/>
                <a:ext cx="1292578" cy="554254"/>
              </a:xfrm>
              <a:prstGeom prst="rect">
                <a:avLst/>
              </a:prstGeom>
              <a:blipFill>
                <a:blip r:embed="rId12"/>
                <a:stretch>
                  <a:fillRect l="-3883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EF154BF-EA69-C4F2-BAD6-3420F7383F23}"/>
                  </a:ext>
                </a:extLst>
              </p:cNvPr>
              <p:cNvSpPr txBox="1"/>
              <p:nvPr/>
            </p:nvSpPr>
            <p:spPr>
              <a:xfrm>
                <a:off x="1943548" y="5411778"/>
                <a:ext cx="1416757" cy="554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Z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EF154BF-EA69-C4F2-BAD6-3420F7383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548" y="5411778"/>
                <a:ext cx="1416757" cy="554254"/>
              </a:xfrm>
              <a:prstGeom prst="rect">
                <a:avLst/>
              </a:prstGeom>
              <a:blipFill>
                <a:blip r:embed="rId13"/>
                <a:stretch>
                  <a:fillRect l="-4464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981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1" grpId="0"/>
      <p:bldP spid="24" grpId="0"/>
      <p:bldP spid="28" grpId="0"/>
      <p:bldP spid="33" grpId="0"/>
      <p:bldP spid="14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B3437-11C7-A085-D3A3-C80D0199D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2D2691-50A0-F3A4-1B8C-AB1588048260}"/>
              </a:ext>
            </a:extLst>
          </p:cNvPr>
          <p:cNvSpPr/>
          <p:nvPr/>
        </p:nvSpPr>
        <p:spPr>
          <a:xfrm>
            <a:off x="0" y="-1"/>
            <a:ext cx="12192000" cy="653143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 panose="020B0403020202020204" pitchFamily="34" charset="0"/>
                <a:ea typeface="+mn-ea"/>
                <a:cs typeface="+mn-cs"/>
              </a:rPr>
              <a:t> What does measuring energy means?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1E46F8-90FD-F589-D162-23AD8E416CCE}"/>
              </a:ext>
            </a:extLst>
          </p:cNvPr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32FE04-03E9-9D3A-8D06-B14DC593EDF4}"/>
              </a:ext>
            </a:extLst>
          </p:cNvPr>
          <p:cNvSpPr txBox="1"/>
          <p:nvPr/>
        </p:nvSpPr>
        <p:spPr>
          <a:xfrm>
            <a:off x="1153722" y="656172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VQE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BF8271-0D27-AB09-D09D-DF1FF9D1F380}"/>
              </a:ext>
            </a:extLst>
          </p:cNvPr>
          <p:cNvSpPr txBox="1"/>
          <p:nvPr/>
        </p:nvSpPr>
        <p:spPr>
          <a:xfrm>
            <a:off x="11450918" y="6551563"/>
            <a:ext cx="32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Univers Light"/>
              </a:rPr>
              <a:t>9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BC4B19-34E5-C4C1-7CD9-782E9A9C9CA8}"/>
              </a:ext>
            </a:extLst>
          </p:cNvPr>
          <p:cNvCxnSpPr/>
          <p:nvPr/>
        </p:nvCxnSpPr>
        <p:spPr>
          <a:xfrm>
            <a:off x="2733040" y="658368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B6EDF8-E118-8AD6-40BE-7DD70889B112}"/>
              </a:ext>
            </a:extLst>
          </p:cNvPr>
          <p:cNvCxnSpPr/>
          <p:nvPr/>
        </p:nvCxnSpPr>
        <p:spPr>
          <a:xfrm>
            <a:off x="7762240" y="659384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A4E0E81-72FD-7FFC-A591-43EAE065F668}"/>
              </a:ext>
            </a:extLst>
          </p:cNvPr>
          <p:cNvSpPr txBox="1"/>
          <p:nvPr/>
        </p:nvSpPr>
        <p:spPr>
          <a:xfrm flipH="1">
            <a:off x="8424424" y="6551563"/>
            <a:ext cx="204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October 16, 2026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93C1F95-BDB0-EE94-FCD7-0208B29ECA5E}"/>
              </a:ext>
            </a:extLst>
          </p:cNvPr>
          <p:cNvCxnSpPr/>
          <p:nvPr/>
        </p:nvCxnSpPr>
        <p:spPr>
          <a:xfrm>
            <a:off x="10911840" y="6595477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3CCB859-5842-275B-A585-2D174190E6A4}"/>
              </a:ext>
            </a:extLst>
          </p:cNvPr>
          <p:cNvSpPr txBox="1"/>
          <p:nvPr/>
        </p:nvSpPr>
        <p:spPr>
          <a:xfrm>
            <a:off x="4857553" y="6551563"/>
            <a:ext cx="764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MTSU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2">
                <a:extLst>
                  <a:ext uri="{FF2B5EF4-FFF2-40B4-BE49-F238E27FC236}">
                    <a16:creationId xmlns:a16="http://schemas.microsoft.com/office/drawing/2014/main" id="{1EABBB28-03A1-74B6-089A-41CBD4BDD513}"/>
                  </a:ext>
                </a:extLst>
              </p:cNvPr>
              <p:cNvSpPr/>
              <p:nvPr/>
            </p:nvSpPr>
            <p:spPr>
              <a:xfrm>
                <a:off x="328705" y="1025596"/>
                <a:ext cx="10883392" cy="240340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252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Calibri" panose="020F0502020204030204" pitchFamily="34" charset="0"/>
                  </a:rPr>
                  <a:t>Writing down the exact quantum state for a large circuit with many gates is hard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Calibri" panose="020F0502020204030204" pitchFamily="34" charset="0"/>
                    <a:sym typeface="Wingdings" pitchFamily="2" charset="2"/>
                  </a:rPr>
                  <a:t> You need to multiply large number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Calibri" panose="020F0502020204030204" pitchFamily="34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Calibri" panose="020F0502020204030204" pitchFamily="34" charset="0"/>
                            <a:sym typeface="Wingdings" pitchFamily="2" charset="2"/>
                          </a:rPr>
                          <m:t>2</m:t>
                        </m:r>
                      </m:e>
                      <m:sup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Calibri" panose="020F0502020204030204" pitchFamily="34" charset="0"/>
                            <a:sym typeface="Wingdings" pitchFamily="2" charset="2"/>
                          </a:rPr>
                          <m:t>𝑁</m:t>
                        </m:r>
                      </m:sup>
                    </m:sSup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libri" panose="020F0502020204030204" pitchFamily="34" charset="0"/>
                        <a:sym typeface="Wingdings" pitchFamily="2" charset="2"/>
                      </a:rPr>
                      <m:t>×</m:t>
                    </m:r>
                    <m:sSup>
                      <m:sSup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Calibri" panose="020F0502020204030204" pitchFamily="34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Calibri" panose="020F0502020204030204" pitchFamily="34" charset="0"/>
                            <a:sym typeface="Wingdings" pitchFamily="2" charset="2"/>
                          </a:rPr>
                          <m:t>2</m:t>
                        </m:r>
                      </m:e>
                      <m:sup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Calibri" panose="020F0502020204030204" pitchFamily="34" charset="0"/>
                            <a:sym typeface="Wingdings" pitchFamily="2" charset="2"/>
                          </a:rPr>
                          <m:t>𝑁</m:t>
                        </m:r>
                      </m:sup>
                    </m:sSup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Calibri" panose="020F0502020204030204" pitchFamily="34" charset="0"/>
                  </a:rPr>
                  <a:t> matrices for N qubits. States cannot be observed.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ts val="252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>
                  <a:solidFill>
                    <a:prstClr val="black"/>
                  </a:solidFill>
                  <a:latin typeface="Aptos" panose="020B0004020202020204" pitchFamily="34" charset="0"/>
                  <a:cs typeface="Calibri" panose="020F050202020403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ts val="252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Calibri" panose="020F0502020204030204" pitchFamily="34" charset="0"/>
                  </a:rPr>
                  <a:t>Measuring a property on the state is easier: it is something we can observe</a:t>
                </a:r>
                <a:r>
                  <a:rPr lang="en-US" dirty="0">
                    <a:solidFill>
                      <a:prstClr val="black"/>
                    </a:solidFill>
                    <a:latin typeface="Aptos" panose="020B000402020202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>
                    <a:solidFill>
                      <a:prstClr val="black"/>
                    </a:solidFill>
                    <a:latin typeface="Aptos" panose="020B0004020202020204" pitchFamily="34" charset="0"/>
                    <a:cs typeface="Calibri" panose="020F0502020204030204" pitchFamily="34" charset="0"/>
                    <a:sym typeface="Wingdings" pitchFamily="2" charset="2"/>
                  </a:rPr>
                  <a:t>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Calibri" panose="020F0502020204030204" pitchFamily="34" charset="0"/>
                  </a:rPr>
                  <a:t> observable.</a:t>
                </a:r>
              </a:p>
            </p:txBody>
          </p:sp>
        </mc:Choice>
        <mc:Fallback xmlns="">
          <p:sp>
            <p:nvSpPr>
              <p:cNvPr id="12" name="Text 2">
                <a:extLst>
                  <a:ext uri="{FF2B5EF4-FFF2-40B4-BE49-F238E27FC236}">
                    <a16:creationId xmlns:a16="http://schemas.microsoft.com/office/drawing/2014/main" id="{1EABBB28-03A1-74B6-089A-41CBD4BDD5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05" y="1025596"/>
                <a:ext cx="10883392" cy="2403403"/>
              </a:xfrm>
              <a:prstGeom prst="rect">
                <a:avLst/>
              </a:prstGeom>
              <a:blipFill>
                <a:blip r:embed="rId3"/>
                <a:stretch>
                  <a:fillRect l="-1282" t="-210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E11B9F-A74D-F2DF-3B7B-3B54229A1870}"/>
                  </a:ext>
                </a:extLst>
              </p:cNvPr>
              <p:cNvSpPr txBox="1"/>
              <p:nvPr/>
            </p:nvSpPr>
            <p:spPr>
              <a:xfrm>
                <a:off x="5192515" y="2595069"/>
                <a:ext cx="1806969" cy="284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=0.6 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+0.8 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E11B9F-A74D-F2DF-3B7B-3B54229A1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2515" y="2595069"/>
                <a:ext cx="1806969" cy="284565"/>
              </a:xfrm>
              <a:prstGeom prst="rect">
                <a:avLst/>
              </a:prstGeom>
              <a:blipFill>
                <a:blip r:embed="rId4"/>
                <a:stretch>
                  <a:fillRect l="-2083" t="-26087" r="-2083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ACC563C-7600-C89F-1A04-ED2632E37D85}"/>
              </a:ext>
            </a:extLst>
          </p:cNvPr>
          <p:cNvGrpSpPr/>
          <p:nvPr/>
        </p:nvGrpSpPr>
        <p:grpSpPr>
          <a:xfrm>
            <a:off x="15240" y="3164654"/>
            <a:ext cx="2717800" cy="863600"/>
            <a:chOff x="92339" y="2226702"/>
            <a:chExt cx="2717800" cy="86360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E7B8909-142B-BDA7-FDA7-0F06673DC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339" y="2226702"/>
              <a:ext cx="2717800" cy="863600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7A5C8E3-52E0-1449-3BE4-721786BBCAF3}"/>
                </a:ext>
              </a:extLst>
            </p:cNvPr>
            <p:cNvSpPr/>
            <p:nvPr/>
          </p:nvSpPr>
          <p:spPr>
            <a:xfrm>
              <a:off x="462845" y="2506133"/>
              <a:ext cx="383822" cy="3499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2860DAD-D2AD-874D-4B42-50FF723F152E}"/>
                    </a:ext>
                  </a:extLst>
                </p:cNvPr>
                <p:cNvSpPr txBox="1"/>
                <p:nvPr/>
              </p:nvSpPr>
              <p:spPr>
                <a:xfrm>
                  <a:off x="541863" y="2534352"/>
                  <a:ext cx="33182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|0⟩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2860DAD-D2AD-874D-4B42-50FF723F15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863" y="2534352"/>
                  <a:ext cx="331822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5926" r="-25926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F78E0D44-B519-6427-16FE-A9B80C75CEFD}"/>
              </a:ext>
            </a:extLst>
          </p:cNvPr>
          <p:cNvSpPr txBox="1"/>
          <p:nvPr/>
        </p:nvSpPr>
        <p:spPr>
          <a:xfrm>
            <a:off x="2946947" y="3413036"/>
            <a:ext cx="5036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Measure X, then measure Z. Calculate the energy.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C492AB6-C447-92B5-7FD4-FC49245D231F}"/>
                  </a:ext>
                </a:extLst>
              </p:cNvPr>
              <p:cNvSpPr txBox="1"/>
              <p:nvPr/>
            </p:nvSpPr>
            <p:spPr>
              <a:xfrm>
                <a:off x="385746" y="4258764"/>
                <a:ext cx="9628085" cy="18477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Mathematically: Consider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US" dirty="0"/>
                  <a:t>. X 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. Measure X: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Similarly, measure Z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→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  <a:p>
                <a:r>
                  <a:rPr lang="en-US" dirty="0"/>
                  <a:t>Then find energy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0.6 × 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+0.8 × 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C492AB6-C447-92B5-7FD4-FC49245D2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746" y="4258764"/>
                <a:ext cx="9628085" cy="1847750"/>
              </a:xfrm>
              <a:prstGeom prst="rect">
                <a:avLst/>
              </a:prstGeom>
              <a:blipFill>
                <a:blip r:embed="rId7"/>
                <a:stretch>
                  <a:fillRect l="-527" b="-47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3058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3F561-3A14-6A87-F06B-6DCEBFD57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6BD593D-7AEB-C55E-11DB-059FD6DEA012}"/>
              </a:ext>
            </a:extLst>
          </p:cNvPr>
          <p:cNvSpPr/>
          <p:nvPr/>
        </p:nvSpPr>
        <p:spPr>
          <a:xfrm>
            <a:off x="0" y="-1"/>
            <a:ext cx="12192000" cy="653143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 panose="020B0403020202020204" pitchFamily="34" charset="0"/>
                <a:ea typeface="+mn-ea"/>
                <a:cs typeface="+mn-cs"/>
              </a:rPr>
              <a:t> What does measuring energy means in an experiment?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C3E526-0A17-2C3B-B177-E000B36E45B0}"/>
              </a:ext>
            </a:extLst>
          </p:cNvPr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16BDFA-A523-1009-2575-8FAB7B631DFA}"/>
              </a:ext>
            </a:extLst>
          </p:cNvPr>
          <p:cNvSpPr txBox="1"/>
          <p:nvPr/>
        </p:nvSpPr>
        <p:spPr>
          <a:xfrm>
            <a:off x="1153722" y="656172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VQE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BCE1B8-29BD-52D7-DE67-2ED3E4E62A6C}"/>
              </a:ext>
            </a:extLst>
          </p:cNvPr>
          <p:cNvSpPr txBox="1"/>
          <p:nvPr/>
        </p:nvSpPr>
        <p:spPr>
          <a:xfrm>
            <a:off x="11450917" y="6551563"/>
            <a:ext cx="4814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878B400-4CB2-B92A-BE90-A5D1A1AEF874}"/>
              </a:ext>
            </a:extLst>
          </p:cNvPr>
          <p:cNvCxnSpPr/>
          <p:nvPr/>
        </p:nvCxnSpPr>
        <p:spPr>
          <a:xfrm>
            <a:off x="2733040" y="658368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E38B3F-0194-FBE8-F282-8191B7DDA5F2}"/>
              </a:ext>
            </a:extLst>
          </p:cNvPr>
          <p:cNvCxnSpPr/>
          <p:nvPr/>
        </p:nvCxnSpPr>
        <p:spPr>
          <a:xfrm>
            <a:off x="7762240" y="659384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462DD9E-6B04-4FA2-766F-298D6F61F8D6}"/>
              </a:ext>
            </a:extLst>
          </p:cNvPr>
          <p:cNvSpPr txBox="1"/>
          <p:nvPr/>
        </p:nvSpPr>
        <p:spPr>
          <a:xfrm flipH="1">
            <a:off x="8424424" y="6551563"/>
            <a:ext cx="204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October 16, 2026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2988696-E0A0-8D98-62E6-0FB7E7F8EF69}"/>
              </a:ext>
            </a:extLst>
          </p:cNvPr>
          <p:cNvCxnSpPr/>
          <p:nvPr/>
        </p:nvCxnSpPr>
        <p:spPr>
          <a:xfrm>
            <a:off x="10911840" y="6595477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D424F9A-790A-7C80-BE10-868BDB47776D}"/>
              </a:ext>
            </a:extLst>
          </p:cNvPr>
          <p:cNvSpPr txBox="1"/>
          <p:nvPr/>
        </p:nvSpPr>
        <p:spPr>
          <a:xfrm>
            <a:off x="4857553" y="6551563"/>
            <a:ext cx="764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MTSU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1142F06-9CDB-8048-03C9-65E06FEC845E}"/>
              </a:ext>
            </a:extLst>
          </p:cNvPr>
          <p:cNvGrpSpPr/>
          <p:nvPr/>
        </p:nvGrpSpPr>
        <p:grpSpPr>
          <a:xfrm>
            <a:off x="815975" y="1806110"/>
            <a:ext cx="5175250" cy="3049141"/>
            <a:chOff x="815975" y="1806110"/>
            <a:chExt cx="5175250" cy="3049141"/>
          </a:xfrm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90A2586D-A337-48B3-B87E-32F7E27DBB0F}"/>
                </a:ext>
              </a:extLst>
            </p:cNvPr>
            <p:cNvSpPr/>
            <p:nvPr/>
          </p:nvSpPr>
          <p:spPr>
            <a:xfrm>
              <a:off x="815975" y="1806110"/>
              <a:ext cx="5175250" cy="3049141"/>
            </a:xfrm>
            <a:prstGeom prst="roundRect">
              <a:avLst>
                <a:gd name="adj" fmla="val 3228"/>
              </a:avLst>
            </a:prstGeom>
            <a:solidFill>
              <a:srgbClr val="FFFDF8"/>
            </a:solidFill>
            <a:ln w="6350">
              <a:solidFill>
                <a:srgbClr val="DDD8C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3">
              <a:extLst>
                <a:ext uri="{FF2B5EF4-FFF2-40B4-BE49-F238E27FC236}">
                  <a16:creationId xmlns:a16="http://schemas.microsoft.com/office/drawing/2014/main" id="{1A7178C1-2869-B6C7-EDDF-CAD894455890}"/>
                </a:ext>
              </a:extLst>
            </p:cNvPr>
            <p:cNvSpPr/>
            <p:nvPr/>
          </p:nvSpPr>
          <p:spPr>
            <a:xfrm>
              <a:off x="1073150" y="2063285"/>
              <a:ext cx="4800727" cy="23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680"/>
                </a:lnSpc>
                <a:buNone/>
              </a:pPr>
              <a:r>
                <a:rPr lang="en-US" sz="1200" b="1" kern="0" spc="100" dirty="0">
                  <a:solidFill>
                    <a:srgbClr val="5B3FD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STATE |0⟩</a:t>
              </a:r>
              <a:endParaRPr lang="en-US" sz="1200" dirty="0"/>
            </a:p>
          </p:txBody>
        </p:sp>
        <p:sp>
          <p:nvSpPr>
            <p:cNvPr id="18" name="Text 4">
              <a:extLst>
                <a:ext uri="{FF2B5EF4-FFF2-40B4-BE49-F238E27FC236}">
                  <a16:creationId xmlns:a16="http://schemas.microsoft.com/office/drawing/2014/main" id="{E51B5A30-3093-160B-4E60-60210A261595}"/>
                </a:ext>
              </a:extLst>
            </p:cNvPr>
            <p:cNvSpPr/>
            <p:nvPr/>
          </p:nvSpPr>
          <p:spPr>
            <a:xfrm>
              <a:off x="1073150" y="2482336"/>
              <a:ext cx="609600" cy="2742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dirty="0">
                  <a:solidFill>
                    <a:srgbClr val="14161F"/>
                  </a:solidFill>
                  <a:latin typeface="Courier New" pitchFamily="49" charset="0"/>
                  <a:ea typeface="Courier New" pitchFamily="49" charset="-122"/>
                  <a:cs typeface="Courier New" pitchFamily="49" charset="-120"/>
                </a:rPr>
                <a:t>|0⟩</a:t>
              </a:r>
              <a:endParaRPr lang="en-US" sz="1400" dirty="0"/>
            </a:p>
          </p:txBody>
        </p:sp>
        <p:sp>
          <p:nvSpPr>
            <p:cNvPr id="20" name="Shape 5">
              <a:extLst>
                <a:ext uri="{FF2B5EF4-FFF2-40B4-BE49-F238E27FC236}">
                  <a16:creationId xmlns:a16="http://schemas.microsoft.com/office/drawing/2014/main" id="{4AD7FF25-64D1-E4A8-508B-15D822E2FAB1}"/>
                </a:ext>
              </a:extLst>
            </p:cNvPr>
            <p:cNvSpPr/>
            <p:nvPr/>
          </p:nvSpPr>
          <p:spPr>
            <a:xfrm>
              <a:off x="1631950" y="2594106"/>
              <a:ext cx="3644900" cy="25400"/>
            </a:xfrm>
            <a:prstGeom prst="rect">
              <a:avLst/>
            </a:prstGeom>
            <a:solidFill>
              <a:srgbClr val="14161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6">
              <a:extLst>
                <a:ext uri="{FF2B5EF4-FFF2-40B4-BE49-F238E27FC236}">
                  <a16:creationId xmlns:a16="http://schemas.microsoft.com/office/drawing/2014/main" id="{F96E57DD-56FD-9AC5-5FF2-4E219919BA82}"/>
                </a:ext>
              </a:extLst>
            </p:cNvPr>
            <p:cNvSpPr/>
            <p:nvPr/>
          </p:nvSpPr>
          <p:spPr>
            <a:xfrm>
              <a:off x="5276850" y="2378206"/>
              <a:ext cx="457200" cy="457200"/>
            </a:xfrm>
            <a:prstGeom prst="roundRect">
              <a:avLst>
                <a:gd name="adj" fmla="val 16667"/>
              </a:avLst>
            </a:prstGeom>
            <a:solidFill>
              <a:srgbClr val="14161F"/>
            </a:solidFill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ts val="1980"/>
                </a:lnSpc>
                <a:buNone/>
              </a:pPr>
              <a:r>
                <a:rPr lang="en-US" sz="1800" dirty="0">
                  <a:solidFill>
                    <a:srgbClr val="F5F2EA"/>
                  </a:solidFill>
                  <a:latin typeface="Courier New" pitchFamily="49" charset="0"/>
                  <a:ea typeface="Courier New" pitchFamily="49" charset="-122"/>
                  <a:cs typeface="Courier New" pitchFamily="49" charset="-120"/>
                </a:rPr>
                <a:t>M</a:t>
              </a:r>
              <a:endParaRPr lang="en-US" sz="1800" dirty="0"/>
            </a:p>
          </p:txBody>
        </p:sp>
        <p:sp>
          <p:nvSpPr>
            <p:cNvPr id="23" name="Text 7">
              <a:extLst>
                <a:ext uri="{FF2B5EF4-FFF2-40B4-BE49-F238E27FC236}">
                  <a16:creationId xmlns:a16="http://schemas.microsoft.com/office/drawing/2014/main" id="{456D2C21-BAC2-2513-5A5C-FBE73D981835}"/>
                </a:ext>
              </a:extLst>
            </p:cNvPr>
            <p:cNvSpPr/>
            <p:nvPr/>
          </p:nvSpPr>
          <p:spPr>
            <a:xfrm>
              <a:off x="1073150" y="2937006"/>
              <a:ext cx="4800727" cy="2742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dirty="0">
                  <a:solidFill>
                    <a:srgbClr val="4B516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|0⟩ is the +1 state of Z, so every shot gives bit 0.</a:t>
              </a:r>
              <a:endParaRPr lang="en-US" sz="1400" dirty="0"/>
            </a:p>
          </p:txBody>
        </p:sp>
        <p:sp>
          <p:nvSpPr>
            <p:cNvPr id="24" name="Text 8">
              <a:extLst>
                <a:ext uri="{FF2B5EF4-FFF2-40B4-BE49-F238E27FC236}">
                  <a16:creationId xmlns:a16="http://schemas.microsoft.com/office/drawing/2014/main" id="{C1CD28F1-F5F8-0171-94C7-541E100BFB5E}"/>
                </a:ext>
              </a:extLst>
            </p:cNvPr>
            <p:cNvSpPr/>
            <p:nvPr/>
          </p:nvSpPr>
          <p:spPr>
            <a:xfrm>
              <a:off x="1073150" y="3314186"/>
              <a:ext cx="304800" cy="276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80"/>
                </a:lnSpc>
                <a:buNone/>
              </a:pPr>
              <a:r>
                <a:rPr lang="en-US" sz="1800" dirty="0">
                  <a:solidFill>
                    <a:srgbClr val="14161F"/>
                  </a:solidFill>
                  <a:latin typeface="Courier New" pitchFamily="49" charset="0"/>
                  <a:ea typeface="Courier New" pitchFamily="49" charset="-122"/>
                  <a:cs typeface="Courier New" pitchFamily="49" charset="-120"/>
                </a:rPr>
                <a:t>0</a:t>
              </a:r>
              <a:endParaRPr lang="en-US" sz="1800" dirty="0"/>
            </a:p>
          </p:txBody>
        </p:sp>
        <p:sp>
          <p:nvSpPr>
            <p:cNvPr id="25" name="Shape 9">
              <a:extLst>
                <a:ext uri="{FF2B5EF4-FFF2-40B4-BE49-F238E27FC236}">
                  <a16:creationId xmlns:a16="http://schemas.microsoft.com/office/drawing/2014/main" id="{B761FAFC-803B-4DA1-83CC-83307323DDF7}"/>
                </a:ext>
              </a:extLst>
            </p:cNvPr>
            <p:cNvSpPr/>
            <p:nvPr/>
          </p:nvSpPr>
          <p:spPr>
            <a:xfrm>
              <a:off x="1479550" y="3287496"/>
              <a:ext cx="2286000" cy="304800"/>
            </a:xfrm>
            <a:prstGeom prst="roundRect">
              <a:avLst>
                <a:gd name="adj" fmla="val 16667"/>
              </a:avLst>
            </a:prstGeom>
            <a:solidFill>
              <a:srgbClr val="5B3FD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10">
              <a:extLst>
                <a:ext uri="{FF2B5EF4-FFF2-40B4-BE49-F238E27FC236}">
                  <a16:creationId xmlns:a16="http://schemas.microsoft.com/office/drawing/2014/main" id="{D618B233-598D-6E57-F360-9FF367696E33}"/>
                </a:ext>
              </a:extLst>
            </p:cNvPr>
            <p:cNvSpPr/>
            <p:nvPr/>
          </p:nvSpPr>
          <p:spPr>
            <a:xfrm>
              <a:off x="3917950" y="3315426"/>
              <a:ext cx="545723" cy="2742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dirty="0">
                  <a:solidFill>
                    <a:srgbClr val="14161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100%</a:t>
              </a:r>
              <a:endParaRPr lang="en-US" sz="1400" dirty="0"/>
            </a:p>
          </p:txBody>
        </p:sp>
        <p:sp>
          <p:nvSpPr>
            <p:cNvPr id="28" name="Text 11">
              <a:extLst>
                <a:ext uri="{FF2B5EF4-FFF2-40B4-BE49-F238E27FC236}">
                  <a16:creationId xmlns:a16="http://schemas.microsoft.com/office/drawing/2014/main" id="{48DDDC43-21EA-EE2D-90BF-8E65CDA55778}"/>
                </a:ext>
              </a:extLst>
            </p:cNvPr>
            <p:cNvSpPr/>
            <p:nvPr/>
          </p:nvSpPr>
          <p:spPr>
            <a:xfrm>
              <a:off x="1073150" y="3695186"/>
              <a:ext cx="304800" cy="276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80"/>
                </a:lnSpc>
                <a:buNone/>
              </a:pPr>
              <a:r>
                <a:rPr lang="en-US" sz="1800" dirty="0">
                  <a:solidFill>
                    <a:srgbClr val="14161F"/>
                  </a:solidFill>
                  <a:latin typeface="Courier New" pitchFamily="49" charset="0"/>
                  <a:ea typeface="Courier New" pitchFamily="49" charset="-122"/>
                  <a:cs typeface="Courier New" pitchFamily="49" charset="-120"/>
                </a:rPr>
                <a:t>1</a:t>
              </a:r>
              <a:endParaRPr lang="en-US" sz="1800" dirty="0"/>
            </a:p>
          </p:txBody>
        </p:sp>
        <p:sp>
          <p:nvSpPr>
            <p:cNvPr id="29" name="Text 12">
              <a:extLst>
                <a:ext uri="{FF2B5EF4-FFF2-40B4-BE49-F238E27FC236}">
                  <a16:creationId xmlns:a16="http://schemas.microsoft.com/office/drawing/2014/main" id="{C9C50463-7497-B8CF-4FD3-BD72A68C3D2D}"/>
                </a:ext>
              </a:extLst>
            </p:cNvPr>
            <p:cNvSpPr/>
            <p:nvPr/>
          </p:nvSpPr>
          <p:spPr>
            <a:xfrm>
              <a:off x="1631950" y="3696426"/>
              <a:ext cx="308372" cy="2742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dirty="0">
                  <a:solidFill>
                    <a:srgbClr val="14161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0%</a:t>
              </a:r>
              <a:endParaRPr lang="en-US" sz="1400" dirty="0"/>
            </a:p>
          </p:txBody>
        </p:sp>
        <p:sp>
          <p:nvSpPr>
            <p:cNvPr id="30" name="Text 13">
              <a:extLst>
                <a:ext uri="{FF2B5EF4-FFF2-40B4-BE49-F238E27FC236}">
                  <a16:creationId xmlns:a16="http://schemas.microsoft.com/office/drawing/2014/main" id="{F9B02F07-822D-3F67-296E-DE9FF202D0F5}"/>
                </a:ext>
              </a:extLst>
            </p:cNvPr>
            <p:cNvSpPr/>
            <p:nvPr/>
          </p:nvSpPr>
          <p:spPr>
            <a:xfrm>
              <a:off x="1073150" y="4074896"/>
              <a:ext cx="4800727" cy="2996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2160"/>
                </a:lnSpc>
                <a:buNone/>
              </a:pPr>
              <a:r>
                <a:rPr lang="en-US" sz="1800" b="1" dirty="0">
                  <a:solidFill>
                    <a:srgbClr val="14161F"/>
                  </a:solidFill>
                  <a:latin typeface="Georgia" pitchFamily="18" charset="0"/>
                  <a:ea typeface="Georgia" pitchFamily="18" charset="-122"/>
                  <a:cs typeface="Georgia" pitchFamily="18" charset="-120"/>
                </a:rPr>
                <a:t>⟨Z⟩ = P(0) − P(1) = 1.0 − 0.0 = +1</a:t>
              </a:r>
              <a:endParaRPr lang="en-US" sz="1800" dirty="0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AE337B7C-B300-F9C2-9040-3BA7BB793DE0}"/>
              </a:ext>
            </a:extLst>
          </p:cNvPr>
          <p:cNvSpPr txBox="1"/>
          <p:nvPr/>
        </p:nvSpPr>
        <p:spPr>
          <a:xfrm>
            <a:off x="293511" y="1095022"/>
            <a:ext cx="37064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Measuring Z on different states: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0A3CFE2-54C6-8F02-9345-DA133FBA8B47}"/>
              </a:ext>
            </a:extLst>
          </p:cNvPr>
          <p:cNvGrpSpPr/>
          <p:nvPr/>
        </p:nvGrpSpPr>
        <p:grpSpPr>
          <a:xfrm>
            <a:off x="6200775" y="1806110"/>
            <a:ext cx="5175250" cy="3049141"/>
            <a:chOff x="6200775" y="1806110"/>
            <a:chExt cx="5175250" cy="3049141"/>
          </a:xfrm>
        </p:grpSpPr>
        <p:sp>
          <p:nvSpPr>
            <p:cNvPr id="31" name="Shape 14">
              <a:extLst>
                <a:ext uri="{FF2B5EF4-FFF2-40B4-BE49-F238E27FC236}">
                  <a16:creationId xmlns:a16="http://schemas.microsoft.com/office/drawing/2014/main" id="{67723052-B44B-33FB-F52E-8C515742DB38}"/>
                </a:ext>
              </a:extLst>
            </p:cNvPr>
            <p:cNvSpPr/>
            <p:nvPr/>
          </p:nvSpPr>
          <p:spPr>
            <a:xfrm>
              <a:off x="6200775" y="1806110"/>
              <a:ext cx="5175250" cy="3049141"/>
            </a:xfrm>
            <a:prstGeom prst="roundRect">
              <a:avLst>
                <a:gd name="adj" fmla="val 3228"/>
              </a:avLst>
            </a:prstGeom>
            <a:solidFill>
              <a:srgbClr val="FFFDF8"/>
            </a:solidFill>
            <a:ln w="6350">
              <a:solidFill>
                <a:srgbClr val="DDD8CB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Text 15">
              <a:extLst>
                <a:ext uri="{FF2B5EF4-FFF2-40B4-BE49-F238E27FC236}">
                  <a16:creationId xmlns:a16="http://schemas.microsoft.com/office/drawing/2014/main" id="{5E2795A8-8AAF-463F-91BA-5334325C207C}"/>
                </a:ext>
              </a:extLst>
            </p:cNvPr>
            <p:cNvSpPr/>
            <p:nvPr/>
          </p:nvSpPr>
          <p:spPr>
            <a:xfrm>
              <a:off x="6457950" y="2063285"/>
              <a:ext cx="4800727" cy="23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680"/>
                </a:lnSpc>
                <a:buNone/>
              </a:pPr>
              <a:r>
                <a:rPr lang="en-US" sz="1200" b="1" kern="0" spc="100" dirty="0">
                  <a:solidFill>
                    <a:srgbClr val="5B3FD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STATE |+⟩</a:t>
              </a:r>
              <a:endParaRPr lang="en-US" sz="1200" dirty="0"/>
            </a:p>
          </p:txBody>
        </p:sp>
        <p:sp>
          <p:nvSpPr>
            <p:cNvPr id="33" name="Text 16">
              <a:extLst>
                <a:ext uri="{FF2B5EF4-FFF2-40B4-BE49-F238E27FC236}">
                  <a16:creationId xmlns:a16="http://schemas.microsoft.com/office/drawing/2014/main" id="{4CCA7A64-9EF8-5A74-E5A8-9479EC36A544}"/>
                </a:ext>
              </a:extLst>
            </p:cNvPr>
            <p:cNvSpPr/>
            <p:nvPr/>
          </p:nvSpPr>
          <p:spPr>
            <a:xfrm>
              <a:off x="6457950" y="2482336"/>
              <a:ext cx="609600" cy="2742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dirty="0">
                  <a:solidFill>
                    <a:srgbClr val="14161F"/>
                  </a:solidFill>
                  <a:latin typeface="Courier New" pitchFamily="49" charset="0"/>
                  <a:ea typeface="Courier New" pitchFamily="49" charset="-122"/>
                  <a:cs typeface="Courier New" pitchFamily="49" charset="-120"/>
                </a:rPr>
                <a:t>|0⟩</a:t>
              </a:r>
              <a:endParaRPr lang="en-US" sz="1400" dirty="0"/>
            </a:p>
          </p:txBody>
        </p:sp>
        <p:sp>
          <p:nvSpPr>
            <p:cNvPr id="34" name="Shape 17">
              <a:extLst>
                <a:ext uri="{FF2B5EF4-FFF2-40B4-BE49-F238E27FC236}">
                  <a16:creationId xmlns:a16="http://schemas.microsoft.com/office/drawing/2014/main" id="{D6DD522A-23B6-2115-9129-27D2F931086E}"/>
                </a:ext>
              </a:extLst>
            </p:cNvPr>
            <p:cNvSpPr/>
            <p:nvPr/>
          </p:nvSpPr>
          <p:spPr>
            <a:xfrm>
              <a:off x="7016750" y="2594106"/>
              <a:ext cx="1593850" cy="25400"/>
            </a:xfrm>
            <a:prstGeom prst="rect">
              <a:avLst/>
            </a:prstGeom>
            <a:solidFill>
              <a:srgbClr val="14161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18">
              <a:extLst>
                <a:ext uri="{FF2B5EF4-FFF2-40B4-BE49-F238E27FC236}">
                  <a16:creationId xmlns:a16="http://schemas.microsoft.com/office/drawing/2014/main" id="{E0F864C0-C6F0-6214-BE74-0A7FD9B634B8}"/>
                </a:ext>
              </a:extLst>
            </p:cNvPr>
            <p:cNvSpPr/>
            <p:nvPr/>
          </p:nvSpPr>
          <p:spPr>
            <a:xfrm>
              <a:off x="8620125" y="2387731"/>
              <a:ext cx="438150" cy="438150"/>
            </a:xfrm>
            <a:prstGeom prst="roundRect">
              <a:avLst>
                <a:gd name="adj" fmla="val 15217"/>
              </a:avLst>
            </a:prstGeom>
            <a:solidFill>
              <a:srgbClr val="E6E1FA"/>
            </a:solidFill>
            <a:ln w="19050">
              <a:solidFill>
                <a:srgbClr val="5B3FD1"/>
              </a:solidFill>
              <a:prstDash val="solid"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ts val="1980"/>
                </a:lnSpc>
                <a:buNone/>
              </a:pPr>
              <a:r>
                <a:rPr lang="en-US" sz="1800" dirty="0">
                  <a:solidFill>
                    <a:srgbClr val="14161F"/>
                  </a:solidFill>
                  <a:latin typeface="Courier New" pitchFamily="49" charset="0"/>
                  <a:ea typeface="Courier New" pitchFamily="49" charset="-122"/>
                  <a:cs typeface="Courier New" pitchFamily="49" charset="-120"/>
                </a:rPr>
                <a:t>H</a:t>
              </a:r>
              <a:endParaRPr lang="en-US" sz="1800" dirty="0"/>
            </a:p>
          </p:txBody>
        </p:sp>
        <p:sp>
          <p:nvSpPr>
            <p:cNvPr id="36" name="Shape 19">
              <a:extLst>
                <a:ext uri="{FF2B5EF4-FFF2-40B4-BE49-F238E27FC236}">
                  <a16:creationId xmlns:a16="http://schemas.microsoft.com/office/drawing/2014/main" id="{DB468A5F-D125-E26A-2DCA-4E8F1DAF003C}"/>
                </a:ext>
              </a:extLst>
            </p:cNvPr>
            <p:cNvSpPr/>
            <p:nvPr/>
          </p:nvSpPr>
          <p:spPr>
            <a:xfrm>
              <a:off x="9067800" y="2594106"/>
              <a:ext cx="1593850" cy="25400"/>
            </a:xfrm>
            <a:prstGeom prst="rect">
              <a:avLst/>
            </a:prstGeom>
            <a:solidFill>
              <a:srgbClr val="14161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20">
              <a:extLst>
                <a:ext uri="{FF2B5EF4-FFF2-40B4-BE49-F238E27FC236}">
                  <a16:creationId xmlns:a16="http://schemas.microsoft.com/office/drawing/2014/main" id="{A9269545-A52A-E0FD-5D2A-E1FCA3482011}"/>
                </a:ext>
              </a:extLst>
            </p:cNvPr>
            <p:cNvSpPr/>
            <p:nvPr/>
          </p:nvSpPr>
          <p:spPr>
            <a:xfrm>
              <a:off x="10661650" y="2378206"/>
              <a:ext cx="457200" cy="457200"/>
            </a:xfrm>
            <a:prstGeom prst="roundRect">
              <a:avLst>
                <a:gd name="adj" fmla="val 16667"/>
              </a:avLst>
            </a:prstGeom>
            <a:solidFill>
              <a:srgbClr val="14161F"/>
            </a:solidFill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ts val="1980"/>
                </a:lnSpc>
                <a:buNone/>
              </a:pPr>
              <a:r>
                <a:rPr lang="en-US" sz="1800" dirty="0">
                  <a:solidFill>
                    <a:srgbClr val="F5F2EA"/>
                  </a:solidFill>
                  <a:latin typeface="Courier New" pitchFamily="49" charset="0"/>
                  <a:ea typeface="Courier New" pitchFamily="49" charset="-122"/>
                  <a:cs typeface="Courier New" pitchFamily="49" charset="-120"/>
                </a:rPr>
                <a:t>M</a:t>
              </a:r>
              <a:endParaRPr lang="en-US" sz="1800" dirty="0"/>
            </a:p>
          </p:txBody>
        </p:sp>
        <p:sp>
          <p:nvSpPr>
            <p:cNvPr id="38" name="Text 21">
              <a:extLst>
                <a:ext uri="{FF2B5EF4-FFF2-40B4-BE49-F238E27FC236}">
                  <a16:creationId xmlns:a16="http://schemas.microsoft.com/office/drawing/2014/main" id="{D57DD903-CECB-40C4-B3FA-042A1C6A33D9}"/>
                </a:ext>
              </a:extLst>
            </p:cNvPr>
            <p:cNvSpPr/>
            <p:nvPr/>
          </p:nvSpPr>
          <p:spPr>
            <a:xfrm>
              <a:off x="6457950" y="2937006"/>
              <a:ext cx="4800727" cy="5231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dirty="0">
                  <a:solidFill>
                    <a:srgbClr val="4B516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 prepares |+⟩, which has no preferred Z outcome: a fair coin flip.</a:t>
              </a:r>
              <a:endParaRPr lang="en-US" sz="1400" dirty="0"/>
            </a:p>
          </p:txBody>
        </p:sp>
        <p:sp>
          <p:nvSpPr>
            <p:cNvPr id="39" name="Text 22">
              <a:extLst>
                <a:ext uri="{FF2B5EF4-FFF2-40B4-BE49-F238E27FC236}">
                  <a16:creationId xmlns:a16="http://schemas.microsoft.com/office/drawing/2014/main" id="{DF341947-53AE-72AB-2475-6971F1495F91}"/>
                </a:ext>
              </a:extLst>
            </p:cNvPr>
            <p:cNvSpPr/>
            <p:nvPr/>
          </p:nvSpPr>
          <p:spPr>
            <a:xfrm>
              <a:off x="6457950" y="3563076"/>
              <a:ext cx="304800" cy="276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80"/>
                </a:lnSpc>
                <a:buNone/>
              </a:pPr>
              <a:r>
                <a:rPr lang="en-US" sz="1800" dirty="0">
                  <a:solidFill>
                    <a:srgbClr val="14161F"/>
                  </a:solidFill>
                  <a:latin typeface="Courier New" pitchFamily="49" charset="0"/>
                  <a:ea typeface="Courier New" pitchFamily="49" charset="-122"/>
                  <a:cs typeface="Courier New" pitchFamily="49" charset="-120"/>
                </a:rPr>
                <a:t>0</a:t>
              </a:r>
              <a:endParaRPr lang="en-US" sz="1800" dirty="0"/>
            </a:p>
          </p:txBody>
        </p:sp>
        <p:sp>
          <p:nvSpPr>
            <p:cNvPr id="40" name="Shape 23">
              <a:extLst>
                <a:ext uri="{FF2B5EF4-FFF2-40B4-BE49-F238E27FC236}">
                  <a16:creationId xmlns:a16="http://schemas.microsoft.com/office/drawing/2014/main" id="{913B1813-2FA5-97BC-8D4A-57901DE91B83}"/>
                </a:ext>
              </a:extLst>
            </p:cNvPr>
            <p:cNvSpPr/>
            <p:nvPr/>
          </p:nvSpPr>
          <p:spPr>
            <a:xfrm>
              <a:off x="6864350" y="3536386"/>
              <a:ext cx="1143000" cy="304800"/>
            </a:xfrm>
            <a:prstGeom prst="roundRect">
              <a:avLst>
                <a:gd name="adj" fmla="val 16667"/>
              </a:avLst>
            </a:prstGeom>
            <a:solidFill>
              <a:srgbClr val="5B3FD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24">
              <a:extLst>
                <a:ext uri="{FF2B5EF4-FFF2-40B4-BE49-F238E27FC236}">
                  <a16:creationId xmlns:a16="http://schemas.microsoft.com/office/drawing/2014/main" id="{94151ADB-6A4E-C59B-0232-AF098915D496}"/>
                </a:ext>
              </a:extLst>
            </p:cNvPr>
            <p:cNvSpPr/>
            <p:nvPr/>
          </p:nvSpPr>
          <p:spPr>
            <a:xfrm>
              <a:off x="8159750" y="3564316"/>
              <a:ext cx="427077" cy="2742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dirty="0">
                  <a:solidFill>
                    <a:srgbClr val="14161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50%</a:t>
              </a:r>
              <a:endParaRPr lang="en-US" sz="1400" dirty="0"/>
            </a:p>
          </p:txBody>
        </p:sp>
        <p:sp>
          <p:nvSpPr>
            <p:cNvPr id="42" name="Text 25">
              <a:extLst>
                <a:ext uri="{FF2B5EF4-FFF2-40B4-BE49-F238E27FC236}">
                  <a16:creationId xmlns:a16="http://schemas.microsoft.com/office/drawing/2014/main" id="{4914FED7-0E86-F408-9B78-B1424C348255}"/>
                </a:ext>
              </a:extLst>
            </p:cNvPr>
            <p:cNvSpPr/>
            <p:nvPr/>
          </p:nvSpPr>
          <p:spPr>
            <a:xfrm>
              <a:off x="6457950" y="3944076"/>
              <a:ext cx="304800" cy="276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80"/>
                </a:lnSpc>
                <a:buNone/>
              </a:pPr>
              <a:r>
                <a:rPr lang="en-US" sz="1800" dirty="0">
                  <a:solidFill>
                    <a:srgbClr val="14161F"/>
                  </a:solidFill>
                  <a:latin typeface="Courier New" pitchFamily="49" charset="0"/>
                  <a:ea typeface="Courier New" pitchFamily="49" charset="-122"/>
                  <a:cs typeface="Courier New" pitchFamily="49" charset="-120"/>
                </a:rPr>
                <a:t>1</a:t>
              </a:r>
              <a:endParaRPr lang="en-US" sz="1800" dirty="0"/>
            </a:p>
          </p:txBody>
        </p:sp>
        <p:sp>
          <p:nvSpPr>
            <p:cNvPr id="43" name="Shape 26">
              <a:extLst>
                <a:ext uri="{FF2B5EF4-FFF2-40B4-BE49-F238E27FC236}">
                  <a16:creationId xmlns:a16="http://schemas.microsoft.com/office/drawing/2014/main" id="{099FEC53-0EFB-63A4-1374-6296C146AEAF}"/>
                </a:ext>
              </a:extLst>
            </p:cNvPr>
            <p:cNvSpPr/>
            <p:nvPr/>
          </p:nvSpPr>
          <p:spPr>
            <a:xfrm>
              <a:off x="6864350" y="3917386"/>
              <a:ext cx="1143000" cy="304800"/>
            </a:xfrm>
            <a:prstGeom prst="roundRect">
              <a:avLst>
                <a:gd name="adj" fmla="val 16667"/>
              </a:avLst>
            </a:prstGeom>
            <a:solidFill>
              <a:srgbClr val="5B3FD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27">
              <a:extLst>
                <a:ext uri="{FF2B5EF4-FFF2-40B4-BE49-F238E27FC236}">
                  <a16:creationId xmlns:a16="http://schemas.microsoft.com/office/drawing/2014/main" id="{31BEA445-647B-5DEF-A6EC-9AA77C26CF9A}"/>
                </a:ext>
              </a:extLst>
            </p:cNvPr>
            <p:cNvSpPr/>
            <p:nvPr/>
          </p:nvSpPr>
          <p:spPr>
            <a:xfrm>
              <a:off x="8159750" y="3945316"/>
              <a:ext cx="427077" cy="2742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dirty="0">
                  <a:solidFill>
                    <a:srgbClr val="14161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50%</a:t>
              </a:r>
              <a:endParaRPr lang="en-US" sz="1400" dirty="0"/>
            </a:p>
          </p:txBody>
        </p:sp>
        <p:sp>
          <p:nvSpPr>
            <p:cNvPr id="45" name="Text 28">
              <a:extLst>
                <a:ext uri="{FF2B5EF4-FFF2-40B4-BE49-F238E27FC236}">
                  <a16:creationId xmlns:a16="http://schemas.microsoft.com/office/drawing/2014/main" id="{D04B1B66-18C7-1938-86B0-22CA4C705359}"/>
                </a:ext>
              </a:extLst>
            </p:cNvPr>
            <p:cNvSpPr/>
            <p:nvPr/>
          </p:nvSpPr>
          <p:spPr>
            <a:xfrm>
              <a:off x="6457950" y="4323786"/>
              <a:ext cx="4800727" cy="2996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2160"/>
                </a:lnSpc>
                <a:buNone/>
              </a:pPr>
              <a:r>
                <a:rPr lang="en-US" sz="1800" b="1" dirty="0">
                  <a:solidFill>
                    <a:srgbClr val="14161F"/>
                  </a:solidFill>
                  <a:latin typeface="Georgia" pitchFamily="18" charset="0"/>
                  <a:ea typeface="Georgia" pitchFamily="18" charset="-122"/>
                  <a:cs typeface="Georgia" pitchFamily="18" charset="-120"/>
                </a:rPr>
                <a:t>⟨Z⟩ = P(0) − P(1) = 0.5 − 0.5 = 0</a:t>
              </a:r>
              <a:endParaRPr lang="en-US" sz="18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98EFB742-7A69-3F88-4014-BA390E9128CC}"/>
                    </a:ext>
                  </a:extLst>
                </p:cNvPr>
                <p:cNvSpPr txBox="1"/>
                <p:nvPr/>
              </p:nvSpPr>
              <p:spPr>
                <a:xfrm>
                  <a:off x="9585453" y="2190152"/>
                  <a:ext cx="56137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|+⟩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98EFB742-7A69-3F88-4014-BA390E9128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5453" y="2190152"/>
                  <a:ext cx="561371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15957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CF5D4-83DA-3FC3-D607-2E3424AA8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835EE9-B3A5-E6D1-8037-381F93771278}"/>
              </a:ext>
            </a:extLst>
          </p:cNvPr>
          <p:cNvSpPr/>
          <p:nvPr/>
        </p:nvSpPr>
        <p:spPr>
          <a:xfrm>
            <a:off x="0" y="-1"/>
            <a:ext cx="12192000" cy="653143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 panose="020B0403020202020204" pitchFamily="34" charset="0"/>
                <a:ea typeface="+mn-ea"/>
                <a:cs typeface="+mn-cs"/>
              </a:rPr>
              <a:t> What does measuring energy means in an experiment?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D6D057-CCE4-EACF-4C13-481D3A702680}"/>
              </a:ext>
            </a:extLst>
          </p:cNvPr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9A6CA1-8290-8410-FC0C-021918D28C7C}"/>
              </a:ext>
            </a:extLst>
          </p:cNvPr>
          <p:cNvSpPr txBox="1"/>
          <p:nvPr/>
        </p:nvSpPr>
        <p:spPr>
          <a:xfrm>
            <a:off x="1153722" y="656172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VQE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287C34-3DCF-E550-1059-9EF5AFD3E328}"/>
              </a:ext>
            </a:extLst>
          </p:cNvPr>
          <p:cNvSpPr txBox="1"/>
          <p:nvPr/>
        </p:nvSpPr>
        <p:spPr>
          <a:xfrm>
            <a:off x="11450917" y="6551563"/>
            <a:ext cx="5153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11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750C4A-0B3C-53FE-1CA7-375AC71899F9}"/>
              </a:ext>
            </a:extLst>
          </p:cNvPr>
          <p:cNvCxnSpPr/>
          <p:nvPr/>
        </p:nvCxnSpPr>
        <p:spPr>
          <a:xfrm>
            <a:off x="2733040" y="658368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FB1EAA-349E-518B-1FFA-23920DC77205}"/>
              </a:ext>
            </a:extLst>
          </p:cNvPr>
          <p:cNvCxnSpPr/>
          <p:nvPr/>
        </p:nvCxnSpPr>
        <p:spPr>
          <a:xfrm>
            <a:off x="7762240" y="659384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7F7BDA7-5E76-F30B-3E70-95C9F5CBD292}"/>
              </a:ext>
            </a:extLst>
          </p:cNvPr>
          <p:cNvSpPr txBox="1"/>
          <p:nvPr/>
        </p:nvSpPr>
        <p:spPr>
          <a:xfrm flipH="1">
            <a:off x="8424424" y="6551563"/>
            <a:ext cx="204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October 16, 2026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3A8A37-2ADB-6F01-8C02-264A76403238}"/>
              </a:ext>
            </a:extLst>
          </p:cNvPr>
          <p:cNvCxnSpPr/>
          <p:nvPr/>
        </p:nvCxnSpPr>
        <p:spPr>
          <a:xfrm>
            <a:off x="10911840" y="6595477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3F70251-39E3-1FB7-70C6-53BFB0C7ADB0}"/>
              </a:ext>
            </a:extLst>
          </p:cNvPr>
          <p:cNvSpPr txBox="1"/>
          <p:nvPr/>
        </p:nvSpPr>
        <p:spPr>
          <a:xfrm>
            <a:off x="4857553" y="6551563"/>
            <a:ext cx="764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MTSU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1A1C00-0FD0-AA60-C360-FB00F04E79D6}"/>
              </a:ext>
            </a:extLst>
          </p:cNvPr>
          <p:cNvSpPr txBox="1"/>
          <p:nvPr/>
        </p:nvSpPr>
        <p:spPr>
          <a:xfrm>
            <a:off x="293511" y="1095022"/>
            <a:ext cx="37144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Measuring X on different states: </a:t>
            </a: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A1C8CB4D-8E9C-D7EC-60D7-DF9921498CFE}"/>
              </a:ext>
            </a:extLst>
          </p:cNvPr>
          <p:cNvSpPr/>
          <p:nvPr/>
        </p:nvSpPr>
        <p:spPr>
          <a:xfrm>
            <a:off x="815975" y="1975445"/>
            <a:ext cx="5175250" cy="3049141"/>
          </a:xfrm>
          <a:prstGeom prst="roundRect">
            <a:avLst>
              <a:gd name="adj" fmla="val 3228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2ED1EA57-DBAC-05DF-2BBC-8331C364D5A5}"/>
              </a:ext>
            </a:extLst>
          </p:cNvPr>
          <p:cNvSpPr/>
          <p:nvPr/>
        </p:nvSpPr>
        <p:spPr>
          <a:xfrm>
            <a:off x="1073150" y="2232620"/>
            <a:ext cx="48007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B3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|0⟩</a:t>
            </a:r>
            <a:endParaRPr lang="en-US" sz="12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08DE01A1-1C9A-042D-6783-FB85F41F6470}"/>
              </a:ext>
            </a:extLst>
          </p:cNvPr>
          <p:cNvSpPr/>
          <p:nvPr/>
        </p:nvSpPr>
        <p:spPr>
          <a:xfrm>
            <a:off x="1073150" y="2651671"/>
            <a:ext cx="6096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161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|0⟩</a:t>
            </a:r>
            <a:endParaRPr lang="en-US" sz="140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46469F72-3EC6-4C72-9BDC-76253F0BB00D}"/>
              </a:ext>
            </a:extLst>
          </p:cNvPr>
          <p:cNvSpPr/>
          <p:nvPr/>
        </p:nvSpPr>
        <p:spPr>
          <a:xfrm>
            <a:off x="1631950" y="2763441"/>
            <a:ext cx="1593850" cy="25400"/>
          </a:xfrm>
          <a:prstGeom prst="rect">
            <a:avLst/>
          </a:prstGeom>
          <a:solidFill>
            <a:srgbClr val="1416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8D7777FA-A315-87D9-F865-D655F752607A}"/>
              </a:ext>
            </a:extLst>
          </p:cNvPr>
          <p:cNvSpPr/>
          <p:nvPr/>
        </p:nvSpPr>
        <p:spPr>
          <a:xfrm>
            <a:off x="3235325" y="2557066"/>
            <a:ext cx="438150" cy="438150"/>
          </a:xfrm>
          <a:prstGeom prst="roundRect">
            <a:avLst>
              <a:gd name="adj" fmla="val 15217"/>
            </a:avLst>
          </a:prstGeom>
          <a:solidFill>
            <a:srgbClr val="F0B429"/>
          </a:solidFill>
          <a:ln w="19050">
            <a:solidFill>
              <a:srgbClr val="8A5A00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800" dirty="0">
                <a:solidFill>
                  <a:srgbClr val="14161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</a:t>
            </a:r>
            <a:endParaRPr lang="en-US" sz="1800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575874AF-BCC7-A0F7-D8F1-15478ED0C4D5}"/>
              </a:ext>
            </a:extLst>
          </p:cNvPr>
          <p:cNvSpPr/>
          <p:nvPr/>
        </p:nvSpPr>
        <p:spPr>
          <a:xfrm>
            <a:off x="3683000" y="2763441"/>
            <a:ext cx="1593850" cy="25400"/>
          </a:xfrm>
          <a:prstGeom prst="rect">
            <a:avLst/>
          </a:prstGeom>
          <a:solidFill>
            <a:srgbClr val="1416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A02E34B8-ACCB-44D5-873A-E15CAD64788B}"/>
              </a:ext>
            </a:extLst>
          </p:cNvPr>
          <p:cNvSpPr/>
          <p:nvPr/>
        </p:nvSpPr>
        <p:spPr>
          <a:xfrm>
            <a:off x="5276850" y="2547541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14161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800" dirty="0">
                <a:solidFill>
                  <a:srgbClr val="F5F2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</a:t>
            </a:r>
            <a:endParaRPr lang="en-US" sz="1800" dirty="0"/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28905DB6-0C74-189D-7E15-4D29A556CFB4}"/>
              </a:ext>
            </a:extLst>
          </p:cNvPr>
          <p:cNvSpPr/>
          <p:nvPr/>
        </p:nvSpPr>
        <p:spPr>
          <a:xfrm>
            <a:off x="1073150" y="3106341"/>
            <a:ext cx="480072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B5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 gate turns |0⟩ into |+⟩ before the bit is read: a fair coin flip.</a:t>
            </a:r>
            <a:endParaRPr lang="en-US" sz="1400" dirty="0"/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840E0248-9FE6-89F8-D49F-A0B063713DF2}"/>
              </a:ext>
            </a:extLst>
          </p:cNvPr>
          <p:cNvSpPr/>
          <p:nvPr/>
        </p:nvSpPr>
        <p:spPr>
          <a:xfrm>
            <a:off x="1073150" y="3732411"/>
            <a:ext cx="3048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dirty="0">
                <a:solidFill>
                  <a:srgbClr val="14161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1800" dirty="0"/>
          </a:p>
        </p:txBody>
      </p:sp>
      <p:sp>
        <p:nvSpPr>
          <p:cNvPr id="49" name="Shape 11">
            <a:extLst>
              <a:ext uri="{FF2B5EF4-FFF2-40B4-BE49-F238E27FC236}">
                <a16:creationId xmlns:a16="http://schemas.microsoft.com/office/drawing/2014/main" id="{8559ECD5-A8B3-8476-E4DB-13193235AEB3}"/>
              </a:ext>
            </a:extLst>
          </p:cNvPr>
          <p:cNvSpPr/>
          <p:nvPr/>
        </p:nvSpPr>
        <p:spPr>
          <a:xfrm>
            <a:off x="1479550" y="3705721"/>
            <a:ext cx="1143000" cy="304800"/>
          </a:xfrm>
          <a:prstGeom prst="roundRect">
            <a:avLst>
              <a:gd name="adj" fmla="val 16667"/>
            </a:avLst>
          </a:prstGeom>
          <a:solidFill>
            <a:srgbClr val="5B3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A19B7DFE-762E-9FE3-BC39-9559E85598DE}"/>
              </a:ext>
            </a:extLst>
          </p:cNvPr>
          <p:cNvSpPr/>
          <p:nvPr/>
        </p:nvSpPr>
        <p:spPr>
          <a:xfrm>
            <a:off x="2774950" y="3733651"/>
            <a:ext cx="42707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400" dirty="0"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BBB565F5-7FCB-DB1F-7163-93B1820C24DB}"/>
              </a:ext>
            </a:extLst>
          </p:cNvPr>
          <p:cNvSpPr/>
          <p:nvPr/>
        </p:nvSpPr>
        <p:spPr>
          <a:xfrm>
            <a:off x="1073150" y="4113411"/>
            <a:ext cx="3048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dirty="0">
                <a:solidFill>
                  <a:srgbClr val="14161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1800" dirty="0"/>
          </a:p>
        </p:txBody>
      </p:sp>
      <p:sp>
        <p:nvSpPr>
          <p:cNvPr id="52" name="Shape 14">
            <a:extLst>
              <a:ext uri="{FF2B5EF4-FFF2-40B4-BE49-F238E27FC236}">
                <a16:creationId xmlns:a16="http://schemas.microsoft.com/office/drawing/2014/main" id="{20237BFF-214C-5FA1-A09C-080C3D3B1553}"/>
              </a:ext>
            </a:extLst>
          </p:cNvPr>
          <p:cNvSpPr/>
          <p:nvPr/>
        </p:nvSpPr>
        <p:spPr>
          <a:xfrm>
            <a:off x="1479550" y="4086721"/>
            <a:ext cx="1143000" cy="304800"/>
          </a:xfrm>
          <a:prstGeom prst="roundRect">
            <a:avLst>
              <a:gd name="adj" fmla="val 16667"/>
            </a:avLst>
          </a:prstGeom>
          <a:solidFill>
            <a:srgbClr val="5B3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15">
            <a:extLst>
              <a:ext uri="{FF2B5EF4-FFF2-40B4-BE49-F238E27FC236}">
                <a16:creationId xmlns:a16="http://schemas.microsoft.com/office/drawing/2014/main" id="{5849CCBC-4919-586A-F9B2-A21748238CD9}"/>
              </a:ext>
            </a:extLst>
          </p:cNvPr>
          <p:cNvSpPr/>
          <p:nvPr/>
        </p:nvSpPr>
        <p:spPr>
          <a:xfrm>
            <a:off x="2774950" y="4114651"/>
            <a:ext cx="42707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400" dirty="0"/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28D7E3A5-925F-10C8-4E86-2576026A725F}"/>
              </a:ext>
            </a:extLst>
          </p:cNvPr>
          <p:cNvSpPr/>
          <p:nvPr/>
        </p:nvSpPr>
        <p:spPr>
          <a:xfrm>
            <a:off x="1073150" y="4493121"/>
            <a:ext cx="480072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161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⟨X⟩ = P(0) − P(1) = 0.5 − 0.5 = 0</a:t>
            </a:r>
            <a:endParaRPr lang="en-US" sz="1800" dirty="0"/>
          </a:p>
        </p:txBody>
      </p:sp>
      <p:sp>
        <p:nvSpPr>
          <p:cNvPr id="71" name="Shape 33">
            <a:extLst>
              <a:ext uri="{FF2B5EF4-FFF2-40B4-BE49-F238E27FC236}">
                <a16:creationId xmlns:a16="http://schemas.microsoft.com/office/drawing/2014/main" id="{94BFCBED-F646-EFC3-5221-977856A8C467}"/>
              </a:ext>
            </a:extLst>
          </p:cNvPr>
          <p:cNvSpPr/>
          <p:nvPr/>
        </p:nvSpPr>
        <p:spPr>
          <a:xfrm>
            <a:off x="822325" y="5309046"/>
            <a:ext cx="158750" cy="158750"/>
          </a:xfrm>
          <a:prstGeom prst="roundRect">
            <a:avLst>
              <a:gd name="adj" fmla="val 18000"/>
            </a:avLst>
          </a:prstGeom>
          <a:solidFill>
            <a:srgbClr val="E6E1FA"/>
          </a:solidFill>
          <a:ln w="19050">
            <a:solidFill>
              <a:srgbClr val="5B3F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34">
            <a:extLst>
              <a:ext uri="{FF2B5EF4-FFF2-40B4-BE49-F238E27FC236}">
                <a16:creationId xmlns:a16="http://schemas.microsoft.com/office/drawing/2014/main" id="{4A7FC019-52FB-7914-5B24-E247C33E4CC1}"/>
              </a:ext>
            </a:extLst>
          </p:cNvPr>
          <p:cNvSpPr/>
          <p:nvPr/>
        </p:nvSpPr>
        <p:spPr>
          <a:xfrm>
            <a:off x="1066800" y="5281761"/>
            <a:ext cx="14944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Prepares the state</a:t>
            </a:r>
            <a:endParaRPr lang="en-US" sz="1200" dirty="0"/>
          </a:p>
        </p:txBody>
      </p:sp>
      <p:sp>
        <p:nvSpPr>
          <p:cNvPr id="73" name="Shape 35">
            <a:extLst>
              <a:ext uri="{FF2B5EF4-FFF2-40B4-BE49-F238E27FC236}">
                <a16:creationId xmlns:a16="http://schemas.microsoft.com/office/drawing/2014/main" id="{1C1AEB70-0C6C-50C2-143F-1513B522DA2D}"/>
              </a:ext>
            </a:extLst>
          </p:cNvPr>
          <p:cNvSpPr/>
          <p:nvPr/>
        </p:nvSpPr>
        <p:spPr>
          <a:xfrm>
            <a:off x="2575669" y="5309046"/>
            <a:ext cx="158750" cy="158750"/>
          </a:xfrm>
          <a:prstGeom prst="roundRect">
            <a:avLst>
              <a:gd name="adj" fmla="val 18000"/>
            </a:avLst>
          </a:prstGeom>
          <a:solidFill>
            <a:srgbClr val="F0B429"/>
          </a:solidFill>
          <a:ln w="19050">
            <a:solidFill>
              <a:srgbClr val="8A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36">
            <a:extLst>
              <a:ext uri="{FF2B5EF4-FFF2-40B4-BE49-F238E27FC236}">
                <a16:creationId xmlns:a16="http://schemas.microsoft.com/office/drawing/2014/main" id="{321CA3C4-4366-0123-D92A-0A51D9F8F49A}"/>
              </a:ext>
            </a:extLst>
          </p:cNvPr>
          <p:cNvSpPr/>
          <p:nvPr/>
        </p:nvSpPr>
        <p:spPr>
          <a:xfrm>
            <a:off x="2820144" y="5281761"/>
            <a:ext cx="24056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Rotates the measurement basis</a:t>
            </a:r>
            <a:endParaRPr lang="en-US" sz="1200" dirty="0"/>
          </a:p>
        </p:txBody>
      </p:sp>
      <p:sp>
        <p:nvSpPr>
          <p:cNvPr id="75" name="Shape 37">
            <a:extLst>
              <a:ext uri="{FF2B5EF4-FFF2-40B4-BE49-F238E27FC236}">
                <a16:creationId xmlns:a16="http://schemas.microsoft.com/office/drawing/2014/main" id="{2CAB1690-ADF8-779A-DC85-44ABCA4F7898}"/>
              </a:ext>
            </a:extLst>
          </p:cNvPr>
          <p:cNvSpPr/>
          <p:nvPr/>
        </p:nvSpPr>
        <p:spPr>
          <a:xfrm>
            <a:off x="5225752" y="5299521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1416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38">
            <a:extLst>
              <a:ext uri="{FF2B5EF4-FFF2-40B4-BE49-F238E27FC236}">
                <a16:creationId xmlns:a16="http://schemas.microsoft.com/office/drawing/2014/main" id="{493FC1AA-2258-BC85-6C4C-04B52D20EC3B}"/>
              </a:ext>
            </a:extLst>
          </p:cNvPr>
          <p:cNvSpPr/>
          <p:nvPr/>
        </p:nvSpPr>
        <p:spPr>
          <a:xfrm>
            <a:off x="5479752" y="5281761"/>
            <a:ext cx="18803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the qubit (M)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53B1866-F3B9-D364-D104-B7E8FE1D56F6}"/>
                  </a:ext>
                </a:extLst>
              </p:cNvPr>
              <p:cNvSpPr txBox="1"/>
              <p:nvPr/>
            </p:nvSpPr>
            <p:spPr>
              <a:xfrm>
                <a:off x="1900634" y="2143413"/>
                <a:ext cx="1759200" cy="4080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53B1866-F3B9-D364-D104-B7E8FE1D5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634" y="2143413"/>
                <a:ext cx="1759200" cy="408060"/>
              </a:xfrm>
              <a:prstGeom prst="rect">
                <a:avLst/>
              </a:prstGeom>
              <a:blipFill>
                <a:blip r:embed="rId3"/>
                <a:stretch>
                  <a:fillRect t="-2941" r="-6475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0C3769E6-9450-A965-7418-1FFA64904349}"/>
              </a:ext>
            </a:extLst>
          </p:cNvPr>
          <p:cNvGrpSpPr/>
          <p:nvPr/>
        </p:nvGrpSpPr>
        <p:grpSpPr>
          <a:xfrm>
            <a:off x="6200775" y="1975445"/>
            <a:ext cx="5175250" cy="3049141"/>
            <a:chOff x="6200775" y="1975445"/>
            <a:chExt cx="5175250" cy="304914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9244E51-920F-1856-4B75-293C52644D7B}"/>
                </a:ext>
              </a:extLst>
            </p:cNvPr>
            <p:cNvGrpSpPr/>
            <p:nvPr/>
          </p:nvGrpSpPr>
          <p:grpSpPr>
            <a:xfrm>
              <a:off x="6200775" y="1975445"/>
              <a:ext cx="5175250" cy="3049141"/>
              <a:chOff x="6200775" y="1975445"/>
              <a:chExt cx="5175250" cy="3049141"/>
            </a:xfrm>
          </p:grpSpPr>
          <p:sp>
            <p:nvSpPr>
              <p:cNvPr id="55" name="Shape 17">
                <a:extLst>
                  <a:ext uri="{FF2B5EF4-FFF2-40B4-BE49-F238E27FC236}">
                    <a16:creationId xmlns:a16="http://schemas.microsoft.com/office/drawing/2014/main" id="{534F3241-B807-8391-6236-D1D7443E5F0E}"/>
                  </a:ext>
                </a:extLst>
              </p:cNvPr>
              <p:cNvSpPr/>
              <p:nvPr/>
            </p:nvSpPr>
            <p:spPr>
              <a:xfrm>
                <a:off x="6200775" y="1975445"/>
                <a:ext cx="5175250" cy="3049141"/>
              </a:xfrm>
              <a:prstGeom prst="roundRect">
                <a:avLst>
                  <a:gd name="adj" fmla="val 3228"/>
                </a:avLst>
              </a:prstGeom>
              <a:solidFill>
                <a:srgbClr val="FFFDF8"/>
              </a:solidFill>
              <a:ln w="6350">
                <a:solidFill>
                  <a:srgbClr val="DDD8CB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Text 18">
                <a:extLst>
                  <a:ext uri="{FF2B5EF4-FFF2-40B4-BE49-F238E27FC236}">
                    <a16:creationId xmlns:a16="http://schemas.microsoft.com/office/drawing/2014/main" id="{77F614EC-19B2-DFA1-6B95-660B8CF61E4A}"/>
                  </a:ext>
                </a:extLst>
              </p:cNvPr>
              <p:cNvSpPr/>
              <p:nvPr/>
            </p:nvSpPr>
            <p:spPr>
              <a:xfrm>
                <a:off x="6457950" y="2232620"/>
                <a:ext cx="4800727" cy="2387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lnSpc>
                    <a:spcPts val="1680"/>
                  </a:lnSpc>
                  <a:buNone/>
                </a:pPr>
                <a:r>
                  <a:rPr lang="en-US" sz="1200" b="1" kern="0" spc="100" dirty="0">
                    <a:solidFill>
                      <a:srgbClr val="5B3FD1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STATE |+⟩</a:t>
                </a:r>
                <a:endParaRPr lang="en-US" sz="1200" dirty="0"/>
              </a:p>
            </p:txBody>
          </p:sp>
          <p:sp>
            <p:nvSpPr>
              <p:cNvPr id="57" name="Text 19">
                <a:extLst>
                  <a:ext uri="{FF2B5EF4-FFF2-40B4-BE49-F238E27FC236}">
                    <a16:creationId xmlns:a16="http://schemas.microsoft.com/office/drawing/2014/main" id="{D448CE3F-2C01-964E-7429-0EB7003A71CA}"/>
                  </a:ext>
                </a:extLst>
              </p:cNvPr>
              <p:cNvSpPr/>
              <p:nvPr/>
            </p:nvSpPr>
            <p:spPr>
              <a:xfrm>
                <a:off x="6457950" y="2651671"/>
                <a:ext cx="609600" cy="2742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lnSpc>
                    <a:spcPts val="1960"/>
                  </a:lnSpc>
                  <a:buNone/>
                </a:pPr>
                <a:r>
                  <a:rPr lang="en-US" sz="1400" dirty="0">
                    <a:solidFill>
                      <a:srgbClr val="14161F"/>
                    </a:solidFill>
                    <a:latin typeface="Courier New" pitchFamily="49" charset="0"/>
                    <a:ea typeface="Courier New" pitchFamily="49" charset="-122"/>
                    <a:cs typeface="Courier New" pitchFamily="49" charset="-120"/>
                  </a:rPr>
                  <a:t>|0⟩</a:t>
                </a:r>
                <a:endParaRPr lang="en-US" sz="1400" dirty="0"/>
              </a:p>
            </p:txBody>
          </p:sp>
          <p:sp>
            <p:nvSpPr>
              <p:cNvPr id="58" name="Shape 20">
                <a:extLst>
                  <a:ext uri="{FF2B5EF4-FFF2-40B4-BE49-F238E27FC236}">
                    <a16:creationId xmlns:a16="http://schemas.microsoft.com/office/drawing/2014/main" id="{30AE5F0B-435C-7D61-D92E-716E32D19BDD}"/>
                  </a:ext>
                </a:extLst>
              </p:cNvPr>
              <p:cNvSpPr/>
              <p:nvPr/>
            </p:nvSpPr>
            <p:spPr>
              <a:xfrm>
                <a:off x="7016750" y="2763441"/>
                <a:ext cx="910134" cy="25400"/>
              </a:xfrm>
              <a:prstGeom prst="rect">
                <a:avLst/>
              </a:prstGeom>
              <a:solidFill>
                <a:srgbClr val="14161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Text 21">
                <a:extLst>
                  <a:ext uri="{FF2B5EF4-FFF2-40B4-BE49-F238E27FC236}">
                    <a16:creationId xmlns:a16="http://schemas.microsoft.com/office/drawing/2014/main" id="{6DEFE3A4-B8DF-04BE-2392-C0319303FD9B}"/>
                  </a:ext>
                </a:extLst>
              </p:cNvPr>
              <p:cNvSpPr/>
              <p:nvPr/>
            </p:nvSpPr>
            <p:spPr>
              <a:xfrm>
                <a:off x="7936409" y="2557066"/>
                <a:ext cx="438150" cy="438150"/>
              </a:xfrm>
              <a:prstGeom prst="roundRect">
                <a:avLst>
                  <a:gd name="adj" fmla="val 15217"/>
                </a:avLst>
              </a:prstGeom>
              <a:solidFill>
                <a:srgbClr val="E6E1FA"/>
              </a:solidFill>
              <a:ln w="19050">
                <a:solidFill>
                  <a:srgbClr val="5B3FD1"/>
                </a:solidFill>
                <a:prstDash val="solid"/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lnSpc>
                    <a:spcPts val="1980"/>
                  </a:lnSpc>
                  <a:buNone/>
                </a:pPr>
                <a:r>
                  <a:rPr lang="en-US" sz="1800" dirty="0">
                    <a:solidFill>
                      <a:srgbClr val="14161F"/>
                    </a:solidFill>
                    <a:latin typeface="Courier New" pitchFamily="49" charset="0"/>
                    <a:ea typeface="Courier New" pitchFamily="49" charset="-122"/>
                    <a:cs typeface="Courier New" pitchFamily="49" charset="-120"/>
                  </a:rPr>
                  <a:t>H</a:t>
                </a:r>
                <a:endParaRPr lang="en-US" sz="1800" dirty="0"/>
              </a:p>
            </p:txBody>
          </p:sp>
          <p:sp>
            <p:nvSpPr>
              <p:cNvPr id="60" name="Shape 22">
                <a:extLst>
                  <a:ext uri="{FF2B5EF4-FFF2-40B4-BE49-F238E27FC236}">
                    <a16:creationId xmlns:a16="http://schemas.microsoft.com/office/drawing/2014/main" id="{17B6BE1E-68DC-CFF8-7860-39FF98F00D82}"/>
                  </a:ext>
                </a:extLst>
              </p:cNvPr>
              <p:cNvSpPr/>
              <p:nvPr/>
            </p:nvSpPr>
            <p:spPr>
              <a:xfrm>
                <a:off x="8384084" y="2763441"/>
                <a:ext cx="910183" cy="25400"/>
              </a:xfrm>
              <a:prstGeom prst="rect">
                <a:avLst/>
              </a:prstGeom>
              <a:solidFill>
                <a:srgbClr val="14161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Text 23">
                <a:extLst>
                  <a:ext uri="{FF2B5EF4-FFF2-40B4-BE49-F238E27FC236}">
                    <a16:creationId xmlns:a16="http://schemas.microsoft.com/office/drawing/2014/main" id="{12F159B1-1921-715C-DF47-5DBBE680FF36}"/>
                  </a:ext>
                </a:extLst>
              </p:cNvPr>
              <p:cNvSpPr/>
              <p:nvPr/>
            </p:nvSpPr>
            <p:spPr>
              <a:xfrm>
                <a:off x="9303792" y="2557066"/>
                <a:ext cx="438150" cy="438150"/>
              </a:xfrm>
              <a:prstGeom prst="roundRect">
                <a:avLst>
                  <a:gd name="adj" fmla="val 15217"/>
                </a:avLst>
              </a:prstGeom>
              <a:solidFill>
                <a:srgbClr val="F0B429"/>
              </a:solidFill>
              <a:ln w="19050">
                <a:solidFill>
                  <a:srgbClr val="8A5A00"/>
                </a:solidFill>
                <a:prstDash val="solid"/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lnSpc>
                    <a:spcPts val="1980"/>
                  </a:lnSpc>
                  <a:buNone/>
                </a:pPr>
                <a:r>
                  <a:rPr lang="en-US" sz="1800" dirty="0">
                    <a:solidFill>
                      <a:srgbClr val="14161F"/>
                    </a:solidFill>
                    <a:latin typeface="Courier New" pitchFamily="49" charset="0"/>
                    <a:ea typeface="Courier New" pitchFamily="49" charset="-122"/>
                    <a:cs typeface="Courier New" pitchFamily="49" charset="-120"/>
                  </a:rPr>
                  <a:t>H</a:t>
                </a:r>
                <a:endParaRPr lang="en-US" sz="1800" dirty="0"/>
              </a:p>
            </p:txBody>
          </p:sp>
          <p:sp>
            <p:nvSpPr>
              <p:cNvPr id="62" name="Shape 24">
                <a:extLst>
                  <a:ext uri="{FF2B5EF4-FFF2-40B4-BE49-F238E27FC236}">
                    <a16:creationId xmlns:a16="http://schemas.microsoft.com/office/drawing/2014/main" id="{D6405B22-7029-F64E-2BD1-36533EA78386}"/>
                  </a:ext>
                </a:extLst>
              </p:cNvPr>
              <p:cNvSpPr/>
              <p:nvPr/>
            </p:nvSpPr>
            <p:spPr>
              <a:xfrm>
                <a:off x="9751467" y="2763441"/>
                <a:ext cx="910183" cy="25400"/>
              </a:xfrm>
              <a:prstGeom prst="rect">
                <a:avLst/>
              </a:prstGeom>
              <a:solidFill>
                <a:srgbClr val="14161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Text 25">
                <a:extLst>
                  <a:ext uri="{FF2B5EF4-FFF2-40B4-BE49-F238E27FC236}">
                    <a16:creationId xmlns:a16="http://schemas.microsoft.com/office/drawing/2014/main" id="{9C3C92D1-2C83-6792-D6C0-39569D9A2B77}"/>
                  </a:ext>
                </a:extLst>
              </p:cNvPr>
              <p:cNvSpPr/>
              <p:nvPr/>
            </p:nvSpPr>
            <p:spPr>
              <a:xfrm>
                <a:off x="10661650" y="2547541"/>
                <a:ext cx="4572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14161F"/>
              </a:solidFill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lnSpc>
                    <a:spcPts val="1980"/>
                  </a:lnSpc>
                  <a:buNone/>
                </a:pPr>
                <a:r>
                  <a:rPr lang="en-US" sz="1800" dirty="0">
                    <a:solidFill>
                      <a:srgbClr val="F5F2EA"/>
                    </a:solidFill>
                    <a:latin typeface="Courier New" pitchFamily="49" charset="0"/>
                    <a:ea typeface="Courier New" pitchFamily="49" charset="-122"/>
                    <a:cs typeface="Courier New" pitchFamily="49" charset="-120"/>
                  </a:rPr>
                  <a:t>M</a:t>
                </a:r>
                <a:endParaRPr lang="en-US" sz="1800" dirty="0"/>
              </a:p>
            </p:txBody>
          </p:sp>
          <p:sp>
            <p:nvSpPr>
              <p:cNvPr id="64" name="Text 26">
                <a:extLst>
                  <a:ext uri="{FF2B5EF4-FFF2-40B4-BE49-F238E27FC236}">
                    <a16:creationId xmlns:a16="http://schemas.microsoft.com/office/drawing/2014/main" id="{BE2EB22E-70D3-C24E-42F1-804DC7C0C7BB}"/>
                  </a:ext>
                </a:extLst>
              </p:cNvPr>
              <p:cNvSpPr/>
              <p:nvPr/>
            </p:nvSpPr>
            <p:spPr>
              <a:xfrm>
                <a:off x="6457950" y="3106341"/>
                <a:ext cx="4800727" cy="5231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lnSpc>
                    <a:spcPts val="1960"/>
                  </a:lnSpc>
                  <a:buNone/>
                </a:pPr>
                <a:r>
                  <a:rPr lang="en-US" sz="1400" dirty="0">
                    <a:solidFill>
                      <a:srgbClr val="4B516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two H gates cancel, so the qubit is back in |0⟩ and the bit is always 0.</a:t>
                </a:r>
                <a:endParaRPr lang="en-US" sz="1400" dirty="0"/>
              </a:p>
            </p:txBody>
          </p:sp>
          <p:sp>
            <p:nvSpPr>
              <p:cNvPr id="65" name="Text 27">
                <a:extLst>
                  <a:ext uri="{FF2B5EF4-FFF2-40B4-BE49-F238E27FC236}">
                    <a16:creationId xmlns:a16="http://schemas.microsoft.com/office/drawing/2014/main" id="{D08BB52F-338C-5DD4-B19A-38F8EF38C613}"/>
                  </a:ext>
                </a:extLst>
              </p:cNvPr>
              <p:cNvSpPr/>
              <p:nvPr/>
            </p:nvSpPr>
            <p:spPr>
              <a:xfrm>
                <a:off x="6457950" y="3732411"/>
                <a:ext cx="304800" cy="2768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lnSpc>
                    <a:spcPts val="1980"/>
                  </a:lnSpc>
                  <a:buNone/>
                </a:pPr>
                <a:r>
                  <a:rPr lang="en-US" sz="1800" dirty="0">
                    <a:solidFill>
                      <a:srgbClr val="14161F"/>
                    </a:solidFill>
                    <a:latin typeface="Courier New" pitchFamily="49" charset="0"/>
                    <a:ea typeface="Courier New" pitchFamily="49" charset="-122"/>
                    <a:cs typeface="Courier New" pitchFamily="49" charset="-120"/>
                  </a:rPr>
                  <a:t>0</a:t>
                </a:r>
                <a:endParaRPr lang="en-US" sz="1800" dirty="0"/>
              </a:p>
            </p:txBody>
          </p:sp>
          <p:sp>
            <p:nvSpPr>
              <p:cNvPr id="66" name="Shape 28">
                <a:extLst>
                  <a:ext uri="{FF2B5EF4-FFF2-40B4-BE49-F238E27FC236}">
                    <a16:creationId xmlns:a16="http://schemas.microsoft.com/office/drawing/2014/main" id="{A342C475-209C-C113-2ADF-DAD3D035CC24}"/>
                  </a:ext>
                </a:extLst>
              </p:cNvPr>
              <p:cNvSpPr/>
              <p:nvPr/>
            </p:nvSpPr>
            <p:spPr>
              <a:xfrm>
                <a:off x="6864350" y="3705721"/>
                <a:ext cx="2286000" cy="304800"/>
              </a:xfrm>
              <a:prstGeom prst="roundRect">
                <a:avLst>
                  <a:gd name="adj" fmla="val 16667"/>
                </a:avLst>
              </a:prstGeom>
              <a:solidFill>
                <a:srgbClr val="5B3FD1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Text 29">
                <a:extLst>
                  <a:ext uri="{FF2B5EF4-FFF2-40B4-BE49-F238E27FC236}">
                    <a16:creationId xmlns:a16="http://schemas.microsoft.com/office/drawing/2014/main" id="{2673BD91-A200-1EE1-28B4-1AD9175EB3A3}"/>
                  </a:ext>
                </a:extLst>
              </p:cNvPr>
              <p:cNvSpPr/>
              <p:nvPr/>
            </p:nvSpPr>
            <p:spPr>
              <a:xfrm>
                <a:off x="9302750" y="3733651"/>
                <a:ext cx="545723" cy="2742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lnSpc>
                    <a:spcPts val="1960"/>
                  </a:lnSpc>
                  <a:buNone/>
                </a:pPr>
                <a:r>
                  <a:rPr lang="en-US" sz="1400" dirty="0">
                    <a:solidFill>
                      <a:srgbClr val="14161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100%</a:t>
                </a:r>
                <a:endParaRPr lang="en-US" sz="1400" dirty="0"/>
              </a:p>
            </p:txBody>
          </p:sp>
          <p:sp>
            <p:nvSpPr>
              <p:cNvPr id="68" name="Text 30">
                <a:extLst>
                  <a:ext uri="{FF2B5EF4-FFF2-40B4-BE49-F238E27FC236}">
                    <a16:creationId xmlns:a16="http://schemas.microsoft.com/office/drawing/2014/main" id="{4A313881-C864-6E06-CF6D-AC94D6CD4DBF}"/>
                  </a:ext>
                </a:extLst>
              </p:cNvPr>
              <p:cNvSpPr/>
              <p:nvPr/>
            </p:nvSpPr>
            <p:spPr>
              <a:xfrm>
                <a:off x="6457950" y="4113411"/>
                <a:ext cx="304800" cy="2768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lnSpc>
                    <a:spcPts val="1980"/>
                  </a:lnSpc>
                  <a:buNone/>
                </a:pPr>
                <a:r>
                  <a:rPr lang="en-US" sz="1800" dirty="0">
                    <a:solidFill>
                      <a:srgbClr val="14161F"/>
                    </a:solidFill>
                    <a:latin typeface="Courier New" pitchFamily="49" charset="0"/>
                    <a:ea typeface="Courier New" pitchFamily="49" charset="-122"/>
                    <a:cs typeface="Courier New" pitchFamily="49" charset="-120"/>
                  </a:rPr>
                  <a:t>1</a:t>
                </a:r>
                <a:endParaRPr lang="en-US" sz="1800" dirty="0"/>
              </a:p>
            </p:txBody>
          </p:sp>
          <p:sp>
            <p:nvSpPr>
              <p:cNvPr id="69" name="Text 31">
                <a:extLst>
                  <a:ext uri="{FF2B5EF4-FFF2-40B4-BE49-F238E27FC236}">
                    <a16:creationId xmlns:a16="http://schemas.microsoft.com/office/drawing/2014/main" id="{F9499C23-E3B9-50E1-8225-5951B7B259B7}"/>
                  </a:ext>
                </a:extLst>
              </p:cNvPr>
              <p:cNvSpPr/>
              <p:nvPr/>
            </p:nvSpPr>
            <p:spPr>
              <a:xfrm>
                <a:off x="7016750" y="4114651"/>
                <a:ext cx="308372" cy="2742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lnSpc>
                    <a:spcPts val="1960"/>
                  </a:lnSpc>
                  <a:buNone/>
                </a:pPr>
                <a:r>
                  <a:rPr lang="en-US" sz="1400" dirty="0">
                    <a:solidFill>
                      <a:srgbClr val="14161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0%</a:t>
                </a:r>
                <a:endParaRPr lang="en-US" sz="1400" dirty="0"/>
              </a:p>
            </p:txBody>
          </p:sp>
          <p:sp>
            <p:nvSpPr>
              <p:cNvPr id="70" name="Text 32">
                <a:extLst>
                  <a:ext uri="{FF2B5EF4-FFF2-40B4-BE49-F238E27FC236}">
                    <a16:creationId xmlns:a16="http://schemas.microsoft.com/office/drawing/2014/main" id="{91008743-46F4-5336-6E1C-766CE0480D08}"/>
                  </a:ext>
                </a:extLst>
              </p:cNvPr>
              <p:cNvSpPr/>
              <p:nvPr/>
            </p:nvSpPr>
            <p:spPr>
              <a:xfrm>
                <a:off x="6457950" y="4493121"/>
                <a:ext cx="4800727" cy="2996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lnSpc>
                    <a:spcPts val="2160"/>
                  </a:lnSpc>
                  <a:buNone/>
                </a:pPr>
                <a:r>
                  <a:rPr lang="en-US" sz="1800" b="1" dirty="0">
                    <a:solidFill>
                      <a:srgbClr val="14161F"/>
                    </a:solidFill>
                    <a:latin typeface="Georgia" pitchFamily="18" charset="0"/>
                    <a:ea typeface="Georgia" pitchFamily="18" charset="-122"/>
                    <a:cs typeface="Georgia" pitchFamily="18" charset="-120"/>
                  </a:rPr>
                  <a:t>⟨X⟩ = P(0) − P(1) = 1.0 − 0.0 = +1</a:t>
                </a:r>
                <a:endParaRPr lang="en-US" sz="18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F2CF352-1D3E-F47A-86EE-DAD9DDEF8A3B}"/>
                    </a:ext>
                  </a:extLst>
                </p:cNvPr>
                <p:cNvSpPr txBox="1"/>
                <p:nvPr/>
              </p:nvSpPr>
              <p:spPr>
                <a:xfrm>
                  <a:off x="8522498" y="2347443"/>
                  <a:ext cx="56137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|+⟩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F2CF352-1D3E-F47A-86EE-DAD9DDEF8A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2498" y="2347443"/>
                  <a:ext cx="561371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80490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9" grpId="0" animBg="1"/>
      <p:bldP spid="22" grpId="0" animBg="1"/>
      <p:bldP spid="27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6E948-00F9-EA37-C50B-296F0ADC3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7">
            <a:extLst>
              <a:ext uri="{FF2B5EF4-FFF2-40B4-BE49-F238E27FC236}">
                <a16:creationId xmlns:a16="http://schemas.microsoft.com/office/drawing/2014/main" id="{14CC2CB4-45D9-9B6A-27C9-C161399BF4C9}"/>
              </a:ext>
            </a:extLst>
          </p:cNvPr>
          <p:cNvSpPr/>
          <p:nvPr/>
        </p:nvSpPr>
        <p:spPr>
          <a:xfrm>
            <a:off x="2582401" y="1436074"/>
            <a:ext cx="1593850" cy="25400"/>
          </a:xfrm>
          <a:prstGeom prst="rect">
            <a:avLst/>
          </a:prstGeom>
          <a:solidFill>
            <a:srgbClr val="14161F"/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A61715-F7AB-9B00-E416-4950E47C781C}"/>
              </a:ext>
            </a:extLst>
          </p:cNvPr>
          <p:cNvSpPr/>
          <p:nvPr/>
        </p:nvSpPr>
        <p:spPr>
          <a:xfrm>
            <a:off x="0" y="-1"/>
            <a:ext cx="12192000" cy="653143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 panose="020B0403020202020204" pitchFamily="34" charset="0"/>
                <a:ea typeface="+mn-ea"/>
                <a:cs typeface="+mn-cs"/>
              </a:rPr>
              <a:t> What does measuring energy means in an experiment?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F3E478-6F52-96F9-9362-DBA57C90DE6F}"/>
              </a:ext>
            </a:extLst>
          </p:cNvPr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C71127-9C89-12DA-52EC-9855C34A1AA8}"/>
              </a:ext>
            </a:extLst>
          </p:cNvPr>
          <p:cNvSpPr txBox="1"/>
          <p:nvPr/>
        </p:nvSpPr>
        <p:spPr>
          <a:xfrm>
            <a:off x="1153722" y="656172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VQE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F3AAEA-D082-02D7-FC82-0C342E40275E}"/>
              </a:ext>
            </a:extLst>
          </p:cNvPr>
          <p:cNvSpPr txBox="1"/>
          <p:nvPr/>
        </p:nvSpPr>
        <p:spPr>
          <a:xfrm>
            <a:off x="11450917" y="6551563"/>
            <a:ext cx="4249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12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AEB5AB-2906-0F9F-6725-B8ECF5D16068}"/>
              </a:ext>
            </a:extLst>
          </p:cNvPr>
          <p:cNvCxnSpPr/>
          <p:nvPr/>
        </p:nvCxnSpPr>
        <p:spPr>
          <a:xfrm>
            <a:off x="2733040" y="658368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ACFA20-CF8F-859F-91A9-19D561AD9D2C}"/>
              </a:ext>
            </a:extLst>
          </p:cNvPr>
          <p:cNvCxnSpPr/>
          <p:nvPr/>
        </p:nvCxnSpPr>
        <p:spPr>
          <a:xfrm>
            <a:off x="7762240" y="659384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B027332-C680-A9C7-ED10-257AE810B250}"/>
              </a:ext>
            </a:extLst>
          </p:cNvPr>
          <p:cNvSpPr txBox="1"/>
          <p:nvPr/>
        </p:nvSpPr>
        <p:spPr>
          <a:xfrm flipH="1">
            <a:off x="8424424" y="6551563"/>
            <a:ext cx="204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October 16, 2026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80A3E4-EFC1-E461-1C46-B7CBB27759AD}"/>
              </a:ext>
            </a:extLst>
          </p:cNvPr>
          <p:cNvCxnSpPr/>
          <p:nvPr/>
        </p:nvCxnSpPr>
        <p:spPr>
          <a:xfrm>
            <a:off x="10911840" y="6595477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A389824-0693-BC46-628E-90D2EA515812}"/>
              </a:ext>
            </a:extLst>
          </p:cNvPr>
          <p:cNvSpPr txBox="1"/>
          <p:nvPr/>
        </p:nvSpPr>
        <p:spPr>
          <a:xfrm>
            <a:off x="4857553" y="6551563"/>
            <a:ext cx="764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MTSU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5BDEEC4-4076-74D7-0E15-B3360FF400A7}"/>
              </a:ext>
            </a:extLst>
          </p:cNvPr>
          <p:cNvGrpSpPr/>
          <p:nvPr/>
        </p:nvGrpSpPr>
        <p:grpSpPr>
          <a:xfrm>
            <a:off x="184574" y="997188"/>
            <a:ext cx="2565398" cy="863600"/>
            <a:chOff x="92339" y="2226702"/>
            <a:chExt cx="2565398" cy="8636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ECD7B81-17F0-C2E7-1F5C-E0C9E0735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5607"/>
            <a:stretch>
              <a:fillRect/>
            </a:stretch>
          </p:blipFill>
          <p:spPr>
            <a:xfrm>
              <a:off x="92339" y="2226702"/>
              <a:ext cx="2565398" cy="863600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BD5C621-D5E9-C23F-B3EB-C740E2CD88FB}"/>
                </a:ext>
              </a:extLst>
            </p:cNvPr>
            <p:cNvSpPr/>
            <p:nvPr/>
          </p:nvSpPr>
          <p:spPr>
            <a:xfrm>
              <a:off x="462845" y="2506133"/>
              <a:ext cx="383822" cy="3499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0A0B0FE-3DE7-22ED-B308-0AC246E1AF48}"/>
                    </a:ext>
                  </a:extLst>
                </p:cNvPr>
                <p:cNvSpPr txBox="1"/>
                <p:nvPr/>
              </p:nvSpPr>
              <p:spPr>
                <a:xfrm>
                  <a:off x="541863" y="2534352"/>
                  <a:ext cx="33182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|0⟩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2860DAD-D2AD-874D-4B42-50FF723F15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863" y="2534352"/>
                  <a:ext cx="331822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5926" r="-25926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Text 6">
            <a:extLst>
              <a:ext uri="{FF2B5EF4-FFF2-40B4-BE49-F238E27FC236}">
                <a16:creationId xmlns:a16="http://schemas.microsoft.com/office/drawing/2014/main" id="{5B52087E-B5AF-0452-0D71-7DCC5629F330}"/>
              </a:ext>
            </a:extLst>
          </p:cNvPr>
          <p:cNvSpPr/>
          <p:nvPr/>
        </p:nvSpPr>
        <p:spPr>
          <a:xfrm>
            <a:off x="3207172" y="1229699"/>
            <a:ext cx="438150" cy="438150"/>
          </a:xfrm>
          <a:prstGeom prst="roundRect">
            <a:avLst>
              <a:gd name="adj" fmla="val 15217"/>
            </a:avLst>
          </a:prstGeom>
          <a:solidFill>
            <a:srgbClr val="F0B429"/>
          </a:solidFill>
          <a:ln w="19050">
            <a:solidFill>
              <a:srgbClr val="8A5A00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800" dirty="0">
                <a:solidFill>
                  <a:srgbClr val="14161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</a:t>
            </a:r>
            <a:endParaRPr lang="en-US" sz="180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54C14C01-8485-7183-F242-4EC917406C4A}"/>
              </a:ext>
            </a:extLst>
          </p:cNvPr>
          <p:cNvSpPr/>
          <p:nvPr/>
        </p:nvSpPr>
        <p:spPr>
          <a:xfrm>
            <a:off x="4176251" y="1220174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14161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800" dirty="0">
                <a:solidFill>
                  <a:srgbClr val="F5F2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</a:t>
            </a:r>
            <a:endParaRPr lang="en-US" sz="18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A8856F4-56D2-3C21-16FB-F39FD7D05D15}"/>
              </a:ext>
            </a:extLst>
          </p:cNvPr>
          <p:cNvSpPr/>
          <p:nvPr/>
        </p:nvSpPr>
        <p:spPr>
          <a:xfrm>
            <a:off x="5719657" y="1274940"/>
            <a:ext cx="2159988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161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⟨X⟩ = P(0) − P(1)</a:t>
            </a:r>
            <a:endParaRPr lang="en-US" sz="1800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E57C0258-9E7D-A61A-602E-D642F0479CAA}"/>
              </a:ext>
            </a:extLst>
          </p:cNvPr>
          <p:cNvSpPr/>
          <p:nvPr/>
        </p:nvSpPr>
        <p:spPr>
          <a:xfrm>
            <a:off x="2582401" y="2757045"/>
            <a:ext cx="1593850" cy="25400"/>
          </a:xfrm>
          <a:prstGeom prst="rect">
            <a:avLst/>
          </a:prstGeom>
          <a:solidFill>
            <a:srgbClr val="14161F"/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3996C4C-865E-1005-A483-F1F1A70CD59B}"/>
              </a:ext>
            </a:extLst>
          </p:cNvPr>
          <p:cNvGrpSpPr/>
          <p:nvPr/>
        </p:nvGrpSpPr>
        <p:grpSpPr>
          <a:xfrm>
            <a:off x="184574" y="2318159"/>
            <a:ext cx="2565398" cy="863600"/>
            <a:chOff x="92339" y="2226702"/>
            <a:chExt cx="2565398" cy="86360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CB31FD14-7042-CC43-4C00-7A531BDBF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5607"/>
            <a:stretch>
              <a:fillRect/>
            </a:stretch>
          </p:blipFill>
          <p:spPr>
            <a:xfrm>
              <a:off x="92339" y="2226702"/>
              <a:ext cx="2565398" cy="863600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B505E12-BA4A-81A2-ECB5-C62BD82EBBB7}"/>
                </a:ext>
              </a:extLst>
            </p:cNvPr>
            <p:cNvSpPr/>
            <p:nvPr/>
          </p:nvSpPr>
          <p:spPr>
            <a:xfrm>
              <a:off x="462845" y="2506133"/>
              <a:ext cx="383822" cy="3499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9859D85-583F-8ECB-455A-45E1EAACDA21}"/>
                    </a:ext>
                  </a:extLst>
                </p:cNvPr>
                <p:cNvSpPr txBox="1"/>
                <p:nvPr/>
              </p:nvSpPr>
              <p:spPr>
                <a:xfrm>
                  <a:off x="541863" y="2534352"/>
                  <a:ext cx="33182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|0⟩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2860DAD-D2AD-874D-4B42-50FF723F15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863" y="2534352"/>
                  <a:ext cx="331822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5926" r="-25926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Text 8">
            <a:extLst>
              <a:ext uri="{FF2B5EF4-FFF2-40B4-BE49-F238E27FC236}">
                <a16:creationId xmlns:a16="http://schemas.microsoft.com/office/drawing/2014/main" id="{5F5631B4-7C72-3614-1CC9-CAD31F25FF11}"/>
              </a:ext>
            </a:extLst>
          </p:cNvPr>
          <p:cNvSpPr/>
          <p:nvPr/>
        </p:nvSpPr>
        <p:spPr>
          <a:xfrm>
            <a:off x="4176251" y="2541145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14161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800" dirty="0">
                <a:solidFill>
                  <a:srgbClr val="F5F2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</a:t>
            </a:r>
            <a:endParaRPr lang="en-US" sz="1800" dirty="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8E758F34-C95C-335B-9BD4-CA18CE727A52}"/>
              </a:ext>
            </a:extLst>
          </p:cNvPr>
          <p:cNvSpPr/>
          <p:nvPr/>
        </p:nvSpPr>
        <p:spPr>
          <a:xfrm>
            <a:off x="5719657" y="2600114"/>
            <a:ext cx="2159988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161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⟨Z⟩ = P(0) − P(1)</a:t>
            </a:r>
            <a:endParaRPr lang="en-US" sz="18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20124CF-604D-2DBF-8A3B-D2D9E27CAC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8361" y="3429000"/>
            <a:ext cx="5695277" cy="312998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6E5D208-0A1C-583F-A90E-0661E352CA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864" y="4675881"/>
            <a:ext cx="2171785" cy="5931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12E9B1E-9EE5-74BF-3623-C24512CD0976}"/>
                  </a:ext>
                </a:extLst>
              </p:cNvPr>
              <p:cNvSpPr txBox="1"/>
              <p:nvPr/>
            </p:nvSpPr>
            <p:spPr>
              <a:xfrm>
                <a:off x="8400069" y="1867694"/>
                <a:ext cx="33104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energy =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0.6 × </m:t>
                    </m:r>
                    <m:d>
                      <m:dPr>
                        <m:begChr m:val="⟨"/>
                        <m:endChr m:val="⟩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+0.8 × </m:t>
                    </m:r>
                    <m:d>
                      <m:dPr>
                        <m:begChr m:val="⟨"/>
                        <m:endChr m:val="⟩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12E9B1E-9EE5-74BF-3623-C24512CD0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0069" y="1867694"/>
                <a:ext cx="3310467" cy="369332"/>
              </a:xfrm>
              <a:prstGeom prst="rect">
                <a:avLst/>
              </a:prstGeom>
              <a:blipFill>
                <a:blip r:embed="rId9"/>
                <a:stretch>
                  <a:fillRect l="-1527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1908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AEF3E-A049-1AC8-299E-ABE80D826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BC3C6C-7A6E-1EBB-3AAD-AFF4F97F2F50}"/>
              </a:ext>
            </a:extLst>
          </p:cNvPr>
          <p:cNvSpPr/>
          <p:nvPr/>
        </p:nvSpPr>
        <p:spPr>
          <a:xfrm>
            <a:off x="0" y="-1"/>
            <a:ext cx="12192000" cy="653143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 panose="020B0403020202020204" pitchFamily="34" charset="0"/>
                <a:ea typeface="+mn-ea"/>
                <a:cs typeface="+mn-cs"/>
              </a:rPr>
              <a:t> Measuring Pauli strings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EC3291-15B7-5903-C0CF-0A3A410C4B51}"/>
              </a:ext>
            </a:extLst>
          </p:cNvPr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6B0EAB-A071-0AF9-B4F1-CB6A5676C1BC}"/>
              </a:ext>
            </a:extLst>
          </p:cNvPr>
          <p:cNvSpPr txBox="1"/>
          <p:nvPr/>
        </p:nvSpPr>
        <p:spPr>
          <a:xfrm>
            <a:off x="1153722" y="656172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VQE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B52ED2-CAD5-BB79-EE09-8C65B6B761C9}"/>
              </a:ext>
            </a:extLst>
          </p:cNvPr>
          <p:cNvSpPr txBox="1"/>
          <p:nvPr/>
        </p:nvSpPr>
        <p:spPr>
          <a:xfrm>
            <a:off x="11450917" y="6551563"/>
            <a:ext cx="4249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13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954058-E5D6-265B-6E40-287893D54AC5}"/>
              </a:ext>
            </a:extLst>
          </p:cNvPr>
          <p:cNvCxnSpPr/>
          <p:nvPr/>
        </p:nvCxnSpPr>
        <p:spPr>
          <a:xfrm>
            <a:off x="2733040" y="658368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7B2BB3-E75E-838E-3209-6314CAED0AB5}"/>
              </a:ext>
            </a:extLst>
          </p:cNvPr>
          <p:cNvCxnSpPr/>
          <p:nvPr/>
        </p:nvCxnSpPr>
        <p:spPr>
          <a:xfrm>
            <a:off x="7762240" y="659384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0303E95-C542-49B7-0A09-AC5487C2589E}"/>
              </a:ext>
            </a:extLst>
          </p:cNvPr>
          <p:cNvSpPr txBox="1"/>
          <p:nvPr/>
        </p:nvSpPr>
        <p:spPr>
          <a:xfrm flipH="1">
            <a:off x="8424424" y="6551563"/>
            <a:ext cx="204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October 16, 2026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6B9406-5669-E121-6134-29407FEA4D5E}"/>
              </a:ext>
            </a:extLst>
          </p:cNvPr>
          <p:cNvCxnSpPr/>
          <p:nvPr/>
        </p:nvCxnSpPr>
        <p:spPr>
          <a:xfrm>
            <a:off x="10911840" y="6595477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57029AB-D066-A829-D8A4-D3FFA2D350FE}"/>
              </a:ext>
            </a:extLst>
          </p:cNvPr>
          <p:cNvSpPr txBox="1"/>
          <p:nvPr/>
        </p:nvSpPr>
        <p:spPr>
          <a:xfrm>
            <a:off x="4857553" y="6551563"/>
            <a:ext cx="764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MTSU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22DCB6E-825A-A0CA-185E-8BE8A8517596}"/>
              </a:ext>
            </a:extLst>
          </p:cNvPr>
          <p:cNvGrpSpPr/>
          <p:nvPr/>
        </p:nvGrpSpPr>
        <p:grpSpPr>
          <a:xfrm>
            <a:off x="352869" y="3469946"/>
            <a:ext cx="4941620" cy="2242233"/>
            <a:chOff x="352869" y="3469946"/>
            <a:chExt cx="4941620" cy="2242233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FB61AC99-5FFB-8BAD-2DD7-7A4C3F57DF3B}"/>
                </a:ext>
              </a:extLst>
            </p:cNvPr>
            <p:cNvSpPr/>
            <p:nvPr/>
          </p:nvSpPr>
          <p:spPr>
            <a:xfrm>
              <a:off x="352869" y="3469946"/>
              <a:ext cx="4941620" cy="2242233"/>
            </a:xfrm>
            <a:prstGeom prst="roundRect">
              <a:avLst>
                <a:gd name="adj" fmla="val 3515"/>
              </a:avLst>
            </a:prstGeom>
            <a:solidFill>
              <a:srgbClr val="FFFDF8"/>
            </a:solidFill>
            <a:ln w="6350">
              <a:solidFill>
                <a:srgbClr val="DDD8C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3">
              <a:extLst>
                <a:ext uri="{FF2B5EF4-FFF2-40B4-BE49-F238E27FC236}">
                  <a16:creationId xmlns:a16="http://schemas.microsoft.com/office/drawing/2014/main" id="{07B3B362-8F3D-D406-5776-09F6978A15BF}"/>
                </a:ext>
              </a:extLst>
            </p:cNvPr>
            <p:cNvSpPr/>
            <p:nvPr/>
          </p:nvSpPr>
          <p:spPr>
            <a:xfrm>
              <a:off x="610044" y="3727121"/>
              <a:ext cx="4565269" cy="23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680"/>
                </a:lnSpc>
                <a:buNone/>
              </a:pPr>
              <a:r>
                <a:rPr lang="en-US" sz="1200" b="1" kern="0" spc="100" dirty="0">
                  <a:solidFill>
                    <a:srgbClr val="5B3FD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CIRCUIT</a:t>
              </a:r>
              <a:endParaRPr lang="en-US" sz="1200" dirty="0"/>
            </a:p>
          </p:txBody>
        </p:sp>
        <p:sp>
          <p:nvSpPr>
            <p:cNvPr id="12" name="Text 4">
              <a:extLst>
                <a:ext uri="{FF2B5EF4-FFF2-40B4-BE49-F238E27FC236}">
                  <a16:creationId xmlns:a16="http://schemas.microsoft.com/office/drawing/2014/main" id="{6A42D652-F77B-D79F-9A70-085DD1445C94}"/>
                </a:ext>
              </a:extLst>
            </p:cNvPr>
            <p:cNvSpPr/>
            <p:nvPr/>
          </p:nvSpPr>
          <p:spPr>
            <a:xfrm>
              <a:off x="610044" y="4219842"/>
              <a:ext cx="622300" cy="2742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dirty="0">
                  <a:solidFill>
                    <a:srgbClr val="14161F"/>
                  </a:solidFill>
                  <a:latin typeface="Courier New" pitchFamily="49" charset="0"/>
                  <a:ea typeface="Courier New" pitchFamily="49" charset="-122"/>
                  <a:cs typeface="Courier New" pitchFamily="49" charset="-120"/>
                </a:rPr>
                <a:t>|0⟩</a:t>
              </a:r>
              <a:endParaRPr lang="en-US" sz="1400" dirty="0"/>
            </a:p>
          </p:txBody>
        </p:sp>
        <p:sp>
          <p:nvSpPr>
            <p:cNvPr id="14" name="Text 5">
              <a:extLst>
                <a:ext uri="{FF2B5EF4-FFF2-40B4-BE49-F238E27FC236}">
                  <a16:creationId xmlns:a16="http://schemas.microsoft.com/office/drawing/2014/main" id="{74000D47-1846-1FAD-6412-1ECED584E306}"/>
                </a:ext>
              </a:extLst>
            </p:cNvPr>
            <p:cNvSpPr/>
            <p:nvPr/>
          </p:nvSpPr>
          <p:spPr>
            <a:xfrm>
              <a:off x="610044" y="4981842"/>
              <a:ext cx="622300" cy="2742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dirty="0">
                  <a:solidFill>
                    <a:srgbClr val="14161F"/>
                  </a:solidFill>
                  <a:latin typeface="Courier New" pitchFamily="49" charset="0"/>
                  <a:ea typeface="Courier New" pitchFamily="49" charset="-122"/>
                  <a:cs typeface="Courier New" pitchFamily="49" charset="-120"/>
                </a:rPr>
                <a:t>|0⟩</a:t>
              </a:r>
              <a:endParaRPr lang="en-US" sz="1400" dirty="0"/>
            </a:p>
          </p:txBody>
        </p:sp>
        <p:sp>
          <p:nvSpPr>
            <p:cNvPr id="15" name="Shape 6">
              <a:extLst>
                <a:ext uri="{FF2B5EF4-FFF2-40B4-BE49-F238E27FC236}">
                  <a16:creationId xmlns:a16="http://schemas.microsoft.com/office/drawing/2014/main" id="{37B3831E-3A0E-3A02-61B4-02ED220334E2}"/>
                </a:ext>
              </a:extLst>
            </p:cNvPr>
            <p:cNvSpPr/>
            <p:nvPr/>
          </p:nvSpPr>
          <p:spPr>
            <a:xfrm>
              <a:off x="1194244" y="4334142"/>
              <a:ext cx="3860800" cy="25400"/>
            </a:xfrm>
            <a:prstGeom prst="rect">
              <a:avLst/>
            </a:prstGeom>
            <a:solidFill>
              <a:srgbClr val="14161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7">
              <a:extLst>
                <a:ext uri="{FF2B5EF4-FFF2-40B4-BE49-F238E27FC236}">
                  <a16:creationId xmlns:a16="http://schemas.microsoft.com/office/drawing/2014/main" id="{21066C63-D5BA-E820-4135-61F1BA0D260A}"/>
                </a:ext>
              </a:extLst>
            </p:cNvPr>
            <p:cNvSpPr/>
            <p:nvPr/>
          </p:nvSpPr>
          <p:spPr>
            <a:xfrm>
              <a:off x="1194244" y="5096142"/>
              <a:ext cx="3860800" cy="25400"/>
            </a:xfrm>
            <a:prstGeom prst="rect">
              <a:avLst/>
            </a:prstGeom>
            <a:solidFill>
              <a:srgbClr val="14161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8">
              <a:extLst>
                <a:ext uri="{FF2B5EF4-FFF2-40B4-BE49-F238E27FC236}">
                  <a16:creationId xmlns:a16="http://schemas.microsoft.com/office/drawing/2014/main" id="{3AB7575D-B1DE-8B06-3DA5-EBCDDB289DA4}"/>
                </a:ext>
              </a:extLst>
            </p:cNvPr>
            <p:cNvSpPr/>
            <p:nvPr/>
          </p:nvSpPr>
          <p:spPr>
            <a:xfrm>
              <a:off x="2184844" y="4346842"/>
              <a:ext cx="25400" cy="762000"/>
            </a:xfrm>
            <a:prstGeom prst="rect">
              <a:avLst/>
            </a:prstGeom>
            <a:solidFill>
              <a:srgbClr val="14161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9">
              <a:extLst>
                <a:ext uri="{FF2B5EF4-FFF2-40B4-BE49-F238E27FC236}">
                  <a16:creationId xmlns:a16="http://schemas.microsoft.com/office/drawing/2014/main" id="{9751A9D3-C020-B1E7-700E-8CA9B64FA658}"/>
                </a:ext>
              </a:extLst>
            </p:cNvPr>
            <p:cNvSpPr/>
            <p:nvPr/>
          </p:nvSpPr>
          <p:spPr>
            <a:xfrm>
              <a:off x="2121344" y="4270642"/>
              <a:ext cx="152400" cy="152400"/>
            </a:xfrm>
            <a:prstGeom prst="roundRect">
              <a:avLst>
                <a:gd name="adj" fmla="val 50000"/>
              </a:avLst>
            </a:prstGeom>
            <a:solidFill>
              <a:srgbClr val="14161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0">
              <a:extLst>
                <a:ext uri="{FF2B5EF4-FFF2-40B4-BE49-F238E27FC236}">
                  <a16:creationId xmlns:a16="http://schemas.microsoft.com/office/drawing/2014/main" id="{54C66479-695A-6212-D4F6-1859ACCB61B4}"/>
                </a:ext>
              </a:extLst>
            </p:cNvPr>
            <p:cNvSpPr/>
            <p:nvPr/>
          </p:nvSpPr>
          <p:spPr>
            <a:xfrm>
              <a:off x="2032444" y="4943742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165100" y="0"/>
                  </a:moveTo>
                  <a:lnTo>
                    <a:pt x="165100" y="0"/>
                  </a:lnTo>
                  <a:arcTo wR="165100" hR="165100" stAng="16200000" swAng="5400000"/>
                  <a:lnTo>
                    <a:pt x="330200" y="165100"/>
                  </a:lnTo>
                  <a:arcTo wR="165100" hR="165100" stAng="0" swAng="5400000"/>
                  <a:lnTo>
                    <a:pt x="165100" y="330200"/>
                  </a:lnTo>
                  <a:arcTo wR="165100" hR="165100" stAng="5400000" swAng="5400000"/>
                  <a:lnTo>
                    <a:pt x="0" y="165100"/>
                  </a:lnTo>
                  <a:arcTo wR="165100" hR="165100" stAng="10800000" swAng="5400000"/>
                  <a:close/>
                </a:path>
              </a:pathLst>
            </a:custGeom>
            <a:solidFill>
              <a:srgbClr val="FFFDF8"/>
            </a:solidFill>
            <a:ln w="25400">
              <a:solidFill>
                <a:srgbClr val="14161F"/>
              </a:solidFill>
              <a:prstDash val="solid"/>
            </a:ln>
          </p:spPr>
          <p:txBody>
            <a:bodyPr wrap="square" lIns="12700" tIns="12700" rIns="12700" bIns="12700" rtlCol="0" anchor="ctr">
              <a:normAutofit/>
            </a:bodyPr>
            <a:lstStyle/>
            <a:p>
              <a:pPr marL="0" indent="0" algn="ctr">
                <a:lnSpc>
                  <a:spcPts val="2200"/>
                </a:lnSpc>
                <a:buNone/>
              </a:pPr>
              <a:endParaRPr lang="en-US" sz="2200" dirty="0"/>
            </a:p>
          </p:txBody>
        </p:sp>
        <p:sp>
          <p:nvSpPr>
            <p:cNvPr id="20" name="Text 11">
              <a:extLst>
                <a:ext uri="{FF2B5EF4-FFF2-40B4-BE49-F238E27FC236}">
                  <a16:creationId xmlns:a16="http://schemas.microsoft.com/office/drawing/2014/main" id="{F01E1130-544A-8648-8031-8917A69BC289}"/>
                </a:ext>
              </a:extLst>
            </p:cNvPr>
            <p:cNvSpPr/>
            <p:nvPr/>
          </p:nvSpPr>
          <p:spPr>
            <a:xfrm>
              <a:off x="1445069" y="4127767"/>
              <a:ext cx="438150" cy="438150"/>
            </a:xfrm>
            <a:prstGeom prst="roundRect">
              <a:avLst>
                <a:gd name="adj" fmla="val 15217"/>
              </a:avLst>
            </a:prstGeom>
            <a:solidFill>
              <a:srgbClr val="E6E1FA"/>
            </a:solidFill>
            <a:ln w="19050">
              <a:solidFill>
                <a:srgbClr val="5B3FD1"/>
              </a:solidFill>
              <a:prstDash val="solid"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ts val="1980"/>
                </a:lnSpc>
                <a:buNone/>
              </a:pPr>
              <a:r>
                <a:rPr lang="en-US" sz="1800" dirty="0">
                  <a:solidFill>
                    <a:srgbClr val="14161F"/>
                  </a:solidFill>
                  <a:latin typeface="Courier New" pitchFamily="49" charset="0"/>
                  <a:ea typeface="Courier New" pitchFamily="49" charset="-122"/>
                  <a:cs typeface="Courier New" pitchFamily="49" charset="-120"/>
                </a:rPr>
                <a:t>H</a:t>
              </a:r>
              <a:endParaRPr lang="en-US" sz="1800" dirty="0"/>
            </a:p>
          </p:txBody>
        </p:sp>
        <p:sp>
          <p:nvSpPr>
            <p:cNvPr id="21" name="Text 12">
              <a:extLst>
                <a:ext uri="{FF2B5EF4-FFF2-40B4-BE49-F238E27FC236}">
                  <a16:creationId xmlns:a16="http://schemas.microsoft.com/office/drawing/2014/main" id="{F98909D5-A4F6-E5A8-4EE5-B23B67A92306}"/>
                </a:ext>
              </a:extLst>
            </p:cNvPr>
            <p:cNvSpPr/>
            <p:nvPr/>
          </p:nvSpPr>
          <p:spPr>
            <a:xfrm>
              <a:off x="2651569" y="4127767"/>
              <a:ext cx="438150" cy="438150"/>
            </a:xfrm>
            <a:prstGeom prst="roundRect">
              <a:avLst>
                <a:gd name="adj" fmla="val 15217"/>
              </a:avLst>
            </a:prstGeom>
            <a:solidFill>
              <a:srgbClr val="F0B429"/>
            </a:solidFill>
            <a:ln w="19050">
              <a:solidFill>
                <a:srgbClr val="8A5A00"/>
              </a:solidFill>
              <a:prstDash val="solid"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ts val="1980"/>
                </a:lnSpc>
                <a:buNone/>
              </a:pPr>
              <a:r>
                <a:rPr lang="en-US" sz="1800" dirty="0">
                  <a:solidFill>
                    <a:srgbClr val="14161F"/>
                  </a:solidFill>
                  <a:latin typeface="Courier New" pitchFamily="49" charset="0"/>
                  <a:ea typeface="Courier New" pitchFamily="49" charset="-122"/>
                  <a:cs typeface="Courier New" pitchFamily="49" charset="-120"/>
                </a:rPr>
                <a:t>H</a:t>
              </a:r>
              <a:endParaRPr lang="en-US" sz="1800" dirty="0"/>
            </a:p>
          </p:txBody>
        </p:sp>
        <p:sp>
          <p:nvSpPr>
            <p:cNvPr id="22" name="Text 13">
              <a:extLst>
                <a:ext uri="{FF2B5EF4-FFF2-40B4-BE49-F238E27FC236}">
                  <a16:creationId xmlns:a16="http://schemas.microsoft.com/office/drawing/2014/main" id="{E7C9C5DE-952C-2CB8-0C4E-25DBED9FE16A}"/>
                </a:ext>
              </a:extLst>
            </p:cNvPr>
            <p:cNvSpPr/>
            <p:nvPr/>
          </p:nvSpPr>
          <p:spPr>
            <a:xfrm>
              <a:off x="2651569" y="4889767"/>
              <a:ext cx="438150" cy="438150"/>
            </a:xfrm>
            <a:prstGeom prst="roundRect">
              <a:avLst>
                <a:gd name="adj" fmla="val 15217"/>
              </a:avLst>
            </a:prstGeom>
            <a:solidFill>
              <a:srgbClr val="F0B429"/>
            </a:solidFill>
            <a:ln w="19050">
              <a:solidFill>
                <a:srgbClr val="8A5A00"/>
              </a:solidFill>
              <a:prstDash val="solid"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ts val="1980"/>
                </a:lnSpc>
                <a:buNone/>
              </a:pPr>
              <a:r>
                <a:rPr lang="en-US" sz="1800" dirty="0">
                  <a:solidFill>
                    <a:srgbClr val="14161F"/>
                  </a:solidFill>
                  <a:latin typeface="Courier New" pitchFamily="49" charset="0"/>
                  <a:ea typeface="Courier New" pitchFamily="49" charset="-122"/>
                  <a:cs typeface="Courier New" pitchFamily="49" charset="-120"/>
                </a:rPr>
                <a:t>H</a:t>
              </a:r>
              <a:endParaRPr lang="en-US" sz="1800" dirty="0"/>
            </a:p>
          </p:txBody>
        </p:sp>
        <p:sp>
          <p:nvSpPr>
            <p:cNvPr id="23" name="Text 14">
              <a:extLst>
                <a:ext uri="{FF2B5EF4-FFF2-40B4-BE49-F238E27FC236}">
                  <a16:creationId xmlns:a16="http://schemas.microsoft.com/office/drawing/2014/main" id="{BF04CE61-4C8E-9023-106B-D3728A3066ED}"/>
                </a:ext>
              </a:extLst>
            </p:cNvPr>
            <p:cNvSpPr/>
            <p:nvPr/>
          </p:nvSpPr>
          <p:spPr>
            <a:xfrm>
              <a:off x="3404044" y="4118242"/>
              <a:ext cx="457200" cy="457200"/>
            </a:xfrm>
            <a:prstGeom prst="roundRect">
              <a:avLst>
                <a:gd name="adj" fmla="val 16667"/>
              </a:avLst>
            </a:prstGeom>
            <a:solidFill>
              <a:srgbClr val="14161F"/>
            </a:solidFill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ts val="1980"/>
                </a:lnSpc>
                <a:buNone/>
              </a:pPr>
              <a:r>
                <a:rPr lang="en-US" sz="1800" dirty="0">
                  <a:solidFill>
                    <a:srgbClr val="F5F2EA"/>
                  </a:solidFill>
                  <a:latin typeface="Courier New" pitchFamily="49" charset="0"/>
                  <a:ea typeface="Courier New" pitchFamily="49" charset="-122"/>
                  <a:cs typeface="Courier New" pitchFamily="49" charset="-120"/>
                </a:rPr>
                <a:t>M</a:t>
              </a:r>
              <a:endParaRPr lang="en-US" sz="1800" dirty="0"/>
            </a:p>
          </p:txBody>
        </p:sp>
        <p:sp>
          <p:nvSpPr>
            <p:cNvPr id="24" name="Text 15">
              <a:extLst>
                <a:ext uri="{FF2B5EF4-FFF2-40B4-BE49-F238E27FC236}">
                  <a16:creationId xmlns:a16="http://schemas.microsoft.com/office/drawing/2014/main" id="{C354F8EA-04C6-1D49-43C6-9D06A7C09665}"/>
                </a:ext>
              </a:extLst>
            </p:cNvPr>
            <p:cNvSpPr/>
            <p:nvPr/>
          </p:nvSpPr>
          <p:spPr>
            <a:xfrm>
              <a:off x="3404044" y="4880242"/>
              <a:ext cx="457200" cy="457200"/>
            </a:xfrm>
            <a:prstGeom prst="roundRect">
              <a:avLst>
                <a:gd name="adj" fmla="val 16667"/>
              </a:avLst>
            </a:prstGeom>
            <a:solidFill>
              <a:srgbClr val="14161F"/>
            </a:solidFill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ts val="1980"/>
                </a:lnSpc>
                <a:buNone/>
              </a:pPr>
              <a:r>
                <a:rPr lang="en-US" sz="1800" dirty="0">
                  <a:solidFill>
                    <a:srgbClr val="F5F2EA"/>
                  </a:solidFill>
                  <a:latin typeface="Courier New" pitchFamily="49" charset="0"/>
                  <a:ea typeface="Courier New" pitchFamily="49" charset="-122"/>
                  <a:cs typeface="Courier New" pitchFamily="49" charset="-120"/>
                </a:rPr>
                <a:t>M</a:t>
              </a:r>
              <a:endParaRPr lang="en-US" sz="18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404C6D9-AEEB-C0A2-354A-F45030EEF2CA}"/>
                    </a:ext>
                  </a:extLst>
                </p:cNvPr>
                <p:cNvSpPr txBox="1"/>
                <p:nvPr/>
              </p:nvSpPr>
              <p:spPr>
                <a:xfrm>
                  <a:off x="1975999" y="4813921"/>
                  <a:ext cx="457200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404C6D9-AEEB-C0A2-354A-F45030EEF2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999" y="4813921"/>
                  <a:ext cx="457200" cy="553998"/>
                </a:xfrm>
                <a:prstGeom prst="rect">
                  <a:avLst/>
                </a:prstGeom>
                <a:blipFill>
                  <a:blip r:embed="rId3"/>
                  <a:stretch>
                    <a:fillRect l="-18919" r="-18919" b="-45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6C64BE5D-AC9A-5C8B-F86B-E70F41E1C0C2}"/>
              </a:ext>
            </a:extLst>
          </p:cNvPr>
          <p:cNvSpPr txBox="1"/>
          <p:nvPr/>
        </p:nvSpPr>
        <p:spPr>
          <a:xfrm>
            <a:off x="362957" y="1016079"/>
            <a:ext cx="3745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Pauli strings (P) : XX, ZI, IZ, ZX,... etc.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BCD416-1348-EFFF-4BA3-0F68C600ECD9}"/>
              </a:ext>
            </a:extLst>
          </p:cNvPr>
          <p:cNvSpPr txBox="1"/>
          <p:nvPr/>
        </p:nvSpPr>
        <p:spPr>
          <a:xfrm>
            <a:off x="362957" y="2858429"/>
            <a:ext cx="3798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Measuring XX on a two-qubit state: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08CD464-D784-F79F-E3D0-2ABA7F762F0B}"/>
                  </a:ext>
                </a:extLst>
              </p:cNvPr>
              <p:cNvSpPr txBox="1"/>
              <p:nvPr/>
            </p:nvSpPr>
            <p:spPr>
              <a:xfrm>
                <a:off x="362957" y="5841921"/>
                <a:ext cx="11512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If Pauli matrices commute: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you can measure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together, otherwise you need separate measurement circuit </a:t>
                </a:r>
                <a:r>
                  <a:rPr lang="en-US" dirty="0">
                    <a:sym typeface="Wingdings" pitchFamily="2" charset="2"/>
                  </a:rPr>
                  <a:t> Heisenberg uncertainty principle.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08CD464-D784-F79F-E3D0-2ABA7F762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957" y="5841921"/>
                <a:ext cx="11512954" cy="646331"/>
              </a:xfrm>
              <a:prstGeom prst="rect">
                <a:avLst/>
              </a:prstGeom>
              <a:blipFill>
                <a:blip r:embed="rId4"/>
                <a:stretch>
                  <a:fillRect l="-441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BE8147B-ABE8-B5E2-488D-5C6B16554037}"/>
                  </a:ext>
                </a:extLst>
              </p:cNvPr>
              <p:cNvSpPr txBox="1"/>
              <p:nvPr/>
            </p:nvSpPr>
            <p:spPr>
              <a:xfrm>
                <a:off x="1589275" y="1598938"/>
                <a:ext cx="7673511" cy="9636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⊗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   1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   0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   0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BE8147B-ABE8-B5E2-488D-5C6B16554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275" y="1598938"/>
                <a:ext cx="7673511" cy="963662"/>
              </a:xfrm>
              <a:prstGeom prst="rect">
                <a:avLst/>
              </a:prstGeom>
              <a:blipFill>
                <a:blip r:embed="rId5"/>
                <a:stretch>
                  <a:fillRect l="-992" t="-5195" b="-16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4" name="Table 0">
            <a:extLst>
              <a:ext uri="{FF2B5EF4-FFF2-40B4-BE49-F238E27FC236}">
                <a16:creationId xmlns:a16="http://schemas.microsoft.com/office/drawing/2014/main" id="{8AABF967-633A-77E6-1D8F-F0B67FA67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635329"/>
              </p:ext>
            </p:extLst>
          </p:nvPr>
        </p:nvGraphicFramePr>
        <p:xfrm>
          <a:off x="6025889" y="3396113"/>
          <a:ext cx="5295900" cy="2316066"/>
        </p:xfrm>
        <a:graphic>
          <a:graphicData uri="http://schemas.openxmlformats.org/drawingml/2006/table">
            <a:tbl>
              <a:tblPr/>
              <a:tblGrid>
                <a:gridCol w="1059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3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9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9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50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2EA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Bits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6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6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2EA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Prob.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1416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6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6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2EA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XI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1416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6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6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2EA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IX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1416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6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6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2EA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XX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1416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6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6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6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50%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6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+1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6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+1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6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+1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6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0%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+1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−1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−1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10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0%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−1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+1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−1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11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50%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−1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−1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+1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Avg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8B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8B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8B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49" charset="0"/>
                          <a:ea typeface="Courier New" pitchFamily="49" charset="-122"/>
                          <a:cs typeface="Courier New" pitchFamily="49" charset="-120"/>
                        </a:rPr>
                        <a:t>+1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8B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4863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9B070-6C19-49B9-DCBE-ADB392659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67CA4C0-DD45-5998-4EB4-45AD6A9400FA}"/>
              </a:ext>
            </a:extLst>
          </p:cNvPr>
          <p:cNvSpPr/>
          <p:nvPr/>
        </p:nvSpPr>
        <p:spPr>
          <a:xfrm>
            <a:off x="0" y="-1"/>
            <a:ext cx="12192000" cy="653143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 panose="020B0403020202020204" pitchFamily="34" charset="0"/>
                <a:ea typeface="+mn-ea"/>
                <a:cs typeface="+mn-cs"/>
              </a:rPr>
              <a:t> Variational quantum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 panose="020B0403020202020204" pitchFamily="34" charset="0"/>
                <a:ea typeface="+mn-ea"/>
                <a:cs typeface="+mn-cs"/>
              </a:rPr>
              <a:t>eigensolver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 panose="020B0403020202020204" pitchFamily="34" charset="0"/>
                <a:ea typeface="+mn-ea"/>
                <a:cs typeface="+mn-cs"/>
              </a:rPr>
              <a:t> for Hydrogen molecule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DBCDB2-F61F-3E5E-7F54-5BECF01A8C2A}"/>
              </a:ext>
            </a:extLst>
          </p:cNvPr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3CAC4F-0E54-1B47-06CE-5DC2963E1F0B}"/>
              </a:ext>
            </a:extLst>
          </p:cNvPr>
          <p:cNvSpPr txBox="1"/>
          <p:nvPr/>
        </p:nvSpPr>
        <p:spPr>
          <a:xfrm>
            <a:off x="1153722" y="656172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VQE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A7B59B-C3A2-E219-D7CD-79CDEC91BCCD}"/>
              </a:ext>
            </a:extLst>
          </p:cNvPr>
          <p:cNvSpPr txBox="1"/>
          <p:nvPr/>
        </p:nvSpPr>
        <p:spPr>
          <a:xfrm>
            <a:off x="11450917" y="6551563"/>
            <a:ext cx="595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14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A747DEC-1C1D-CAA9-4B24-890FB986D4AA}"/>
              </a:ext>
            </a:extLst>
          </p:cNvPr>
          <p:cNvCxnSpPr/>
          <p:nvPr/>
        </p:nvCxnSpPr>
        <p:spPr>
          <a:xfrm>
            <a:off x="2733040" y="658368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B4D2C5-606D-309A-2E65-04A3B40A998C}"/>
              </a:ext>
            </a:extLst>
          </p:cNvPr>
          <p:cNvCxnSpPr/>
          <p:nvPr/>
        </p:nvCxnSpPr>
        <p:spPr>
          <a:xfrm>
            <a:off x="7762240" y="659384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4DEAE3E-AC2D-B468-3FC0-B2CE513EDAFB}"/>
              </a:ext>
            </a:extLst>
          </p:cNvPr>
          <p:cNvSpPr txBox="1"/>
          <p:nvPr/>
        </p:nvSpPr>
        <p:spPr>
          <a:xfrm flipH="1">
            <a:off x="8424424" y="6551563"/>
            <a:ext cx="204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October 16, 2026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EB21F10-F9BD-72C4-9E03-A9FAD4CBEC37}"/>
              </a:ext>
            </a:extLst>
          </p:cNvPr>
          <p:cNvCxnSpPr/>
          <p:nvPr/>
        </p:nvCxnSpPr>
        <p:spPr>
          <a:xfrm>
            <a:off x="10911840" y="6595477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541F0E2-C3FF-0D82-6AC6-3EC0C4DD0AD8}"/>
              </a:ext>
            </a:extLst>
          </p:cNvPr>
          <p:cNvSpPr txBox="1"/>
          <p:nvPr/>
        </p:nvSpPr>
        <p:spPr>
          <a:xfrm>
            <a:off x="4857553" y="6551563"/>
            <a:ext cx="764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MTSU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D0E8A7-3303-85CE-7178-220006E69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500" y="863600"/>
            <a:ext cx="5461000" cy="660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D81731A-845D-B96B-68EC-FB7730B687D5}"/>
              </a:ext>
            </a:extLst>
          </p:cNvPr>
          <p:cNvSpPr txBox="1"/>
          <p:nvPr/>
        </p:nvSpPr>
        <p:spPr>
          <a:xfrm>
            <a:off x="335866" y="1919112"/>
            <a:ext cx="1174759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Build a parametrized circuit: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Define energy cost function: </a:t>
            </a:r>
            <a:r>
              <a:rPr lang="en-US" dirty="0" err="1"/>
              <a:t>Qiskit</a:t>
            </a:r>
            <a:r>
              <a:rPr lang="en-US" dirty="0"/>
              <a:t> can do this measurement for you. (estimator function in the notebook). Alternatively, create circuits for each Pauli string like shown before and measure. </a:t>
            </a:r>
          </a:p>
          <a:p>
            <a:endParaRPr lang="en-US" dirty="0"/>
          </a:p>
          <a:p>
            <a:r>
              <a:rPr lang="en-US" dirty="0"/>
              <a:t>Input: Circuit, parameters, shots. </a:t>
            </a:r>
          </a:p>
          <a:p>
            <a:r>
              <a:rPr lang="en-US" dirty="0"/>
              <a:t>output: Energy.</a:t>
            </a:r>
          </a:p>
          <a:p>
            <a:endParaRPr lang="en-US" dirty="0"/>
          </a:p>
          <a:p>
            <a:r>
              <a:rPr lang="en-US" b="1" dirty="0"/>
              <a:t>Use a classical optimizer to update the parameters: </a:t>
            </a:r>
            <a:r>
              <a:rPr lang="en-US" dirty="0"/>
              <a:t>minimize(cost function, initial parameters, method). Different methods available in </a:t>
            </a:r>
            <a:r>
              <a:rPr lang="en-US" dirty="0" err="1"/>
              <a:t>scipy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Try different parametrized circuit: </a:t>
            </a:r>
            <a:r>
              <a:rPr lang="en-US" dirty="0"/>
              <a:t>See if you can improve your ground state energy.</a:t>
            </a:r>
            <a:endParaRPr lang="en-US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1469CEE-9A44-FF9D-62BB-3544D1D37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4731" y="1545957"/>
            <a:ext cx="2307872" cy="11411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E57FA56-38BF-BA9D-D23F-4D6398F24A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2325" y="1510961"/>
            <a:ext cx="2253714" cy="120317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D3D4109-5F6B-BD12-0C1E-D6927ACD5D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5603" y="1556117"/>
            <a:ext cx="3617860" cy="113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598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ACABC-43DD-B928-DB93-09C583380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D8E12D1-3BE2-D494-EFA7-A780914A4634}"/>
              </a:ext>
            </a:extLst>
          </p:cNvPr>
          <p:cNvSpPr/>
          <p:nvPr/>
        </p:nvSpPr>
        <p:spPr>
          <a:xfrm>
            <a:off x="0" y="-1"/>
            <a:ext cx="12192000" cy="653143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 panose="020B0403020202020204" pitchFamily="34" charset="0"/>
                <a:ea typeface="+mn-ea"/>
                <a:cs typeface="+mn-cs"/>
              </a:rPr>
              <a:t> A typical VQE run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59D97E-06CE-A458-8185-5E99C36EF979}"/>
              </a:ext>
            </a:extLst>
          </p:cNvPr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541EE-9660-9460-E2BF-9CAF22334FAB}"/>
              </a:ext>
            </a:extLst>
          </p:cNvPr>
          <p:cNvSpPr txBox="1"/>
          <p:nvPr/>
        </p:nvSpPr>
        <p:spPr>
          <a:xfrm>
            <a:off x="1153722" y="656172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VQE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4C864-9F0B-0140-801C-AFACBFE2C2FB}"/>
              </a:ext>
            </a:extLst>
          </p:cNvPr>
          <p:cNvSpPr txBox="1"/>
          <p:nvPr/>
        </p:nvSpPr>
        <p:spPr>
          <a:xfrm>
            <a:off x="11450918" y="6551563"/>
            <a:ext cx="5950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15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884742-DFE0-7B54-5616-37C4069138CE}"/>
              </a:ext>
            </a:extLst>
          </p:cNvPr>
          <p:cNvCxnSpPr/>
          <p:nvPr/>
        </p:nvCxnSpPr>
        <p:spPr>
          <a:xfrm>
            <a:off x="2733040" y="658368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521283F-1AEB-E5D5-B57C-87CB0BAA9180}"/>
              </a:ext>
            </a:extLst>
          </p:cNvPr>
          <p:cNvCxnSpPr/>
          <p:nvPr/>
        </p:nvCxnSpPr>
        <p:spPr>
          <a:xfrm>
            <a:off x="7762240" y="659384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E27DE93-A3D2-383E-F0D5-3C407ABF4462}"/>
              </a:ext>
            </a:extLst>
          </p:cNvPr>
          <p:cNvSpPr txBox="1"/>
          <p:nvPr/>
        </p:nvSpPr>
        <p:spPr>
          <a:xfrm flipH="1">
            <a:off x="8424424" y="6551563"/>
            <a:ext cx="204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October 16, 2026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DBFB741-23A5-342E-03BB-AF9DD489FECC}"/>
              </a:ext>
            </a:extLst>
          </p:cNvPr>
          <p:cNvCxnSpPr/>
          <p:nvPr/>
        </p:nvCxnSpPr>
        <p:spPr>
          <a:xfrm>
            <a:off x="10911840" y="6595477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66AD88D-989C-B9A9-B58E-D0B2E35ACEC7}"/>
              </a:ext>
            </a:extLst>
          </p:cNvPr>
          <p:cNvSpPr txBox="1"/>
          <p:nvPr/>
        </p:nvSpPr>
        <p:spPr>
          <a:xfrm>
            <a:off x="4857553" y="6551563"/>
            <a:ext cx="764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MTSU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009559C-8632-8525-CD10-89A1568F8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750" y="827617"/>
            <a:ext cx="7556500" cy="48641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34D1B26-35E6-2997-F18F-28DA0B987321}"/>
              </a:ext>
            </a:extLst>
          </p:cNvPr>
          <p:cNvSpPr txBox="1"/>
          <p:nvPr/>
        </p:nvSpPr>
        <p:spPr>
          <a:xfrm>
            <a:off x="338667" y="5960533"/>
            <a:ext cx="8644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Circuit structure (# of parameters), initial state (Hartree Fock: no electron correlation) </a:t>
            </a:r>
          </a:p>
        </p:txBody>
      </p:sp>
    </p:spTree>
    <p:extLst>
      <p:ext uri="{BB962C8B-B14F-4D97-AF65-F5344CB8AC3E}">
        <p14:creationId xmlns:p14="http://schemas.microsoft.com/office/powerpoint/2010/main" val="1414371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1377F-771B-EAF1-9049-EBFC7F88A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4643A8-A3F5-DD97-82C4-A357F9CA17E3}"/>
              </a:ext>
            </a:extLst>
          </p:cNvPr>
          <p:cNvSpPr/>
          <p:nvPr/>
        </p:nvSpPr>
        <p:spPr>
          <a:xfrm>
            <a:off x="0" y="-1"/>
            <a:ext cx="12192000" cy="653143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 panose="020B0403020202020204" pitchFamily="34" charset="0"/>
                <a:ea typeface="+mn-ea"/>
                <a:cs typeface="+mn-cs"/>
              </a:rPr>
              <a:t> VQE: Summary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002482-09D1-A740-D2B9-175753860CBE}"/>
              </a:ext>
            </a:extLst>
          </p:cNvPr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DC9143-76E2-D081-F7F8-D338538A8899}"/>
              </a:ext>
            </a:extLst>
          </p:cNvPr>
          <p:cNvSpPr txBox="1"/>
          <p:nvPr/>
        </p:nvSpPr>
        <p:spPr>
          <a:xfrm>
            <a:off x="1153722" y="656172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VQE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FFBFA2-C357-31BB-85F2-FF2AEADCB63A}"/>
              </a:ext>
            </a:extLst>
          </p:cNvPr>
          <p:cNvSpPr txBox="1"/>
          <p:nvPr/>
        </p:nvSpPr>
        <p:spPr>
          <a:xfrm>
            <a:off x="11450917" y="6551563"/>
            <a:ext cx="595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14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4C08FA-9B8F-9BBD-2ACA-5DE9FD6521C2}"/>
              </a:ext>
            </a:extLst>
          </p:cNvPr>
          <p:cNvCxnSpPr/>
          <p:nvPr/>
        </p:nvCxnSpPr>
        <p:spPr>
          <a:xfrm>
            <a:off x="2733040" y="658368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023B61F-55B1-ACAC-E00F-D008E67F5192}"/>
              </a:ext>
            </a:extLst>
          </p:cNvPr>
          <p:cNvCxnSpPr/>
          <p:nvPr/>
        </p:nvCxnSpPr>
        <p:spPr>
          <a:xfrm>
            <a:off x="7762240" y="659384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383006B-012A-5130-B4C7-9C543E8B5153}"/>
              </a:ext>
            </a:extLst>
          </p:cNvPr>
          <p:cNvSpPr txBox="1"/>
          <p:nvPr/>
        </p:nvSpPr>
        <p:spPr>
          <a:xfrm flipH="1">
            <a:off x="8424424" y="6551563"/>
            <a:ext cx="204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October 16, 2026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96A31A0-FDED-9ADC-306D-35330C1D0E89}"/>
              </a:ext>
            </a:extLst>
          </p:cNvPr>
          <p:cNvCxnSpPr/>
          <p:nvPr/>
        </p:nvCxnSpPr>
        <p:spPr>
          <a:xfrm>
            <a:off x="10911840" y="6595477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2256126-2513-5979-E75E-BEF365B4BC26}"/>
              </a:ext>
            </a:extLst>
          </p:cNvPr>
          <p:cNvSpPr txBox="1"/>
          <p:nvPr/>
        </p:nvSpPr>
        <p:spPr>
          <a:xfrm>
            <a:off x="4857553" y="6551563"/>
            <a:ext cx="764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MTSU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C76876-9AD1-3140-4342-517A81C40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500" y="863600"/>
            <a:ext cx="5461000" cy="660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CE9FA31-4050-06A0-A6B7-6FF937825037}"/>
              </a:ext>
            </a:extLst>
          </p:cNvPr>
          <p:cNvSpPr txBox="1"/>
          <p:nvPr/>
        </p:nvSpPr>
        <p:spPr>
          <a:xfrm>
            <a:off x="335866" y="1919112"/>
            <a:ext cx="1174759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Build a parametrized circuit: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Define energy cost function: </a:t>
            </a:r>
            <a:r>
              <a:rPr lang="en-US" dirty="0" err="1"/>
              <a:t>Qiskit</a:t>
            </a:r>
            <a:r>
              <a:rPr lang="en-US" dirty="0"/>
              <a:t> can do this measurement for you. (estimator function in the notebook). Alternatively, create circuits for each Pauli string like shown before and measure. </a:t>
            </a:r>
          </a:p>
          <a:p>
            <a:endParaRPr lang="en-US" dirty="0"/>
          </a:p>
          <a:p>
            <a:r>
              <a:rPr lang="en-US" dirty="0"/>
              <a:t>Input: Circuit, parameters, shots. </a:t>
            </a:r>
          </a:p>
          <a:p>
            <a:r>
              <a:rPr lang="en-US" dirty="0"/>
              <a:t>output: Energy.</a:t>
            </a:r>
          </a:p>
          <a:p>
            <a:endParaRPr lang="en-US" dirty="0"/>
          </a:p>
          <a:p>
            <a:r>
              <a:rPr lang="en-US" b="1" dirty="0"/>
              <a:t>Use a classical optimizer to update the parameters: </a:t>
            </a:r>
            <a:r>
              <a:rPr lang="en-US" dirty="0"/>
              <a:t>minimize(cost function, initial parameters, method). Different methods available in </a:t>
            </a:r>
            <a:r>
              <a:rPr lang="en-US" dirty="0" err="1"/>
              <a:t>scipy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Try different parametrized circuit: </a:t>
            </a:r>
            <a:r>
              <a:rPr lang="en-US" dirty="0"/>
              <a:t>See if you can improve your ground state energy.</a:t>
            </a:r>
            <a:endParaRPr lang="en-US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E2C54AB-7A7B-F330-2E0A-250F70A259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4731" y="1545957"/>
            <a:ext cx="2307872" cy="11411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DBC0B42-BF5E-3F55-0928-BB0AB6EA8D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2325" y="1510961"/>
            <a:ext cx="2253714" cy="120317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9DF8A66-AF55-B31D-A7D4-65CB6E6CD6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5603" y="1556117"/>
            <a:ext cx="3617860" cy="113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329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ptimization in Quantum Mechanics">
  <a:themeElements>
    <a:clrScheme name="Optimization in Quantum Mechanics">
      <a:dk1>
        <a:srgbClr val="13213A"/>
      </a:dk1>
      <a:lt1>
        <a:srgbClr val="F6F4EE"/>
      </a:lt1>
      <a:dk2>
        <a:srgbClr val="4C5667"/>
      </a:dk2>
      <a:lt2>
        <a:srgbClr val="DFDFDC"/>
      </a:lt2>
      <a:accent1>
        <a:srgbClr val="137A78"/>
      </a:accent1>
      <a:accent2>
        <a:srgbClr val="F2B84B"/>
      </a:accent2>
      <a:accent3>
        <a:srgbClr val="0E5E5C"/>
      </a:accent3>
      <a:accent4>
        <a:srgbClr val="0E6665"/>
      </a:accent4>
      <a:accent5>
        <a:srgbClr val="4A5568"/>
      </a:accent5>
      <a:accent6>
        <a:srgbClr val="C5CEE0"/>
      </a:accent6>
      <a:hlink>
        <a:srgbClr val="0563C1"/>
      </a:hlink>
      <a:folHlink>
        <a:srgbClr val="954F72"/>
      </a:folHlink>
    </a:clrScheme>
    <a:fontScheme name="Optimization in Quantum Mechanics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1597</Words>
  <Application>Microsoft Macintosh PowerPoint</Application>
  <PresentationFormat>Widescreen</PresentationFormat>
  <Paragraphs>328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Courier New</vt:lpstr>
      <vt:lpstr>Georgia</vt:lpstr>
      <vt:lpstr>Univers Light</vt:lpstr>
      <vt:lpstr>Wingdings</vt:lpstr>
      <vt:lpstr>Office Theme</vt:lpstr>
      <vt:lpstr>Optimization in Quantum Mechanics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Nature optimizes too: quantum systems settle into the lowest-energy state they can reach.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Abhijit Chakraborty</dc:creator>
  <cp:lastModifiedBy>Abhijit Chakraborty</cp:lastModifiedBy>
  <cp:revision>18</cp:revision>
  <dcterms:created xsi:type="dcterms:W3CDTF">2026-10-14T19:41:47Z</dcterms:created>
  <dcterms:modified xsi:type="dcterms:W3CDTF">2026-10-16T03:49:43Z</dcterms:modified>
</cp:coreProperties>
</file>