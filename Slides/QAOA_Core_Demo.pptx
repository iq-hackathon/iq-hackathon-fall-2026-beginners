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2.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3.xml" ContentType="application/vnd.openxmlformats-officedocument.drawingml.chart+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rts/chart4.xml" ContentType="application/vnd.openxmlformats-officedocument.drawingml.chart+xml"/>
  <Override PartName="/ppt/notesSlides/notesSlide47.xml" ContentType="application/vnd.openxmlformats-officedocument.presentationml.notesSlide+xml"/>
  <Override PartName="/ppt/charts/chart5.xml" ContentType="application/vnd.openxmlformats-officedocument.drawingml.chart+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6" r:id="rId49"/>
    <p:sldId id="307" r:id="rId50"/>
    <p:sldId id="308" r:id="rId51"/>
    <p:sldId id="309" r:id="rId52"/>
    <p:sldId id="310" r:id="rId5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6BD4D82-CD66-B57D-3496-A3CBAFBE71AF}">
          <p14:sldIdLst>
            <p14:sldId id="256"/>
            <p14:sldId id="257"/>
            <p14:sldId id="258"/>
            <p14:sldId id="259"/>
          </p14:sldIdLst>
        </p14:section>
        <p14:section name="Part A: Classical foundations" id="{BEDC3483-9851-1523-C0ED-FA54F71395E0}">
          <p14:sldIdLst>
            <p14:sldId id="260"/>
            <p14:sldId id="261"/>
            <p14:sldId id="262"/>
            <p14:sldId id="263"/>
            <p14:sldId id="264"/>
            <p14:sldId id="265"/>
            <p14:sldId id="266"/>
            <p14:sldId id="267"/>
            <p14:sldId id="268"/>
          </p14:sldIdLst>
        </p14:section>
        <p14:section name="Part B: Quantum foundations" id="{C7BC35CD-8999-56BE-5322-F0F3E05B9C24}">
          <p14:sldIdLst>
            <p14:sldId id="269"/>
            <p14:sldId id="270"/>
            <p14:sldId id="271"/>
            <p14:sldId id="272"/>
            <p14:sldId id="273"/>
            <p14:sldId id="274"/>
            <p14:sldId id="275"/>
            <p14:sldId id="276"/>
            <p14:sldId id="277"/>
            <p14:sldId id="278"/>
            <p14:sldId id="279"/>
            <p14:sldId id="280"/>
            <p14:sldId id="281"/>
          </p14:sldIdLst>
        </p14:section>
        <p14:section name="Part C: QAOA" id="{C0A817E4-21FC-22CE-14E9-61195A8802E0}">
          <p14:sldIdLst>
            <p14:sldId id="282"/>
            <p14:sldId id="283"/>
            <p14:sldId id="284"/>
            <p14:sldId id="285"/>
            <p14:sldId id="286"/>
            <p14:sldId id="287"/>
            <p14:sldId id="288"/>
            <p14:sldId id="289"/>
            <p14:sldId id="290"/>
            <p14:sldId id="291"/>
            <p14:sldId id="292"/>
            <p14:sldId id="293"/>
            <p14:sldId id="294"/>
            <p14:sldId id="295"/>
            <p14:sldId id="296"/>
            <p14:sldId id="297"/>
          </p14:sldIdLst>
        </p14:section>
        <p14:section name="Part D: Qiskit pattern" id="{DF785D1B-6482-9A01-CAA1-AF13CFE3129F}">
          <p14:sldIdLst>
            <p14:sldId id="298"/>
            <p14:sldId id="299"/>
            <p14:sldId id="300"/>
            <p14:sldId id="301"/>
            <p14:sldId id="302"/>
            <p14:sldId id="306"/>
            <p14:sldId id="307"/>
          </p14:sldIdLst>
        </p14:section>
        <p14:section name="Wrap-up" id="{B575CCC5-EE9C-77D3-AF99-C49D6E150B3C}">
          <p14:sldIdLst>
            <p14:sldId id="308"/>
            <p14:sldId id="309"/>
            <p14:sldId id="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1"/>
    <p:restoredTop sz="94610"/>
  </p:normalViewPr>
  <p:slideViewPr>
    <p:cSldViewPr snapToGrid="0" snapToObjects="1">
      <p:cViewPr varScale="1">
        <p:scale>
          <a:sx n="110" d="100"/>
          <a:sy n="110" d="100"/>
        </p:scale>
        <p:origin x="44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B1646"/>
                </a:solidFill>
                <a:latin typeface="+mn-lt"/>
              </a:defRPr>
            </a:pPr>
            <a:r>
              <a:rPr lang="en-US" sz="1600" b="0" i="0" u="none" strike="noStrike">
                <a:solidFill>
                  <a:srgbClr val="1B1646"/>
                </a:solidFill>
                <a:latin typeface="+mn-lt"/>
              </a:rPr>
              <a:t>Number of candidate answers, 2ⁿ (log scale)</a:t>
            </a:r>
          </a:p>
        </c:rich>
      </c:tx>
      <c:overlay val="0"/>
    </c:title>
    <c:autoTitleDeleted val="0"/>
    <c:plotArea>
      <c:layout/>
      <c:barChart>
        <c:barDir val="col"/>
        <c:grouping val="clustered"/>
        <c:varyColors val="0"/>
        <c:ser>
          <c:idx val="0"/>
          <c:order val="0"/>
          <c:tx>
            <c:strRef>
              <c:f>Sheet1!$B$1</c:f>
              <c:strCache>
                <c:ptCount val="1"/>
                <c:pt idx="0">
                  <c:v>Candidates</c:v>
                </c:pt>
              </c:strCache>
            </c:strRef>
          </c:tx>
          <c:spPr>
            <a:solidFill>
              <a:srgbClr val="6A4FE0"/>
            </a:solidFill>
            <a:effectLst/>
          </c:spPr>
          <c:invertIfNegative val="0"/>
          <c:dLbls>
            <c:numFmt formatCode="0.0E+00" sourceLinked="0"/>
            <c:spPr>
              <a:noFill/>
              <a:ln>
                <a:noFill/>
              </a:ln>
              <a:effectLst/>
            </c:spPr>
            <c:txPr>
              <a:bodyPr/>
              <a:lstStyle/>
              <a:p>
                <a:pPr>
                  <a:defRPr sz="1200" b="0" i="0" u="none" strike="noStrike">
                    <a:solidFill>
                      <a:srgbClr val="1B16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 = 10</c:v>
                </c:pt>
                <c:pt idx="1">
                  <c:v>n = 20</c:v>
                </c:pt>
                <c:pt idx="2">
                  <c:v>n = 30</c:v>
                </c:pt>
                <c:pt idx="3">
                  <c:v>n = 40</c:v>
                </c:pt>
                <c:pt idx="4">
                  <c:v>n = 50</c:v>
                </c:pt>
              </c:strCache>
            </c:strRef>
          </c:cat>
          <c:val>
            <c:numRef>
              <c:f>Sheet1!$B$2:$B$6</c:f>
              <c:numCache>
                <c:formatCode>General</c:formatCode>
                <c:ptCount val="5"/>
                <c:pt idx="0">
                  <c:v>1024</c:v>
                </c:pt>
                <c:pt idx="1">
                  <c:v>1048576</c:v>
                </c:pt>
                <c:pt idx="2">
                  <c:v>1073741824</c:v>
                </c:pt>
                <c:pt idx="3">
                  <c:v>1099511627776</c:v>
                </c:pt>
                <c:pt idx="4">
                  <c:v>1125899906842624</c:v>
                </c:pt>
              </c:numCache>
            </c:numRef>
          </c:val>
          <c:extLst>
            <c:ext xmlns:c16="http://schemas.microsoft.com/office/drawing/2014/chart" uri="{C3380CC4-5D6E-409C-BE32-E72D297353CC}">
              <c16:uniqueId val="{00000000-B5FA-164D-A49C-94DBB7158D5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646"/>
                </a:solidFill>
                <a:latin typeface="+mn-lt"/>
              </a:defRPr>
            </a:pPr>
            <a:endParaRPr lang="en-US"/>
          </a:p>
        </c:txPr>
        <c:crossAx val="2094734552"/>
        <c:crosses val="autoZero"/>
        <c:auto val="1"/>
        <c:lblAlgn val="ctr"/>
        <c:lblOffset val="100"/>
        <c:noMultiLvlLbl val="1"/>
      </c:catAx>
      <c:valAx>
        <c:axId val="2094734552"/>
        <c:scaling>
          <c:logBase val="10"/>
          <c:orientation val="minMax"/>
          <c:max val="1E+17"/>
          <c:min val="1"/>
        </c:scaling>
        <c:delete val="0"/>
        <c:axPos val="l"/>
        <c:majorGridlines>
          <c:spPr>
            <a:ln w="6350" cap="flat">
              <a:solidFill>
                <a:srgbClr val="D9DCF0"/>
              </a:solidFill>
              <a:prstDash val="solid"/>
              <a:round/>
            </a:ln>
          </c:spPr>
        </c:majorGridlines>
        <c:numFmt formatCode="0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1646"/>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B1646"/>
                </a:solidFill>
                <a:latin typeface="+mn-lt"/>
              </a:defRPr>
            </a:pPr>
            <a:r>
              <a:rPr lang="en-US" sz="1600" b="0" i="0" u="none" strike="noStrike">
                <a:solidFill>
                  <a:srgbClr val="1B1646"/>
                </a:solidFill>
                <a:latin typeface="+mn-lt"/>
              </a:rPr>
              <a:t>Number of bitstrings at each energy (32 in total)</a:t>
            </a:r>
          </a:p>
        </c:rich>
      </c:tx>
      <c:overlay val="0"/>
    </c:title>
    <c:autoTitleDeleted val="0"/>
    <c:plotArea>
      <c:layout/>
      <c:barChart>
        <c:barDir val="col"/>
        <c:grouping val="clustered"/>
        <c:varyColors val="0"/>
        <c:ser>
          <c:idx val="0"/>
          <c:order val="0"/>
          <c:tx>
            <c:strRef>
              <c:f>Sheet1!$B$1</c:f>
              <c:strCache>
                <c:ptCount val="1"/>
                <c:pt idx="0">
                  <c:v>Bitstrings</c:v>
                </c:pt>
              </c:strCache>
            </c:strRef>
          </c:tx>
          <c:spPr>
            <a:solidFill>
              <a:srgbClr val="1FB5A6"/>
            </a:solidFill>
            <a:effectLst/>
          </c:spPr>
          <c:invertIfNegative val="0"/>
          <c:dPt>
            <c:idx val="0"/>
            <c:invertIfNegative val="0"/>
            <c:bubble3D val="0"/>
            <c:extLst>
              <c:ext xmlns:c16="http://schemas.microsoft.com/office/drawing/2014/chart" uri="{C3380CC4-5D6E-409C-BE32-E72D297353CC}">
                <c16:uniqueId val="{00000001-2B30-A947-9233-95995F986ECA}"/>
              </c:ext>
            </c:extLst>
          </c:dPt>
          <c:dPt>
            <c:idx val="1"/>
            <c:invertIfNegative val="0"/>
            <c:bubble3D val="0"/>
            <c:spPr>
              <a:solidFill>
                <a:srgbClr val="6A4FE0"/>
              </a:solidFill>
              <a:effectLst/>
            </c:spPr>
            <c:extLst>
              <c:ext xmlns:c16="http://schemas.microsoft.com/office/drawing/2014/chart" uri="{C3380CC4-5D6E-409C-BE32-E72D297353CC}">
                <c16:uniqueId val="{00000003-2B30-A947-9233-95995F986ECA}"/>
              </c:ext>
            </c:extLst>
          </c:dPt>
          <c:dPt>
            <c:idx val="2"/>
            <c:invertIfNegative val="0"/>
            <c:bubble3D val="0"/>
            <c:spPr>
              <a:solidFill>
                <a:srgbClr val="8A90BD"/>
              </a:solidFill>
              <a:effectLst/>
            </c:spPr>
            <c:extLst>
              <c:ext xmlns:c16="http://schemas.microsoft.com/office/drawing/2014/chart" uri="{C3380CC4-5D6E-409C-BE32-E72D297353CC}">
                <c16:uniqueId val="{00000005-2B30-A947-9233-95995F986ECA}"/>
              </c:ext>
            </c:extLst>
          </c:dPt>
          <c:dPt>
            <c:idx val="3"/>
            <c:invertIfNegative val="0"/>
            <c:bubble3D val="0"/>
            <c:spPr>
              <a:solidFill>
                <a:srgbClr val="8A90BD"/>
              </a:solidFill>
              <a:effectLst/>
            </c:spPr>
            <c:extLst>
              <c:ext xmlns:c16="http://schemas.microsoft.com/office/drawing/2014/chart" uri="{C3380CC4-5D6E-409C-BE32-E72D297353CC}">
                <c16:uniqueId val="{00000007-2B30-A947-9233-95995F986ECA}"/>
              </c:ext>
            </c:extLst>
          </c:dPt>
          <c:dPt>
            <c:idx val="4"/>
            <c:invertIfNegative val="0"/>
            <c:bubble3D val="0"/>
            <c:spPr>
              <a:solidFill>
                <a:srgbClr val="E5484D"/>
              </a:solidFill>
              <a:effectLst/>
            </c:spPr>
            <c:extLst>
              <c:ext xmlns:c16="http://schemas.microsoft.com/office/drawing/2014/chart" uri="{C3380CC4-5D6E-409C-BE32-E72D297353CC}">
                <c16:uniqueId val="{00000009-2B30-A947-9233-95995F986ECA}"/>
              </c:ext>
            </c:extLst>
          </c:dPt>
          <c:dLbls>
            <c:numFmt formatCode="#,##0" sourceLinked="0"/>
            <c:spPr>
              <a:noFill/>
              <a:ln>
                <a:noFill/>
              </a:ln>
              <a:effectLst/>
            </c:spPr>
            <c:txPr>
              <a:bodyPr/>
              <a:lstStyle/>
              <a:p>
                <a:pPr>
                  <a:defRPr sz="1400" b="0" i="0" u="none" strike="noStrike">
                    <a:solidFill>
                      <a:srgbClr val="1B16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−4</c:v>
                </c:pt>
                <c:pt idx="1">
                  <c:v>−2</c:v>
                </c:pt>
                <c:pt idx="2">
                  <c:v>0</c:v>
                </c:pt>
                <c:pt idx="3">
                  <c:v>+2</c:v>
                </c:pt>
                <c:pt idx="4">
                  <c:v>+6</c:v>
                </c:pt>
              </c:strCache>
            </c:strRef>
          </c:cat>
          <c:val>
            <c:numRef>
              <c:f>Sheet1!$B$2:$B$6</c:f>
              <c:numCache>
                <c:formatCode>General</c:formatCode>
                <c:ptCount val="5"/>
                <c:pt idx="0">
                  <c:v>4</c:v>
                </c:pt>
                <c:pt idx="1">
                  <c:v>6</c:v>
                </c:pt>
                <c:pt idx="2">
                  <c:v>12</c:v>
                </c:pt>
                <c:pt idx="3">
                  <c:v>8</c:v>
                </c:pt>
                <c:pt idx="4">
                  <c:v>2</c:v>
                </c:pt>
              </c:numCache>
            </c:numRef>
          </c:val>
          <c:extLst>
            <c:ext xmlns:c16="http://schemas.microsoft.com/office/drawing/2014/chart" uri="{C3380CC4-5D6E-409C-BE32-E72D297353CC}">
              <c16:uniqueId val="{0000000A-2B30-A947-9233-95995F986EC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1300" b="0" i="0" u="none" strike="noStrike">
                    <a:solidFill>
                      <a:srgbClr val="1B1646"/>
                    </a:solidFill>
                    <a:latin typeface="Arial"/>
                  </a:defRPr>
                </a:pPr>
                <a:r>
                  <a:rPr lang="en-US" sz="1300" b="0" i="0" u="none" strike="noStrike">
                    <a:solidFill>
                      <a:srgbClr val="1B1646"/>
                    </a:solidFill>
                    <a:latin typeface="Arial"/>
                  </a:rPr>
                  <a:t>Energy of H_C</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646"/>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D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1646"/>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646"/>
                </a:solidFill>
                <a:latin typeface="+mn-lt"/>
              </a:defRPr>
            </a:pPr>
            <a:r>
              <a:rPr lang="en-US" sz="1400" b="0" i="0" u="none" strike="noStrike">
                <a:solidFill>
                  <a:srgbClr val="1B1646"/>
                </a:solidFill>
                <a:latin typeface="+mn-lt"/>
              </a:rPr>
              <a:t>Probability (%)</a:t>
            </a:r>
          </a:p>
        </c:rich>
      </c:tx>
      <c:overlay val="0"/>
    </c:title>
    <c:autoTitleDeleted val="0"/>
    <c:plotArea>
      <c:layout/>
      <c:barChart>
        <c:barDir val="col"/>
        <c:grouping val="clustered"/>
        <c:varyColors val="0"/>
        <c:ser>
          <c:idx val="0"/>
          <c:order val="0"/>
          <c:tx>
            <c:strRef>
              <c:f>Sheet1!$B$1</c:f>
              <c:strCache>
                <c:ptCount val="1"/>
                <c:pt idx="0">
                  <c:v>Start</c:v>
                </c:pt>
              </c:strCache>
            </c:strRef>
          </c:tx>
          <c:spPr>
            <a:solidFill>
              <a:srgbClr val="8A90BD"/>
            </a:solidFill>
            <a:effectLst/>
          </c:spPr>
          <c:invertIfNegative val="0"/>
          <c:cat>
            <c:strRef>
              <c:f>Sheet1!$A$2:$A$5</c:f>
              <c:strCache>
                <c:ptCount val="4"/>
                <c:pt idx="0">
                  <c:v>00</c:v>
                </c:pt>
                <c:pt idx="1">
                  <c:v>01</c:v>
                </c:pt>
                <c:pt idx="2">
                  <c:v>10</c:v>
                </c:pt>
                <c:pt idx="3">
                  <c:v>11</c:v>
                </c:pt>
              </c:strCache>
            </c:strRef>
          </c:cat>
          <c:val>
            <c:numRef>
              <c:f>Sheet1!$B$2:$B$5</c:f>
              <c:numCache>
                <c:formatCode>General</c:formatCode>
                <c:ptCount val="4"/>
                <c:pt idx="0">
                  <c:v>25</c:v>
                </c:pt>
                <c:pt idx="1">
                  <c:v>25</c:v>
                </c:pt>
                <c:pt idx="2">
                  <c:v>25</c:v>
                </c:pt>
                <c:pt idx="3">
                  <c:v>25</c:v>
                </c:pt>
              </c:numCache>
            </c:numRef>
          </c:val>
          <c:extLst>
            <c:ext xmlns:c16="http://schemas.microsoft.com/office/drawing/2014/chart" uri="{C3380CC4-5D6E-409C-BE32-E72D297353CC}">
              <c16:uniqueId val="{00000000-7CBF-0341-B9ED-843F087E1F3A}"/>
            </c:ext>
          </c:extLst>
        </c:ser>
        <c:ser>
          <c:idx val="1"/>
          <c:order val="1"/>
          <c:tx>
            <c:strRef>
              <c:f>Sheet1!$C$1</c:f>
              <c:strCache>
                <c:ptCount val="1"/>
                <c:pt idx="0">
                  <c:v>After one layer</c:v>
                </c:pt>
              </c:strCache>
            </c:strRef>
          </c:tx>
          <c:spPr>
            <a:solidFill>
              <a:srgbClr val="1FB5A6"/>
            </a:solidFill>
            <a:effectLst/>
          </c:spPr>
          <c:invertIfNegative val="0"/>
          <c:cat>
            <c:strRef>
              <c:f>Sheet1!$A$2:$A$5</c:f>
              <c:strCache>
                <c:ptCount val="4"/>
                <c:pt idx="0">
                  <c:v>00</c:v>
                </c:pt>
                <c:pt idx="1">
                  <c:v>01</c:v>
                </c:pt>
                <c:pt idx="2">
                  <c:v>10</c:v>
                </c:pt>
                <c:pt idx="3">
                  <c:v>11</c:v>
                </c:pt>
              </c:strCache>
            </c:strRef>
          </c:cat>
          <c:val>
            <c:numRef>
              <c:f>Sheet1!$C$2:$C$5</c:f>
              <c:numCache>
                <c:formatCode>General</c:formatCode>
                <c:ptCount val="4"/>
                <c:pt idx="0">
                  <c:v>0</c:v>
                </c:pt>
                <c:pt idx="1">
                  <c:v>50</c:v>
                </c:pt>
                <c:pt idx="2">
                  <c:v>50</c:v>
                </c:pt>
                <c:pt idx="3">
                  <c:v>0</c:v>
                </c:pt>
              </c:numCache>
            </c:numRef>
          </c:val>
          <c:extLst>
            <c:ext xmlns:c16="http://schemas.microsoft.com/office/drawing/2014/chart" uri="{C3380CC4-5D6E-409C-BE32-E72D297353CC}">
              <c16:uniqueId val="{00000001-7CBF-0341-B9ED-843F087E1F3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646"/>
                </a:solidFill>
                <a:latin typeface="Arial"/>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6350" cap="flat">
              <a:solidFill>
                <a:srgbClr val="D9D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164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646"/>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B1646"/>
                </a:solidFill>
                <a:latin typeface="+mn-lt"/>
              </a:defRPr>
            </a:pPr>
            <a:r>
              <a:rPr lang="en-US" sz="1600" b="0" i="0" u="none" strike="noStrike">
                <a:solidFill>
                  <a:srgbClr val="1B1646"/>
                </a:solidFill>
                <a:latin typeface="+mn-lt"/>
              </a:rPr>
              <a:t>Cost ⟨H_C⟩ (lower is better)</a:t>
            </a:r>
          </a:p>
        </c:rich>
      </c:tx>
      <c:overlay val="0"/>
    </c:title>
    <c:autoTitleDeleted val="0"/>
    <c:plotArea>
      <c:layout/>
      <c:barChart>
        <c:barDir val="col"/>
        <c:grouping val="clustered"/>
        <c:varyColors val="0"/>
        <c:ser>
          <c:idx val="0"/>
          <c:order val="0"/>
          <c:tx>
            <c:strRef>
              <c:f>Sheet1!$B$1</c:f>
              <c:strCache>
                <c:ptCount val="1"/>
                <c:pt idx="0">
                  <c:v>Energy</c:v>
                </c:pt>
              </c:strCache>
            </c:strRef>
          </c:tx>
          <c:spPr>
            <a:solidFill>
              <a:srgbClr val="8A90BD"/>
            </a:solidFill>
            <a:effectLst/>
          </c:spPr>
          <c:invertIfNegative val="0"/>
          <c:dPt>
            <c:idx val="0"/>
            <c:invertIfNegative val="0"/>
            <c:bubble3D val="0"/>
            <c:extLst>
              <c:ext xmlns:c16="http://schemas.microsoft.com/office/drawing/2014/chart" uri="{C3380CC4-5D6E-409C-BE32-E72D297353CC}">
                <c16:uniqueId val="{00000001-70CA-0148-B227-9DD3F1C8997C}"/>
              </c:ext>
            </c:extLst>
          </c:dPt>
          <c:dPt>
            <c:idx val="1"/>
            <c:invertIfNegative val="0"/>
            <c:bubble3D val="0"/>
            <c:spPr>
              <a:solidFill>
                <a:srgbClr val="6A4FE0"/>
              </a:solidFill>
              <a:effectLst/>
            </c:spPr>
            <c:extLst>
              <c:ext xmlns:c16="http://schemas.microsoft.com/office/drawing/2014/chart" uri="{C3380CC4-5D6E-409C-BE32-E72D297353CC}">
                <c16:uniqueId val="{00000003-70CA-0148-B227-9DD3F1C8997C}"/>
              </c:ext>
            </c:extLst>
          </c:dPt>
          <c:dPt>
            <c:idx val="2"/>
            <c:invertIfNegative val="0"/>
            <c:bubble3D val="0"/>
            <c:spPr>
              <a:solidFill>
                <a:srgbClr val="1FB5A6"/>
              </a:solidFill>
              <a:effectLst/>
            </c:spPr>
            <c:extLst>
              <c:ext xmlns:c16="http://schemas.microsoft.com/office/drawing/2014/chart" uri="{C3380CC4-5D6E-409C-BE32-E72D297353CC}">
                <c16:uniqueId val="{00000005-70CA-0148-B227-9DD3F1C8997C}"/>
              </c:ext>
            </c:extLst>
          </c:dPt>
          <c:dLbls>
            <c:numFmt formatCode="0.00" sourceLinked="0"/>
            <c:spPr>
              <a:noFill/>
              <a:ln>
                <a:noFill/>
              </a:ln>
              <a:effectLst/>
            </c:spPr>
            <c:txPr>
              <a:bodyPr/>
              <a:lstStyle/>
              <a:p>
                <a:pPr>
                  <a:defRPr sz="1400" b="0" i="0" u="none" strike="noStrike">
                    <a:solidFill>
                      <a:srgbClr val="1B16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Random guess</c:v>
                </c:pt>
                <c:pt idx="1">
                  <c:v>QAOA on hardware</c:v>
                </c:pt>
                <c:pt idx="2">
                  <c:v>Ground state</c:v>
                </c:pt>
              </c:strCache>
            </c:strRef>
          </c:cat>
          <c:val>
            <c:numRef>
              <c:f>Sheet1!$B$2:$B$4</c:f>
              <c:numCache>
                <c:formatCode>General</c:formatCode>
                <c:ptCount val="3"/>
                <c:pt idx="0">
                  <c:v>0</c:v>
                </c:pt>
                <c:pt idx="1">
                  <c:v>-2.04</c:v>
                </c:pt>
                <c:pt idx="2">
                  <c:v>-4</c:v>
                </c:pt>
              </c:numCache>
            </c:numRef>
          </c:val>
          <c:extLst>
            <c:ext xmlns:c16="http://schemas.microsoft.com/office/drawing/2014/chart" uri="{C3380CC4-5D6E-409C-BE32-E72D297353CC}">
              <c16:uniqueId val="{00000006-70CA-0148-B227-9DD3F1C8997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646"/>
                </a:solidFill>
                <a:latin typeface="+mn-lt"/>
              </a:defRPr>
            </a:pPr>
            <a:endParaRPr lang="en-US"/>
          </a:p>
        </c:txPr>
        <c:crossAx val="2094734552"/>
        <c:crosses val="autoZero"/>
        <c:auto val="1"/>
        <c:lblAlgn val="ctr"/>
        <c:lblOffset val="100"/>
        <c:noMultiLvlLbl val="1"/>
      </c:catAx>
      <c:valAx>
        <c:axId val="2094734552"/>
        <c:scaling>
          <c:orientation val="minMax"/>
          <c:max val="1"/>
          <c:min val="-5"/>
        </c:scaling>
        <c:delete val="0"/>
        <c:axPos val="l"/>
        <c:majorGridlines>
          <c:spPr>
            <a:ln w="6350" cap="flat">
              <a:solidFill>
                <a:srgbClr val="D9D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1646"/>
                </a:solidFill>
                <a:latin typeface="+mn-lt"/>
              </a:defRPr>
            </a:pPr>
            <a:endParaRPr lang="en-US"/>
          </a:p>
        </c:txPr>
        <c:crossAx val="209473455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B1646"/>
                </a:solidFill>
                <a:latin typeface="+mn-lt"/>
              </a:defRPr>
            </a:pPr>
            <a:r>
              <a:rPr lang="en-US" sz="1600" b="0" i="0" u="none" strike="noStrike">
                <a:solidFill>
                  <a:srgbClr val="1B1646"/>
                </a:solidFill>
                <a:latin typeface="+mn-lt"/>
              </a:rPr>
              <a:t>Top 8 bitstrings (node order) and their cut size</a:t>
            </a:r>
          </a:p>
        </c:rich>
      </c:tx>
      <c:overlay val="0"/>
    </c:title>
    <c:autoTitleDeleted val="0"/>
    <c:plotArea>
      <c:layout/>
      <c:barChart>
        <c:barDir val="col"/>
        <c:grouping val="clustered"/>
        <c:varyColors val="0"/>
        <c:ser>
          <c:idx val="0"/>
          <c:order val="0"/>
          <c:tx>
            <c:strRef>
              <c:f>Sheet1!$B$1</c:f>
              <c:strCache>
                <c:ptCount val="1"/>
                <c:pt idx="0">
                  <c:v>Probability</c:v>
                </c:pt>
              </c:strCache>
            </c:strRef>
          </c:tx>
          <c:spPr>
            <a:solidFill>
              <a:srgbClr val="6A4FE0"/>
            </a:solidFill>
            <a:effectLst/>
          </c:spPr>
          <c:invertIfNegative val="0"/>
          <c:dPt>
            <c:idx val="0"/>
            <c:invertIfNegative val="0"/>
            <c:bubble3D val="0"/>
            <c:extLst>
              <c:ext xmlns:c16="http://schemas.microsoft.com/office/drawing/2014/chart" uri="{C3380CC4-5D6E-409C-BE32-E72D297353CC}">
                <c16:uniqueId val="{00000001-641B-9049-AC5D-1F7B6D22DC1A}"/>
              </c:ext>
            </c:extLst>
          </c:dPt>
          <c:dPt>
            <c:idx val="1"/>
            <c:invertIfNegative val="0"/>
            <c:bubble3D val="0"/>
            <c:extLst>
              <c:ext xmlns:c16="http://schemas.microsoft.com/office/drawing/2014/chart" uri="{C3380CC4-5D6E-409C-BE32-E72D297353CC}">
                <c16:uniqueId val="{00000003-641B-9049-AC5D-1F7B6D22DC1A}"/>
              </c:ext>
            </c:extLst>
          </c:dPt>
          <c:dPt>
            <c:idx val="2"/>
            <c:invertIfNegative val="0"/>
            <c:bubble3D val="0"/>
            <c:extLst>
              <c:ext xmlns:c16="http://schemas.microsoft.com/office/drawing/2014/chart" uri="{C3380CC4-5D6E-409C-BE32-E72D297353CC}">
                <c16:uniqueId val="{00000005-641B-9049-AC5D-1F7B6D22DC1A}"/>
              </c:ext>
            </c:extLst>
          </c:dPt>
          <c:dPt>
            <c:idx val="3"/>
            <c:invertIfNegative val="0"/>
            <c:bubble3D val="0"/>
            <c:extLst>
              <c:ext xmlns:c16="http://schemas.microsoft.com/office/drawing/2014/chart" uri="{C3380CC4-5D6E-409C-BE32-E72D297353CC}">
                <c16:uniqueId val="{00000007-641B-9049-AC5D-1F7B6D22DC1A}"/>
              </c:ext>
            </c:extLst>
          </c:dPt>
          <c:dPt>
            <c:idx val="4"/>
            <c:invertIfNegative val="0"/>
            <c:bubble3D val="0"/>
            <c:spPr>
              <a:solidFill>
                <a:srgbClr val="8A90BD"/>
              </a:solidFill>
              <a:effectLst/>
            </c:spPr>
            <c:extLst>
              <c:ext xmlns:c16="http://schemas.microsoft.com/office/drawing/2014/chart" uri="{C3380CC4-5D6E-409C-BE32-E72D297353CC}">
                <c16:uniqueId val="{00000009-641B-9049-AC5D-1F7B6D22DC1A}"/>
              </c:ext>
            </c:extLst>
          </c:dPt>
          <c:dPt>
            <c:idx val="5"/>
            <c:invertIfNegative val="0"/>
            <c:bubble3D val="0"/>
            <c:spPr>
              <a:solidFill>
                <a:srgbClr val="8A90BD"/>
              </a:solidFill>
              <a:effectLst/>
            </c:spPr>
            <c:extLst>
              <c:ext xmlns:c16="http://schemas.microsoft.com/office/drawing/2014/chart" uri="{C3380CC4-5D6E-409C-BE32-E72D297353CC}">
                <c16:uniqueId val="{0000000B-641B-9049-AC5D-1F7B6D22DC1A}"/>
              </c:ext>
            </c:extLst>
          </c:dPt>
          <c:dPt>
            <c:idx val="6"/>
            <c:invertIfNegative val="0"/>
            <c:bubble3D val="0"/>
            <c:spPr>
              <a:solidFill>
                <a:srgbClr val="8A90BD"/>
              </a:solidFill>
              <a:effectLst/>
            </c:spPr>
            <c:extLst>
              <c:ext xmlns:c16="http://schemas.microsoft.com/office/drawing/2014/chart" uri="{C3380CC4-5D6E-409C-BE32-E72D297353CC}">
                <c16:uniqueId val="{0000000D-641B-9049-AC5D-1F7B6D22DC1A}"/>
              </c:ext>
            </c:extLst>
          </c:dPt>
          <c:dPt>
            <c:idx val="7"/>
            <c:invertIfNegative val="0"/>
            <c:bubble3D val="0"/>
            <c:spPr>
              <a:solidFill>
                <a:srgbClr val="8A90BD"/>
              </a:solidFill>
              <a:effectLst/>
            </c:spPr>
            <c:extLst>
              <c:ext xmlns:c16="http://schemas.microsoft.com/office/drawing/2014/chart" uri="{C3380CC4-5D6E-409C-BE32-E72D297353CC}">
                <c16:uniqueId val="{0000000F-641B-9049-AC5D-1F7B6D22DC1A}"/>
              </c:ext>
            </c:extLst>
          </c:dPt>
          <c:dLbls>
            <c:numFmt formatCode="0.0%" sourceLinked="0"/>
            <c:spPr>
              <a:noFill/>
              <a:ln>
                <a:noFill/>
              </a:ln>
              <a:effectLst/>
            </c:spPr>
            <c:txPr>
              <a:bodyPr/>
              <a:lstStyle/>
              <a:p>
                <a:pPr>
                  <a:defRPr sz="1200" b="0" i="0" u="none" strike="noStrike">
                    <a:solidFill>
                      <a:srgbClr val="1B16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00101 (5)</c:v>
                </c:pt>
                <c:pt idx="1">
                  <c:v>11010 (5)</c:v>
                </c:pt>
                <c:pt idx="2">
                  <c:v>01101 (5)</c:v>
                </c:pt>
                <c:pt idx="3">
                  <c:v>10010 (5)</c:v>
                </c:pt>
                <c:pt idx="4">
                  <c:v>01011 (4)</c:v>
                </c:pt>
                <c:pt idx="5">
                  <c:v>10100 (4)</c:v>
                </c:pt>
                <c:pt idx="6">
                  <c:v>10101 (4)</c:v>
                </c:pt>
                <c:pt idx="7">
                  <c:v>01001 (4)</c:v>
                </c:pt>
              </c:strCache>
            </c:strRef>
          </c:cat>
          <c:val>
            <c:numRef>
              <c:f>Sheet1!$B$2:$B$9</c:f>
              <c:numCache>
                <c:formatCode>General</c:formatCode>
                <c:ptCount val="8"/>
                <c:pt idx="0">
                  <c:v>9.7299999999999998E-2</c:v>
                </c:pt>
                <c:pt idx="1">
                  <c:v>9.3200000000000005E-2</c:v>
                </c:pt>
                <c:pt idx="2">
                  <c:v>9.1399999999999995E-2</c:v>
                </c:pt>
                <c:pt idx="3">
                  <c:v>8.9899999999999994E-2</c:v>
                </c:pt>
                <c:pt idx="4">
                  <c:v>7.0000000000000007E-2</c:v>
                </c:pt>
                <c:pt idx="5">
                  <c:v>6.6500000000000004E-2</c:v>
                </c:pt>
                <c:pt idx="6">
                  <c:v>3.9800000000000002E-2</c:v>
                </c:pt>
                <c:pt idx="7">
                  <c:v>3.9E-2</c:v>
                </c:pt>
              </c:numCache>
            </c:numRef>
          </c:val>
          <c:extLst>
            <c:ext xmlns:c16="http://schemas.microsoft.com/office/drawing/2014/chart" uri="{C3380CC4-5D6E-409C-BE32-E72D297353CC}">
              <c16:uniqueId val="{00000010-641B-9049-AC5D-1F7B6D22DC1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1B1646"/>
                </a:solidFill>
                <a:latin typeface="+mn-lt"/>
              </a:defRPr>
            </a:pPr>
            <a:endParaRPr lang="en-US"/>
          </a:p>
        </c:txPr>
        <c:crossAx val="2094734552"/>
        <c:crosses val="autoZero"/>
        <c:auto val="1"/>
        <c:lblAlgn val="ctr"/>
        <c:lblOffset val="100"/>
        <c:noMultiLvlLbl val="1"/>
      </c:catAx>
      <c:valAx>
        <c:axId val="2094734552"/>
        <c:scaling>
          <c:orientation val="minMax"/>
          <c:max val="0.12"/>
          <c:min val="0"/>
        </c:scaling>
        <c:delete val="0"/>
        <c:axPos val="l"/>
        <c:majorGridlines>
          <c:spPr>
            <a:ln w="6350" cap="flat">
              <a:solidFill>
                <a:srgbClr val="D9DC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1646"/>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0426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lecture assumes nothing: we start with what an optimization problem is and end with a 100-qubit run on IBM hardware. The graph on the right is the running example for the whole lecture: five nodes and six edges, exactly the graph used in the IBM tutorial notebook. Colors show the best split we will find later: teal nodes in one group, amber in the other, red edges are the ones the split cuts.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outcomes aloud. The first three come straight from the IBM tutorial; the fourth is our addition so that nobody is lost. At the end of the lecture, return to this slide and ask students to self-assess against each outcome.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lecture time is about two hours fifteen minutes, so it fits one long session or splits into two: Parts A and B, then Parts C and D. This core deck omits the code walk-through, glossary and extra concept slides, which live in the full deck. Parts A and B can be shortened for audiences that already know the material; skim them rather than skip them, because later slides refer back to the notation.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whole story in two minutes before any detail, so students always know where each later topic fits. The question is the Max-Cut problem. The landscape is the energy of every bitstring; we will build it properly in Part C. The quantum circuit is the QAOA ansatz: it does not look at one answer at a time, it prepares a probability distribution over all answers and we tune two kinds of angles so that distribution favors good answers. Measuring samples from it. The fog analogy matters because it sets the right expectation: QAOA is a heuristic that raises the odds, it does not guarantee the best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Classical foundations. Optimization problems, why some are hard, what NP-hard means, and the Max-Cut problem we will solve. Plan about 25 minutes. Use this slide to pause, check questions from the previous part, and say what students should be able to do by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everyday intuition. An optimization problem is: choose the best option according to a score. The IBM notebook mentions delivery routes and resource allocation as sustainability examples. Max-Cut, our example, is a clean stand-in: it has the same structure (many yes/no choices, one score) without application details.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extra yes/no choice doubles the number of candidates. Fifty choices already give about 1.1 times ten to the fifteenth candidates; at one billion checks per second that is about 13 days. A hundred choices give about 1.3 times ten to the thirtieth, which is about 4 times ten to the thirteenth years at the same speed. Note the log scale: each gridline is a factor of 10 or more, so the bars hide how fast the growth really is. This is exactly why the notebook can brute-force its 5-node graph (32 candidates) but not the 100-node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plain language. P: problems a computer solves in reasonable time as inputs grow. NP: problems where, if someone hands you an answer, you can verify it quickly; verifying a cut just means counting crossing edges. NP-hard: at least as hard as everything in NP; if you could solve one NP-hard problem fast, you could solve all of NP fast. Max-Cut is NP-hard, and its yes/no version ('is there a cut of size at least k?') is NP-complete, one of Karp's original 21 problems. Whether P equals NP is open, and most researchers believe it does not. Important: NP-hard does not mean every instance is hard, and it does not mean quantum computers solve it quickly; it means no known fast exact method for the general case.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graph vocabulary using the picture. Nodes 0, 1, 2 form a triangle; nodes 0, 2, 3, 4 form a four-sided loop that shares the edge (0,2) with the triangle. This is the exact graph used in the IBM notebook, so every number later in the lecture can be checked against the notebook output. Ask students to find the triangle; it will matter in two slides.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precisely. The picture shows one possible split: node 0 alone in one group, everyone else in the other. Three edges touch node 0, so the cut has size 3. Ask the room: can you find a split that cuts more? Give them 30 seconds before moving on. Applications named in the notebook: clustering, network science and statistical physics.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classical objective. Walk the truth table: when both bits are equal the term is 0; when they differ it is 1. So the sum over all edges counts exactly the edges that cross the split. Maximizing C(x) over all bitstrings x is the Max-Cut problem. The notebook writes it as max over x in {0,1}^n of the sum of x_i + x_j minus 2 x_i x_j.</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objective on the bitstring from the notebook result, x = (0,0,1,0,1). Edge by edge: (0,1) has equal bits so it is not cut; the other five edges are cut, so C = 5. Why can't we do better? Nodes 0, 1, 2 form a triangle, and any two-group split must leave at least one triangle edge uncut. So 5 is optimal. A brute-force check (verified in preparing these slides) finds exactly four bitstrings with cut 5: 00101 and its mirror 11010, and 01101 and its mirror 10010. Swapping the two groups never changes the cut, so optimal solutions always come in mirror pairs.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for two to four minutes. Ask students to answer in writing first, then discuss in pairs, then take answers from the room. Answers: 1) 2, because the other 7 − 5 edges stay inside a group. 2) There are 2^100, about 1.3 × 10^30, splits; no computer can check them all. 3) No. It means no known algorithm is guaranteed to find the exact best answer quickly on every input, but good approximate answers are routinely found.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Quantum foundations. Qubits, measurement, gates, Pauli operators, Hamiltonians, expectation values, and the hybrid loop. Plan about 40 minutes. Use this slide to pause, check questions from the previous part, and say what students should be able to do by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 is a switch; a qubit is a dial that can sit between the two settings. The Bloch sphere is the standard picture: the north pole is |0&gt;, the south pole is |1&gt;, and every other point is a superposition. The point on the equator is |+&gt;, the equal blend (|0&gt; + |1&gt;)/sqrt(2), which is where QAOA starts. Avoid saying a qubit is 'both 0 and 1 at once' without qualification; the useful statement is that its state has two amplitudes, and measurement turns them into probabilities.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is probabilistic. For |+&gt;, each outcome has probability one half. If we measure 1,000 times, the count of zeros is random with standard deviation about sqrt(1000 x 0.25) = 16, so 500 plus or minus about 16. This explains two things that come back later: why the tutorial sets default_shots (1,000 for the optimization loop, 10,000 for the final sample), and why the cost curve is noisy.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quantum idea for QAOA. Classical probabilities only add. Amplitudes can be negative, so two routes to the same outcome can cancel. The diagram shows two routes with amplitude 0.5 each: when their signs agree the totals add to 1 and the probability is 1; when they differ the total is 0 and that outcome never happens. Algorithms are designed so that wrong answers cancel and right answers reinforce. Do not worry about complex numbers yet: negative numbers already show the idea. The next slides use this to explain how QAOA raises the probability of good cuts. The schematic is illustrative, not data.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a very common mistake. Qiskit prints bitstrings with qubit 0 on the right. The notebook converts the integer 20 to its binary form 10100 and then reverses the list, giving [0, 0, 1, 0, 1], so that list position equals node number. If students skip the reversal, they evaluate the mirror-image assignment of nodes and get confusing results on asymmetric graphs. Entanglement is mentioned only briefly: it is a property of multi-qubit states that cannot be written as independent single-qubit states.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Pauli operators from scratch: four small matrices, named after Wolfgang Pauli, that act on one qubit. I does nothing, X flips, Z attaches a sign, Y is a combination. We only need X and Z in this lecture. The key fact: Z has eigenvalue +1 on the state |0&gt; and eigenvalue -1 on the state |1&gt;. An eigenvalue is the number a state is multiplied by when the operator acts on it. So the Z operator turns the bit 0 into the number +1 and the bit 1 into -1, which is exactly the spin variable z = 1 - 2x we use to rewrite Max-Cut.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several qubits, a Pauli string says which operator acts on which qubit; the tensor product symbol is implied. Z on qubit i and Z on qubit j together, with the identity elsewhere, is written Z_i Z_j. Qiskit's text label lists qubit 4 first and qubit 0 last, so IIIZZ means Z on qubits 1 and 0, which in our graph is the edge between nodes 0 and 1. The table shows the whole idea of the encoding: if the two bits match, the product of the two spins is +1; if they differ it is -1. A cut edge therefore lowers the total by one, and uncut raises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Hamiltonian is simply an operator that tells us the energy of each state. Because our cost Hamiltonian is built only from Z operators, each bitstring is its own energy eigenstate and the energy is easy to compute: sum the +1 and -1 contributions of the six edges. Fewer cut edges means higher energy; more cut edges means lower energy. The all-zeros bitstring cuts nothing and has the highest energy of +6; the optimal cut has energy -4. Asking for the best cut is the same as asking for the ground state. This is the reason a quantum computer can in principle help: preparing low-energy states is a natural task for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expectation value is a weighted average of energies, weighted by the probability of each measurement outcome. We estimate it by sampling. The mini example is deliberately simple: a ZZ term measured on a state where 70 percent of shots give bits 01 (the bits differ so ZZ = -1) and 30 percent give 00 (ZZ = +1) has expectation -0.4. Also mention the baseline: in the uniform superposition, every edge is cut with probability one half, so each ZZ term averages 0, the total energy averages 0, and the average cut is |E|/2 = 3 for our six edges. That is the number QAOA must improve 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why the classical optimizer only needs one number. The energy ladder uses our 5-node graph: the highest energy is +6 (nothing cut), the lowest is -4 (a best cut), and uniform random guessing averages 0. Any state we can prepare has an average energy somewhere on this ladder, never below -4. So lowering the average moves us toward the ground state, which encodes the best cut. The hardware run in the notebook reached about -2.04, roughly half of the way from 0 to -4. This principle is called the variational principle and is the foundation of all variational quantum algorithms.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abstract Hamiltonians to gates. The exponential of a Pauli operator times an angle is a rotation. Qiskit's RX(theta) equals e to the minus i theta X over 2, so a mixer rotation of angle beta needs RX(2 beta). Similarly RZZ(theta) equals e to the minus i theta ZZ over 2, so a cost rotation of angle gamma on one edge needs RZZ(2 gamma). Because all the ZZ terms commute with each other, the whole cost layer is just one RZZ gate per edge, in any order. Do not belabor the matrix exponential; the takeaway is: cost layer = RZZ per edge, mixer layer = RX per qubit, and the angles are the tunable parameters.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Variational algorithms split the work: the quantum computer is good at evaluating a cost for a given circuit, and a classical computer is good at deciding what to try next. This loop is the heart of QAOA and of most near-term quantum algorithms. COBYLA stands for Constrained Optimization BY Linear Approximation; it does not need gradients, which is helpful because gradients are expensive to estimate on noisy hardware. The notebook notes that when noise swamps the improvement per step, even COBYLA can wander.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for two to four minutes. Ask students to answer in writing first, then discuss in pairs, then take answers from the room. Answers: 1) −1 (Z gives +1 for |0⟩ and −1 for |1⟩). 2) Qiskit puts qubit 0 on the right, so reverse the string: x0..x4 = 0, 0, 1, 0, 1. 3) Zero: the amplitudes add to 0 and the probability is the amplitude squared. 4) The average energy of any state is never below the ground energy, so a lower average means a state closer to the ground state, which encodes the best cut (the variational principle).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C: QAOA. From Max-Cut to the cost Hamiltonian, the five steps, and a worked example by hand. Plan about 45 minutes. Use this slide to pause, check questions from the previous part, and say what students should be able to do by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derivation, so give it time and write it on the board. Step 1 uses the notebook's substitution x_i becomes (1 minus Z_i) over 2; note it maps Z = +1 to bit 0. Step 2 plugs this into the edge term and simplifies; you can check it with the four-row truth table from earlier. Step 3 sums over edges and drops the constant |E|/2 because constants do not change which bitstring is best. Step 4 names the remaining sum H_C. Minimizing its expectation is the same as maximizing the cut. The notebook's general form has both quadratic and linear terms; for unweighted max-cut the linear coefficients vanish.</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recipe to the running example. Each edge becomes one ZZ term. The sparse labels in the table are exactly what the notebook prints for its cost Hamiltonian: IIIZZ, IIZIZ, ZIIIZ, IIZZI, IZZII, ZZIII. Have students decode one or two labels themselves, remembering that qubit 0 is the rightmost letter. For example ZIIIZ has Z on qubit 4 and qubit 0, which is the edge (0,4).</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makes the 'landscape' idea concrete. It was computed by brute force over the 32 bitstrings of the notebook's graph: 4 at energy -4, 6 at -2, 12 at 0, 8 at +2 and 2 at +6 (the two all-equal bitstrings). A uniform superposition samples each of the 32 equally, so its average energy is 0. Success for QAOA means moving probability mass to the left, towards -4. For large graphs we cannot draw this chart at all, which is why sampling and baselines matter.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next six slides; come back to it as a progress marker. The five steps are the standard decomposition of QAOA. In the Qiskit pattern of Part D, steps 1 to 4 are the Map step and step 5 is the Execute step.</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in code, taken from the notebook. First the graph is built with rustworkx: five nodes and six weighted edges. Then build_max_cut_paulis loops over the edges and creates a list of tuples ('ZZ', [i, j], weight), which is the sparse format that SparsePauliOp.from_sparse_list expects. For a weighted graph the coefficient is the edge weight; here every weight is 1.0. The printed output confirms the six Pauli strings we derived by hand on the previous slides.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mixer is what makes the circuit explore. If we only applied the cost layer, we would only change phases of the basis states and leave all measurement probabilities unchanged. The X mixer turns phase differences into probability differences. In the standard version, the mixer is the sum of X on every qubit, and its exponential is one RX(2 beta) gate per qubit. The notebook does not build this by hand: QAOAAnsatz adds the standard mixer automatically.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state is an unbiased guess: every bitstring is equally likely. With 5 qubits that is 32 bitstrings, each at 1/32 or about 3.1 percent. The average cut under this distribution is 3, and the chance of hitting one of the four optimal bitstrings is 4/32 = 12.5 percent. Those are the numbers to beat. The notebook describes the initial state as H tensor n applied to |0&gt;, which is this circuit.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ansatz alternates the problem layer and the mixer layer. Each repetition has two angles, gamma and beta, so p repetitions give 2p parameters. In the notebook, reps = 2 gives the four parameters beta[0], beta[1], gamma[0], gamma[1]. QAOAAnsatz builds all of this from the cost operator; measure_all adds the final measurements so the Sampler can read bitstrings. Stress the trade-off: more layers can in principle approximate better, but each layer deepens the circuit, and on real hardware depth means accumulated noise.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quantum computer's only job in the loop is to evaluate the cost for given angles. Because every ZZ term is diagonal in the computational basis, the terms commute and can be estimated from the same measurement shots; the Estimator handles the bookkeeping. After the optimizer converges, we use the best angles to produce a final circuit and sample bitstrings from it; the best sampled bitstring is our answer.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start state gives all bitstrings the same probability. The cost layer does not change any probability; it multiplies each bitstring's amplitude by a phase that depends on its energy, shown here as colour tags. On its own that is invisible to a measurement. The mixer layer then recombines amplitudes, and because phases decide whether routes reinforce or cancel, the colour tags turn into probability differences: low-energy bitstrings gain, high-energy ones lose. Real circuits repeat this pair p times with tuned angles. The heights here are schematic, not computed from the notebook.</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smallest complete QAOA run we can follow with our own eyes. One edge between two nodes gives H_C = Z0 Z1. The bitstrings 01 and 10 put the nodes in different groups, so the edge is cut and the energy is -1; 00 and 11 leave the edge uncut and the energy is +1. We use one layer with gamma = pi/4 and beta = 3 pi/8, which I chose (by simulating) because they happen to send all probability to the cut bitstrings. For a bigger graph the optimizer has to search for such angles. Students can check these numbers with a few lines of numpy or a 2-qubit simulator.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left to right. Start: all four bitstrings have probability 25 percent. Cost layer: the phase attached to each bitstring depends only on its energy, here minus 45 degrees for the uncut bitstrings and plus 45 degrees for the cut ones; this does not change any probability. Mixer layer: each qubit is rotated by RX(2 beta); amplitudes recombine, and because of the phase pattern the amplitudes of 00 and 11 cancel while those of 01 and 10 add. The result is 50 percent on each cut bitstring. The numbers come from an exact two-qubit simulation. The extra example with gamma = pi/8 gives probabilities of about 7 percent on the uncut and 43 percent on the cut bitstrings and an average energy of -0.71, showing that the angles matter. This is the same mechanism the schematic slide showed, now with real numbers.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angles, two jobs. Gamma controls the cost layer: how much the energy of each bitstring changes its phase. Too small and nothing distinguishes good from bad; too large and the phases wrap around so the pattern is scrambled. Beta controls the mixer: how far each qubit is rotated. RX(2 beta) at beta = pi/2 is a full flip of the qubit up to a phase, at beta = 0 it does nothing. The landscape over these angles is bumpy, so the starting values matter, and the notebook starts from the midpoints of the periodic ranges rather than from any special values.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intuition slide; no equations needed. The cost layer tags each bitstring with a phase that depends on its energy, but phases alone are invisible to measurement. The mixer then makes the different bitstring amplitudes interfere, turning the phase pattern into a probability pattern. Tuning the angles steers that interference toward low-energy bitstrings. A theoretical limit of many layers connects QAOA to adiabatic quantum computing, but hardware noise caps the number of layers we can use. Be honest that QAOA is a heuristic: it has not been shown to beat the best classical solvers for Max-Cut.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for two to four minutes. Ask students to answer in writing first, then discuss in pairs, then take answers from the room. Answers: 1) Energy = |E| − 2 × cut = 6 − 8 = −2. 2) 2p = 6 angles (three betas and three gammas). 3) Only the phases; probabilities are unchanged until the mixer acts. 4) It makes the different bitstring amplitudes interfere, which turns the energy-dependent phases into probability differences. Without it, nothing would move between bitstrings.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 Qiskit pattern on hardware. Map, Optimize, Execute, Post-process: first on the 5-node graph, then on a 100-qubit problem. Plan about 25 minutes. Use this slide to pause, check questions from the previous part, and say what students should be able to do by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Qiskit pattern is a general four-step recipe for running a problem on a quantum computer, not something specific to QAOA. Map the problem to circuits and operators; Optimize those for the target hardware; Execute with the primitives; Post-process the results into the answer. The notebook headings follow this exactly, and the second half of the notebook repeats the same four steps at 100-node scale. Mapping to QAOA is what Parts B and C covered.</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behind transpilation. The abstract QAOA circuit has an RZZ gate for every edge of the graph, between whichever two qubits the edge connects. Hardware only allows two-qubit gates between neighbouring qubits, so the transpiler moves information around with SWAP gates, each of which is itself three two-qubit gates, and every extra gate adds noise. It also converts gates into the device's native gate set and chooses which physical qubit holds which logical qubit. The 100-node problem in the notebook is built from the device's coupling map, which is exactly why it avoids the swap overhead. The diagram is a toy, not a real device layout.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three levels of the cost. A random guess (uniform superposition) has expectation 0. The hardware run reached about -2.04 after 36 cost evaluations, and the best possible, the ground state, is -4. So QAOA with two layers on real hardware recovered about half of the available energy gap; hardware noise and the shallow circuit both limit this. The convergence plot in the notebook should fall and flatten; students should learn to recognize a healthy curve and the three usual suspects when it is noisy: too few shots (high estimator variance), a poor starting point, or a circuit whose depth is dominated by noise. The notebook explains that COBYLA, being derivative-free, copes with moderate noise but wanders when noise swamps the per-step improvement. The first bar is a baseline, not a measured optimizer start.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probabilities come from the notebook's printed hardware sample, converted from integers to node-order bitstrings (bit-reversed) and scored with the cut function; I verified every cut size by brute force. The top four, shown in purple, are exactly the four optimal cuts; the next four reach cut 4. The four optimal bitstrings together carry about 37 percent of the probability, roughly three times the 12.5 percent that uniform random sampling would give, even with a noisy device and a shallow circuit. Note also that no single bitstring dominates: the right habit is to sample many shots and keep the best-scoring one.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content with an honest summary. The notebook is a workflow demonstration. It shows that a problem can be mapped, compiled, run on more than 100 qubits, and post-processed, and that the sampled distribution can favor good cuts. It does not claim, and we should not claim, quantum advantage: classical solvers handle graphs of this size easily. Whether QAOA-style methods eventually help is an open research question, and the notebook's own suggested next steps point to advanced techniques for improving QAOA performance.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for two to four minutes. Ask students to answer in writing first, then discuss in pairs, then take answers from the room. Answers: 1) The chip supports only certain gates and connects each qubit to only a few neighbours, so the circuit must be rewritten, with swaps where needed. 2) The Estimator runs in the loop (it returns the average energy); the Sampler produces the final bitstrings. 3) Every edge was probably counted twice, because the coupling map lists each connection in both directions, so the true cut is about half. 4) Every extra gate adds noise, and errors compound with depth, so the extra layers can cost more accuracy than they gain.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five ideas and tie them back to the learning outcomes slide. Ask students to explain each bullet in one sentence to a neighbor.</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Exercises are ordered from paper to code to experiment. Solutions are in the lecture notes document. For the Run exercises, remember students need a backend: a local simulator is a fine substitute if hardware access is limited.</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five items are the notebook's own next steps and prerequisites. The last two are the original sources for QAOA and for the classical 0.878 approximation guarantee mentioned in Part A. Titles are given rather than links so they stay valid; search the title in IBM Quantum documentation.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1"/>
          </a:solidFill>
          <a:ln/>
        </p:spPr>
        <p:txBody>
          <a:bodyPr/>
          <a:lstStyle/>
          <a:p>
            <a:endParaRPr lang="en-US"/>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QAOA for Max-Cut  |  from first principles to a Qiskit pattern</a:t>
            </a:r>
            <a:endParaRPr lang="en-US" sz="1000" dirty="0"/>
          </a:p>
        </p:txBody>
      </p:sp>
      <p:sp>
        <p:nvSpPr>
          <p:cNvPr id="4" name="Text 2"/>
          <p:cNvSpPr>
            <a:spLocks noGrp="1"/>
          </p:cNvSpPr>
          <p:nvPr>
            <p:ph type="title" idx="102" hasCustomPrompt="1"/>
          </p:nvPr>
        </p:nvSpPr>
        <p:spPr>
          <a:xfrm>
            <a:off x="548640" y="365760"/>
            <a:ext cx="11064240" cy="82296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txBody>
          <a:bodyPr/>
          <a:lstStyle/>
          <a:p>
            <a:endParaRPr lang="en-US"/>
          </a:p>
        </p:txBody>
      </p:sp>
      <p:sp>
        <p:nvSpPr>
          <p:cNvPr id="3" name="Text 1"/>
          <p:cNvSpPr>
            <a:spLocks noGrp="1"/>
          </p:cNvSpPr>
          <p:nvPr>
            <p:ph type="title" idx="101" hasCustomPrompt="1"/>
          </p:nvPr>
        </p:nvSpPr>
        <p:spPr>
          <a:xfrm>
            <a:off x="731520" y="2331720"/>
            <a:ext cx="10698480" cy="11887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a:spLocks noGrp="1"/>
          </p:cNvSpPr>
          <p:nvPr>
            <p:ph type="title" idx="101" hasCustomPrompt="1"/>
          </p:nvPr>
        </p:nvSpPr>
        <p:spPr>
          <a:xfrm>
            <a:off x="548640" y="457200"/>
            <a:ext cx="11064240" cy="8229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71600"/>
            <a:ext cx="6675120" cy="2286000"/>
          </a:xfrm>
          <a:prstGeom prst="rect">
            <a:avLst/>
          </a:prstGeom>
          <a:noFill/>
          <a:ln/>
        </p:spPr>
        <p:txBody>
          <a:bodyPr wrap="square" lIns="0" tIns="0" rIns="0" bIns="0" rtlCol="0" anchor="t"/>
          <a:lstStyle/>
          <a:p>
            <a:pPr marL="0" indent="0">
              <a:buNone/>
            </a:pPr>
            <a:r>
              <a:rPr lang="en-US" sz="4200" b="1" dirty="0">
                <a:solidFill>
                  <a:schemeClr val="bg1"/>
                </a:solidFill>
                <a:latin typeface="Cambria" pitchFamily="34" charset="0"/>
                <a:ea typeface="Cambria" pitchFamily="34" charset="-122"/>
                <a:cs typeface="Cambria" pitchFamily="34" charset="-120"/>
              </a:rPr>
              <a:t>Quantum Approximate Optimization Algorithm (QAOA)</a:t>
            </a:r>
            <a:endParaRPr lang="en-US" sz="4200" dirty="0"/>
          </a:p>
        </p:txBody>
      </p:sp>
      <p:sp>
        <p:nvSpPr>
          <p:cNvPr id="3" name="Text 1"/>
          <p:cNvSpPr txBox="1"/>
          <p:nvPr/>
        </p:nvSpPr>
        <p:spPr>
          <a:xfrm>
            <a:off x="731520" y="3840480"/>
            <a:ext cx="6400800" cy="914400"/>
          </a:xfrm>
          <a:prstGeom prst="rect">
            <a:avLst/>
          </a:prstGeom>
          <a:noFill/>
          <a:ln/>
        </p:spPr>
        <p:txBody>
          <a:bodyPr wrap="square" lIns="0" tIns="0" rIns="0" bIns="0" rtlCol="0" anchor="t"/>
          <a:lstStyle/>
          <a:p>
            <a:pPr marL="0" indent="0">
              <a:buNone/>
            </a:pPr>
            <a:r>
              <a:rPr lang="en-US" sz="2200" dirty="0">
                <a:solidFill>
                  <a:schemeClr val="accent1"/>
                </a:solidFill>
              </a:rPr>
              <a:t>Max-Cut with a Qiskit pattern: 5-node Max-Cut example</a:t>
            </a:r>
            <a:endParaRPr lang="en-US" sz="2200" dirty="0"/>
          </a:p>
        </p:txBody>
      </p:sp>
      <p:sp>
        <p:nvSpPr>
          <p:cNvPr id="4" name="Text 2"/>
          <p:cNvSpPr txBox="1"/>
          <p:nvPr/>
        </p:nvSpPr>
        <p:spPr>
          <a:xfrm>
            <a:off x="731520" y="4937760"/>
            <a:ext cx="6400800" cy="457200"/>
          </a:xfrm>
          <a:prstGeom prst="rect">
            <a:avLst/>
          </a:prstGeom>
          <a:noFill/>
          <a:ln/>
        </p:spPr>
        <p:txBody>
          <a:bodyPr wrap="square" lIns="0" tIns="0" rIns="0" bIns="0" rtlCol="0" anchor="t"/>
          <a:lstStyle/>
          <a:p>
            <a:pPr marL="0" indent="0">
              <a:buNone/>
            </a:pPr>
            <a:r>
              <a:rPr lang="en-US" sz="1600" dirty="0">
                <a:solidFill>
                  <a:schemeClr val="accent6"/>
                </a:solidFill>
              </a:rPr>
              <a:t>Reference deck: five-node Max-Cut example.</a:t>
            </a:r>
            <a:endParaRPr lang="en-US" sz="1600" dirty="0"/>
          </a:p>
        </p:txBody>
      </p:sp>
      <p:sp>
        <p:nvSpPr>
          <p:cNvPr id="5" name="edge-0"/>
          <p:cNvSpPr/>
          <p:nvPr/>
        </p:nvSpPr>
        <p:spPr>
          <a:xfrm flipV="1">
            <a:off x="7406640" y="2011680"/>
            <a:ext cx="1920240" cy="1303020"/>
          </a:xfrm>
          <a:prstGeom prst="line">
            <a:avLst/>
          </a:prstGeom>
          <a:noFill/>
          <a:ln w="25400">
            <a:solidFill>
              <a:schemeClr val="accent6"/>
            </a:solidFill>
            <a:prstDash val="dash"/>
          </a:ln>
        </p:spPr>
        <p:txBody>
          <a:bodyPr/>
          <a:lstStyle/>
          <a:p>
            <a:endParaRPr lang="en-US"/>
          </a:p>
        </p:txBody>
      </p:sp>
      <p:sp>
        <p:nvSpPr>
          <p:cNvPr id="6" name="edge-1"/>
          <p:cNvSpPr/>
          <p:nvPr/>
        </p:nvSpPr>
        <p:spPr>
          <a:xfrm>
            <a:off x="9326880" y="2011680"/>
            <a:ext cx="0" cy="2743200"/>
          </a:xfrm>
          <a:prstGeom prst="line">
            <a:avLst/>
          </a:prstGeom>
          <a:noFill/>
          <a:ln w="50800">
            <a:solidFill>
              <a:schemeClr val="accent4"/>
            </a:solidFill>
            <a:prstDash val="solid"/>
          </a:ln>
        </p:spPr>
        <p:txBody>
          <a:bodyPr/>
          <a:lstStyle/>
          <a:p>
            <a:endParaRPr lang="en-US"/>
          </a:p>
        </p:txBody>
      </p:sp>
      <p:sp>
        <p:nvSpPr>
          <p:cNvPr id="7" name="edge-2"/>
          <p:cNvSpPr/>
          <p:nvPr/>
        </p:nvSpPr>
        <p:spPr>
          <a:xfrm>
            <a:off x="9326880" y="2011680"/>
            <a:ext cx="2057400" cy="548640"/>
          </a:xfrm>
          <a:prstGeom prst="line">
            <a:avLst/>
          </a:prstGeom>
          <a:noFill/>
          <a:ln w="50800">
            <a:solidFill>
              <a:schemeClr val="accent4"/>
            </a:solidFill>
            <a:prstDash val="solid"/>
          </a:ln>
        </p:spPr>
        <p:txBody>
          <a:bodyPr/>
          <a:lstStyle/>
          <a:p>
            <a:endParaRPr lang="en-US"/>
          </a:p>
        </p:txBody>
      </p:sp>
      <p:sp>
        <p:nvSpPr>
          <p:cNvPr id="8" name="edge-3"/>
          <p:cNvSpPr/>
          <p:nvPr/>
        </p:nvSpPr>
        <p:spPr>
          <a:xfrm>
            <a:off x="7406640" y="3314700"/>
            <a:ext cx="1920240" cy="1440180"/>
          </a:xfrm>
          <a:prstGeom prst="line">
            <a:avLst/>
          </a:prstGeom>
          <a:noFill/>
          <a:ln w="50800">
            <a:solidFill>
              <a:schemeClr val="accent4"/>
            </a:solidFill>
            <a:prstDash val="solid"/>
          </a:ln>
        </p:spPr>
        <p:txBody>
          <a:bodyPr/>
          <a:lstStyle/>
          <a:p>
            <a:endParaRPr lang="en-US"/>
          </a:p>
        </p:txBody>
      </p:sp>
      <p:sp>
        <p:nvSpPr>
          <p:cNvPr id="9" name="edge-4"/>
          <p:cNvSpPr/>
          <p:nvPr/>
        </p:nvSpPr>
        <p:spPr>
          <a:xfrm flipV="1">
            <a:off x="9326880" y="4206240"/>
            <a:ext cx="2057400" cy="548640"/>
          </a:xfrm>
          <a:prstGeom prst="line">
            <a:avLst/>
          </a:prstGeom>
          <a:noFill/>
          <a:ln w="50800">
            <a:solidFill>
              <a:schemeClr val="accent4"/>
            </a:solidFill>
            <a:prstDash val="solid"/>
          </a:ln>
        </p:spPr>
        <p:txBody>
          <a:bodyPr/>
          <a:lstStyle/>
          <a:p>
            <a:endParaRPr lang="en-US"/>
          </a:p>
        </p:txBody>
      </p:sp>
      <p:sp>
        <p:nvSpPr>
          <p:cNvPr id="10" name="edge-5"/>
          <p:cNvSpPr/>
          <p:nvPr/>
        </p:nvSpPr>
        <p:spPr>
          <a:xfrm>
            <a:off x="11384280" y="2560320"/>
            <a:ext cx="0" cy="1645920"/>
          </a:xfrm>
          <a:prstGeom prst="line">
            <a:avLst/>
          </a:prstGeom>
          <a:noFill/>
          <a:ln w="50800">
            <a:solidFill>
              <a:schemeClr val="accent4"/>
            </a:solidFill>
            <a:prstDash val="solid"/>
          </a:ln>
        </p:spPr>
        <p:txBody>
          <a:bodyPr/>
          <a:lstStyle/>
          <a:p>
            <a:endParaRPr lang="en-US"/>
          </a:p>
        </p:txBody>
      </p:sp>
      <p:sp>
        <p:nvSpPr>
          <p:cNvPr id="11" name="node-0"/>
          <p:cNvSpPr/>
          <p:nvPr/>
        </p:nvSpPr>
        <p:spPr>
          <a:xfrm>
            <a:off x="8961120" y="1645920"/>
            <a:ext cx="731520" cy="73152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0</a:t>
            </a:r>
            <a:endParaRPr lang="en-US" sz="1800" dirty="0"/>
          </a:p>
        </p:txBody>
      </p:sp>
      <p:sp>
        <p:nvSpPr>
          <p:cNvPr id="12" name="node-1"/>
          <p:cNvSpPr/>
          <p:nvPr/>
        </p:nvSpPr>
        <p:spPr>
          <a:xfrm>
            <a:off x="7040880" y="2948940"/>
            <a:ext cx="731520" cy="73152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13" name="node-2"/>
          <p:cNvSpPr/>
          <p:nvPr/>
        </p:nvSpPr>
        <p:spPr>
          <a:xfrm>
            <a:off x="8961120" y="4389120"/>
            <a:ext cx="731520" cy="73152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4" name="node-3"/>
          <p:cNvSpPr/>
          <p:nvPr/>
        </p:nvSpPr>
        <p:spPr>
          <a:xfrm>
            <a:off x="11018520" y="3840480"/>
            <a:ext cx="731520" cy="73152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5" name="node-4"/>
          <p:cNvSpPr/>
          <p:nvPr/>
        </p:nvSpPr>
        <p:spPr>
          <a:xfrm>
            <a:off x="11018520" y="2194560"/>
            <a:ext cx="731520" cy="73152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800" b="1" dirty="0">
                <a:solidFill>
                  <a:schemeClr val="tx1"/>
                </a:solidFill>
              </a:rPr>
              <a:t>4</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Learning outcomes</a:t>
            </a:r>
            <a:endParaRPr lang="en-US" sz="3400" dirty="0"/>
          </a:p>
        </p:txBody>
      </p:sp>
      <p:sp>
        <p:nvSpPr>
          <p:cNvPr id="3" name="outcome-card-0"/>
          <p:cNvSpPr/>
          <p:nvPr/>
        </p:nvSpPr>
        <p:spPr>
          <a:xfrm>
            <a:off x="548640" y="1508760"/>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4" name="badge-1"/>
          <p:cNvSpPr/>
          <p:nvPr/>
        </p:nvSpPr>
        <p:spPr>
          <a:xfrm>
            <a:off x="822960" y="169164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1645920" y="1600200"/>
            <a:ext cx="9784080" cy="731520"/>
          </a:xfrm>
          <a:prstGeom prst="rect">
            <a:avLst/>
          </a:prstGeom>
          <a:noFill/>
          <a:ln/>
        </p:spPr>
        <p:txBody>
          <a:bodyPr wrap="square" lIns="0" tIns="0" rIns="0" bIns="0" rtlCol="0" anchor="ctr"/>
          <a:lstStyle/>
          <a:p>
            <a:pPr marL="0" indent="0">
              <a:buNone/>
            </a:pPr>
            <a:r>
              <a:rPr lang="en-US" sz="2000" dirty="0">
                <a:solidFill>
                  <a:schemeClr val="tx1"/>
                </a:solidFill>
              </a:rPr>
              <a:t>Map a classical optimization problem (Max-Cut) to a quantum Hamiltonian</a:t>
            </a:r>
            <a:endParaRPr lang="en-US" sz="2000" dirty="0"/>
          </a:p>
        </p:txBody>
      </p:sp>
      <p:sp>
        <p:nvSpPr>
          <p:cNvPr id="6" name="outcome-card-1"/>
          <p:cNvSpPr/>
          <p:nvPr/>
        </p:nvSpPr>
        <p:spPr>
          <a:xfrm>
            <a:off x="548640" y="2606040"/>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7" name="badge-2"/>
          <p:cNvSpPr/>
          <p:nvPr/>
        </p:nvSpPr>
        <p:spPr>
          <a:xfrm>
            <a:off x="822960" y="278892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8" name="Text 6"/>
          <p:cNvSpPr txBox="1"/>
          <p:nvPr/>
        </p:nvSpPr>
        <p:spPr>
          <a:xfrm>
            <a:off x="1645920" y="2697480"/>
            <a:ext cx="9784080" cy="731520"/>
          </a:xfrm>
          <a:prstGeom prst="rect">
            <a:avLst/>
          </a:prstGeom>
          <a:noFill/>
          <a:ln/>
        </p:spPr>
        <p:txBody>
          <a:bodyPr wrap="square" lIns="0" tIns="0" rIns="0" bIns="0" rtlCol="0" anchor="ctr"/>
          <a:lstStyle/>
          <a:p>
            <a:pPr marL="0" indent="0">
              <a:buNone/>
            </a:pPr>
            <a:r>
              <a:rPr lang="en-US" sz="2000" dirty="0">
                <a:solidFill>
                  <a:schemeClr val="tx1"/>
                </a:solidFill>
              </a:rPr>
              <a:t>Build, run, and interpret QAOA on a 5-node graph using the four steps of a Qiskit pattern</a:t>
            </a:r>
            <a:endParaRPr lang="en-US" sz="2000" dirty="0"/>
          </a:p>
        </p:txBody>
      </p:sp>
      <p:sp>
        <p:nvSpPr>
          <p:cNvPr id="9" name="outcome-card-2"/>
          <p:cNvSpPr/>
          <p:nvPr/>
        </p:nvSpPr>
        <p:spPr>
          <a:xfrm>
            <a:off x="548640" y="3703320"/>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10" name="badge-3"/>
          <p:cNvSpPr/>
          <p:nvPr/>
        </p:nvSpPr>
        <p:spPr>
          <a:xfrm>
            <a:off x="822960" y="388620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1" name="Text 9"/>
          <p:cNvSpPr txBox="1"/>
          <p:nvPr/>
        </p:nvSpPr>
        <p:spPr>
          <a:xfrm>
            <a:off x="1645920" y="3794760"/>
            <a:ext cx="9784080" cy="731520"/>
          </a:xfrm>
          <a:prstGeom prst="rect">
            <a:avLst/>
          </a:prstGeom>
          <a:noFill/>
          <a:ln/>
        </p:spPr>
        <p:txBody>
          <a:bodyPr wrap="square" lIns="0" tIns="0" rIns="0" bIns="0" rtlCol="0" anchor="ctr"/>
          <a:lstStyle/>
          <a:p>
            <a:pPr marL="0" indent="0">
              <a:buNone/>
            </a:pPr>
            <a:r>
              <a:rPr lang="en-US" sz="2000" dirty="0">
                <a:solidFill>
                  <a:schemeClr val="tx1"/>
                </a:solidFill>
              </a:rPr>
              <a:t>Interpret and validate the five-node result against a classical baseline</a:t>
            </a:r>
            <a:endParaRPr lang="en-US" sz="2000" dirty="0"/>
          </a:p>
        </p:txBody>
      </p:sp>
      <p:sp>
        <p:nvSpPr>
          <p:cNvPr id="12" name="outcome-card-3"/>
          <p:cNvSpPr/>
          <p:nvPr/>
        </p:nvSpPr>
        <p:spPr>
          <a:xfrm>
            <a:off x="548640" y="4800600"/>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13" name="badge-4"/>
          <p:cNvSpPr/>
          <p:nvPr/>
        </p:nvSpPr>
        <p:spPr>
          <a:xfrm>
            <a:off x="822960" y="498348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4" name="Text 12"/>
          <p:cNvSpPr txBox="1"/>
          <p:nvPr/>
        </p:nvSpPr>
        <p:spPr>
          <a:xfrm>
            <a:off x="1645920" y="4892040"/>
            <a:ext cx="9784080" cy="731520"/>
          </a:xfrm>
          <a:prstGeom prst="rect">
            <a:avLst/>
          </a:prstGeom>
          <a:noFill/>
          <a:ln/>
        </p:spPr>
        <p:txBody>
          <a:bodyPr wrap="square" lIns="0" tIns="0" rIns="0" bIns="0" rtlCol="0" anchor="ctr"/>
          <a:lstStyle/>
          <a:p>
            <a:pPr marL="0" indent="0">
              <a:buNone/>
            </a:pPr>
            <a:r>
              <a:rPr lang="en-US" sz="2000" dirty="0">
                <a:solidFill>
                  <a:schemeClr val="tx1"/>
                </a:solidFill>
              </a:rPr>
              <a:t>Explain the building blocks: NP-hardness, qubits, Pauli operators, Hamiltonians, expectation values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Roadmap: four parts</a:t>
            </a:r>
            <a:endParaRPr lang="en-US" sz="3400" dirty="0"/>
          </a:p>
        </p:txBody>
      </p:sp>
      <p:sp>
        <p:nvSpPr>
          <p:cNvPr id="3" name="part-card-0"/>
          <p:cNvSpPr/>
          <p:nvPr/>
        </p:nvSpPr>
        <p:spPr>
          <a:xfrm>
            <a:off x="548640" y="1508760"/>
            <a:ext cx="2560320" cy="448056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4" name="badge-A"/>
          <p:cNvSpPr/>
          <p:nvPr/>
        </p:nvSpPr>
        <p:spPr>
          <a:xfrm>
            <a:off x="777240" y="173736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A</a:t>
            </a:r>
            <a:endParaRPr lang="en-US" sz="2000" dirty="0"/>
          </a:p>
        </p:txBody>
      </p:sp>
      <p:sp>
        <p:nvSpPr>
          <p:cNvPr id="5" name="Text 3"/>
          <p:cNvSpPr txBox="1"/>
          <p:nvPr/>
        </p:nvSpPr>
        <p:spPr>
          <a:xfrm>
            <a:off x="777240" y="2560320"/>
            <a:ext cx="2103120" cy="8229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Classical foundations</a:t>
            </a:r>
            <a:endParaRPr lang="en-US" sz="2000" dirty="0"/>
          </a:p>
        </p:txBody>
      </p:sp>
      <p:sp>
        <p:nvSpPr>
          <p:cNvPr id="6" name="Text 4"/>
          <p:cNvSpPr txBox="1"/>
          <p:nvPr/>
        </p:nvSpPr>
        <p:spPr>
          <a:xfrm>
            <a:off x="777240" y="3474720"/>
            <a:ext cx="2103120" cy="1645920"/>
          </a:xfrm>
          <a:prstGeom prst="rect">
            <a:avLst/>
          </a:prstGeom>
          <a:noFill/>
          <a:ln/>
        </p:spPr>
        <p:txBody>
          <a:bodyPr wrap="square" lIns="0" tIns="0" rIns="0" bIns="0" rtlCol="0" anchor="t"/>
          <a:lstStyle/>
          <a:p>
            <a:pPr marL="0" indent="0">
              <a:buNone/>
            </a:pPr>
            <a:r>
              <a:rPr lang="en-US" sz="1600" dirty="0">
                <a:solidFill>
                  <a:schemeClr val="tx1"/>
                </a:solidFill>
              </a:rPr>
              <a:t>Optimization, NP-hardness, graphs, Max-Cut</a:t>
            </a:r>
            <a:endParaRPr lang="en-US" sz="1600" dirty="0"/>
          </a:p>
        </p:txBody>
      </p:sp>
      <p:sp>
        <p:nvSpPr>
          <p:cNvPr id="7" name="Text 5"/>
          <p:cNvSpPr txBox="1"/>
          <p:nvPr/>
        </p:nvSpPr>
        <p:spPr>
          <a:xfrm>
            <a:off x="777240" y="5349240"/>
            <a:ext cx="2103120" cy="365760"/>
          </a:xfrm>
          <a:prstGeom prst="rect">
            <a:avLst/>
          </a:prstGeom>
          <a:noFill/>
          <a:ln/>
        </p:spPr>
        <p:txBody>
          <a:bodyPr wrap="square" lIns="0" tIns="0" rIns="0" bIns="0" rtlCol="0" anchor="t"/>
          <a:lstStyle/>
          <a:p>
            <a:pPr marL="0" indent="0">
              <a:buNone/>
            </a:pPr>
            <a:r>
              <a:rPr lang="en-US" sz="1400" b="1" dirty="0">
                <a:solidFill>
                  <a:schemeClr val="accent3"/>
                </a:solidFill>
              </a:rPr>
              <a:t>about 25 min</a:t>
            </a:r>
            <a:endParaRPr lang="en-US" sz="1400" dirty="0"/>
          </a:p>
        </p:txBody>
      </p:sp>
      <p:sp>
        <p:nvSpPr>
          <p:cNvPr id="8" name="part-card-1"/>
          <p:cNvSpPr/>
          <p:nvPr/>
        </p:nvSpPr>
        <p:spPr>
          <a:xfrm>
            <a:off x="3383280" y="1508760"/>
            <a:ext cx="2560320" cy="448056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9" name="badge-B"/>
          <p:cNvSpPr/>
          <p:nvPr/>
        </p:nvSpPr>
        <p:spPr>
          <a:xfrm>
            <a:off x="3611880" y="173736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B</a:t>
            </a:r>
            <a:endParaRPr lang="en-US" sz="2000" dirty="0"/>
          </a:p>
        </p:txBody>
      </p:sp>
      <p:sp>
        <p:nvSpPr>
          <p:cNvPr id="10" name="Text 8"/>
          <p:cNvSpPr txBox="1"/>
          <p:nvPr/>
        </p:nvSpPr>
        <p:spPr>
          <a:xfrm>
            <a:off x="3611880" y="2560320"/>
            <a:ext cx="2103120" cy="8229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Quantum foundations</a:t>
            </a:r>
            <a:endParaRPr lang="en-US" sz="2000" dirty="0"/>
          </a:p>
        </p:txBody>
      </p:sp>
      <p:sp>
        <p:nvSpPr>
          <p:cNvPr id="11" name="Text 9"/>
          <p:cNvSpPr txBox="1"/>
          <p:nvPr/>
        </p:nvSpPr>
        <p:spPr>
          <a:xfrm>
            <a:off x="3611880" y="3474720"/>
            <a:ext cx="2103120" cy="1645920"/>
          </a:xfrm>
          <a:prstGeom prst="rect">
            <a:avLst/>
          </a:prstGeom>
          <a:noFill/>
          <a:ln/>
        </p:spPr>
        <p:txBody>
          <a:bodyPr wrap="square" lIns="0" tIns="0" rIns="0" bIns="0" rtlCol="0" anchor="t"/>
          <a:lstStyle/>
          <a:p>
            <a:pPr marL="0" indent="0">
              <a:buNone/>
            </a:pPr>
            <a:r>
              <a:rPr lang="en-US" sz="1600" dirty="0">
                <a:solidFill>
                  <a:schemeClr val="tx1"/>
                </a:solidFill>
              </a:rPr>
              <a:t>Qubits, interference, Pauli operators, Hamiltonians, expectation values</a:t>
            </a:r>
            <a:endParaRPr lang="en-US" sz="1600" dirty="0"/>
          </a:p>
        </p:txBody>
      </p:sp>
      <p:sp>
        <p:nvSpPr>
          <p:cNvPr id="12" name="Text 10"/>
          <p:cNvSpPr txBox="1"/>
          <p:nvPr/>
        </p:nvSpPr>
        <p:spPr>
          <a:xfrm>
            <a:off x="3611880" y="5349240"/>
            <a:ext cx="2103120" cy="365760"/>
          </a:xfrm>
          <a:prstGeom prst="rect">
            <a:avLst/>
          </a:prstGeom>
          <a:noFill/>
          <a:ln/>
        </p:spPr>
        <p:txBody>
          <a:bodyPr wrap="square" lIns="0" tIns="0" rIns="0" bIns="0" rtlCol="0" anchor="t"/>
          <a:lstStyle/>
          <a:p>
            <a:pPr marL="0" indent="0">
              <a:buNone/>
            </a:pPr>
            <a:r>
              <a:rPr lang="en-US" sz="1400" b="1" dirty="0">
                <a:solidFill>
                  <a:schemeClr val="accent3"/>
                </a:solidFill>
              </a:rPr>
              <a:t>about 40 min</a:t>
            </a:r>
            <a:endParaRPr lang="en-US" sz="1400" dirty="0"/>
          </a:p>
        </p:txBody>
      </p:sp>
      <p:sp>
        <p:nvSpPr>
          <p:cNvPr id="13" name="part-card-2"/>
          <p:cNvSpPr/>
          <p:nvPr/>
        </p:nvSpPr>
        <p:spPr>
          <a:xfrm>
            <a:off x="6217920" y="1508760"/>
            <a:ext cx="2560320" cy="448056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4" name="badge-C"/>
          <p:cNvSpPr/>
          <p:nvPr/>
        </p:nvSpPr>
        <p:spPr>
          <a:xfrm>
            <a:off x="6446520" y="173736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C</a:t>
            </a:r>
            <a:endParaRPr lang="en-US" sz="2000" dirty="0"/>
          </a:p>
        </p:txBody>
      </p:sp>
      <p:sp>
        <p:nvSpPr>
          <p:cNvPr id="15" name="Text 13"/>
          <p:cNvSpPr txBox="1"/>
          <p:nvPr/>
        </p:nvSpPr>
        <p:spPr>
          <a:xfrm>
            <a:off x="6446520" y="2560320"/>
            <a:ext cx="2103120" cy="8229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QAOA</a:t>
            </a:r>
            <a:endParaRPr lang="en-US" sz="2000" dirty="0"/>
          </a:p>
        </p:txBody>
      </p:sp>
      <p:sp>
        <p:nvSpPr>
          <p:cNvPr id="16" name="Text 14"/>
          <p:cNvSpPr txBox="1"/>
          <p:nvPr/>
        </p:nvSpPr>
        <p:spPr>
          <a:xfrm>
            <a:off x="6446520" y="3474720"/>
            <a:ext cx="2103120" cy="1645920"/>
          </a:xfrm>
          <a:prstGeom prst="rect">
            <a:avLst/>
          </a:prstGeom>
          <a:noFill/>
          <a:ln/>
        </p:spPr>
        <p:txBody>
          <a:bodyPr wrap="square" lIns="0" tIns="0" rIns="0" bIns="0" rtlCol="0" anchor="t"/>
          <a:lstStyle/>
          <a:p>
            <a:pPr marL="0" indent="0">
              <a:buNone/>
            </a:pPr>
            <a:r>
              <a:rPr lang="en-US" sz="1600" dirty="0">
                <a:solidFill>
                  <a:schemeClr val="tx1"/>
                </a:solidFill>
              </a:rPr>
              <a:t>Cost Hamiltonian, the five QAOA steps, and a worked example</a:t>
            </a:r>
            <a:endParaRPr lang="en-US" sz="1600" dirty="0"/>
          </a:p>
        </p:txBody>
      </p:sp>
      <p:sp>
        <p:nvSpPr>
          <p:cNvPr id="17" name="Text 15"/>
          <p:cNvSpPr txBox="1"/>
          <p:nvPr/>
        </p:nvSpPr>
        <p:spPr>
          <a:xfrm>
            <a:off x="6446520" y="5349240"/>
            <a:ext cx="2103120" cy="365760"/>
          </a:xfrm>
          <a:prstGeom prst="rect">
            <a:avLst/>
          </a:prstGeom>
          <a:noFill/>
          <a:ln/>
        </p:spPr>
        <p:txBody>
          <a:bodyPr wrap="square" lIns="0" tIns="0" rIns="0" bIns="0" rtlCol="0" anchor="t"/>
          <a:lstStyle/>
          <a:p>
            <a:pPr marL="0" indent="0">
              <a:buNone/>
            </a:pPr>
            <a:r>
              <a:rPr lang="en-US" sz="1400" b="1" dirty="0">
                <a:solidFill>
                  <a:schemeClr val="accent3"/>
                </a:solidFill>
              </a:rPr>
              <a:t>about 45 min</a:t>
            </a:r>
            <a:endParaRPr lang="en-US" sz="1400" dirty="0"/>
          </a:p>
        </p:txBody>
      </p:sp>
      <p:sp>
        <p:nvSpPr>
          <p:cNvPr id="18" name="part-card-3"/>
          <p:cNvSpPr/>
          <p:nvPr/>
        </p:nvSpPr>
        <p:spPr>
          <a:xfrm>
            <a:off x="9052560" y="1508760"/>
            <a:ext cx="2560320" cy="448056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9" name="badge-D"/>
          <p:cNvSpPr/>
          <p:nvPr/>
        </p:nvSpPr>
        <p:spPr>
          <a:xfrm>
            <a:off x="9281160" y="173736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D</a:t>
            </a:r>
            <a:endParaRPr lang="en-US" sz="2000" dirty="0"/>
          </a:p>
        </p:txBody>
      </p:sp>
      <p:sp>
        <p:nvSpPr>
          <p:cNvPr id="20" name="Text 18"/>
          <p:cNvSpPr txBox="1"/>
          <p:nvPr/>
        </p:nvSpPr>
        <p:spPr>
          <a:xfrm>
            <a:off x="9281160" y="2560320"/>
            <a:ext cx="2103120" cy="8229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Qiskit pattern on hardware</a:t>
            </a:r>
            <a:endParaRPr lang="en-US" sz="2000" dirty="0"/>
          </a:p>
        </p:txBody>
      </p:sp>
      <p:sp>
        <p:nvSpPr>
          <p:cNvPr id="21" name="Text 19"/>
          <p:cNvSpPr txBox="1"/>
          <p:nvPr/>
        </p:nvSpPr>
        <p:spPr>
          <a:xfrm>
            <a:off x="9281160" y="3474720"/>
            <a:ext cx="2103120" cy="1645920"/>
          </a:xfrm>
          <a:prstGeom prst="rect">
            <a:avLst/>
          </a:prstGeom>
          <a:noFill/>
          <a:ln/>
        </p:spPr>
        <p:txBody>
          <a:bodyPr wrap="square" lIns="0" tIns="0" rIns="0" bIns="0" rtlCol="0" anchor="t"/>
          <a:lstStyle/>
          <a:p>
            <a:pPr marL="0" indent="0">
              <a:buNone/>
            </a:pPr>
            <a:r>
              <a:rPr lang="en-US" sz="1600" dirty="0">
                <a:solidFill>
                  <a:schemeClr val="tx1"/>
                </a:solidFill>
              </a:rPr>
              <a:t>Map, Optimize, Execute, Post-process: 5-node example</a:t>
            </a:r>
            <a:endParaRPr lang="en-US" sz="1600" dirty="0"/>
          </a:p>
        </p:txBody>
      </p:sp>
      <p:sp>
        <p:nvSpPr>
          <p:cNvPr id="22" name="Text 20"/>
          <p:cNvSpPr txBox="1"/>
          <p:nvPr/>
        </p:nvSpPr>
        <p:spPr>
          <a:xfrm>
            <a:off x="9281160" y="5349240"/>
            <a:ext cx="2103120" cy="365760"/>
          </a:xfrm>
          <a:prstGeom prst="rect">
            <a:avLst/>
          </a:prstGeom>
          <a:noFill/>
          <a:ln/>
        </p:spPr>
        <p:txBody>
          <a:bodyPr wrap="square" lIns="0" tIns="0" rIns="0" bIns="0" rtlCol="0" anchor="t"/>
          <a:lstStyle/>
          <a:p>
            <a:pPr marL="0" indent="0">
              <a:buNone/>
            </a:pPr>
            <a:r>
              <a:rPr lang="en-US" sz="1400" b="1" dirty="0">
                <a:solidFill>
                  <a:schemeClr val="accent3"/>
                </a:solidFill>
              </a:rPr>
              <a:t>about 25 min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big idea in one picture</a:t>
            </a:r>
            <a:endParaRPr lang="en-US" sz="3400" dirty="0"/>
          </a:p>
        </p:txBody>
      </p:sp>
      <p:sp>
        <p:nvSpPr>
          <p:cNvPr id="3" name="idea-card-0"/>
          <p:cNvSpPr/>
          <p:nvPr/>
        </p:nvSpPr>
        <p:spPr>
          <a:xfrm>
            <a:off x="548640" y="1463040"/>
            <a:ext cx="2560320" cy="27432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4" name="badge-1"/>
          <p:cNvSpPr/>
          <p:nvPr/>
        </p:nvSpPr>
        <p:spPr>
          <a:xfrm>
            <a:off x="731520" y="164592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731520" y="2331720"/>
            <a:ext cx="2194560" cy="5486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The question</a:t>
            </a:r>
            <a:endParaRPr lang="en-US" sz="1800" dirty="0"/>
          </a:p>
        </p:txBody>
      </p:sp>
      <p:sp>
        <p:nvSpPr>
          <p:cNvPr id="6" name="Text 4"/>
          <p:cNvSpPr txBox="1"/>
          <p:nvPr/>
        </p:nvSpPr>
        <p:spPr>
          <a:xfrm>
            <a:off x="731520" y="2926080"/>
            <a:ext cx="2194560" cy="1188720"/>
          </a:xfrm>
          <a:prstGeom prst="rect">
            <a:avLst/>
          </a:prstGeom>
          <a:noFill/>
          <a:ln/>
        </p:spPr>
        <p:txBody>
          <a:bodyPr wrap="square" lIns="0" tIns="0" rIns="0" bIns="0" rtlCol="0" anchor="t"/>
          <a:lstStyle/>
          <a:p>
            <a:pPr marL="0" indent="0">
              <a:buNone/>
            </a:pPr>
            <a:r>
              <a:rPr lang="en-US" sz="1400" dirty="0">
                <a:solidFill>
                  <a:schemeClr val="tx1"/>
                </a:solidFill>
              </a:rPr>
              <a:t>Which way of splitting the nodes into two groups cuts the most edges?</a:t>
            </a:r>
            <a:endParaRPr lang="en-US" sz="1400" dirty="0"/>
          </a:p>
        </p:txBody>
      </p:sp>
      <p:sp>
        <p:nvSpPr>
          <p:cNvPr id="7" name="Shape 5"/>
          <p:cNvSpPr/>
          <p:nvPr/>
        </p:nvSpPr>
        <p:spPr>
          <a:xfrm>
            <a:off x="3136392" y="2697480"/>
            <a:ext cx="219456" cy="365760"/>
          </a:xfrm>
          <a:prstGeom prst="rightArrow">
            <a:avLst/>
          </a:prstGeom>
          <a:solidFill>
            <a:schemeClr val="accent1"/>
          </a:solidFill>
          <a:ln w="12700">
            <a:solidFill>
              <a:schemeClr val="accent1"/>
            </a:solidFill>
            <a:prstDash val="solid"/>
          </a:ln>
        </p:spPr>
        <p:txBody>
          <a:bodyPr/>
          <a:lstStyle/>
          <a:p>
            <a:endParaRPr lang="en-US"/>
          </a:p>
        </p:txBody>
      </p:sp>
      <p:sp>
        <p:nvSpPr>
          <p:cNvPr id="8" name="idea-card-1"/>
          <p:cNvSpPr/>
          <p:nvPr/>
        </p:nvSpPr>
        <p:spPr>
          <a:xfrm>
            <a:off x="3383280" y="1463040"/>
            <a:ext cx="2560320" cy="27432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9" name="badge-2"/>
          <p:cNvSpPr/>
          <p:nvPr/>
        </p:nvSpPr>
        <p:spPr>
          <a:xfrm>
            <a:off x="3566160" y="164592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0" name="Text 8"/>
          <p:cNvSpPr txBox="1"/>
          <p:nvPr/>
        </p:nvSpPr>
        <p:spPr>
          <a:xfrm>
            <a:off x="3566160" y="2331720"/>
            <a:ext cx="2194560" cy="5486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A landscape</a:t>
            </a:r>
            <a:endParaRPr lang="en-US" sz="1800" dirty="0"/>
          </a:p>
        </p:txBody>
      </p:sp>
      <p:sp>
        <p:nvSpPr>
          <p:cNvPr id="11" name="Text 9"/>
          <p:cNvSpPr txBox="1"/>
          <p:nvPr/>
        </p:nvSpPr>
        <p:spPr>
          <a:xfrm>
            <a:off x="3566160" y="2926080"/>
            <a:ext cx="2194560" cy="1188720"/>
          </a:xfrm>
          <a:prstGeom prst="rect">
            <a:avLst/>
          </a:prstGeom>
          <a:noFill/>
          <a:ln/>
        </p:spPr>
        <p:txBody>
          <a:bodyPr wrap="square" lIns="0" tIns="0" rIns="0" bIns="0" rtlCol="0" anchor="t"/>
          <a:lstStyle/>
          <a:p>
            <a:pPr marL="0" indent="0">
              <a:buNone/>
            </a:pPr>
            <a:r>
              <a:rPr lang="en-US" sz="1400" dirty="0">
                <a:solidFill>
                  <a:schemeClr val="tx1"/>
                </a:solidFill>
              </a:rPr>
              <a:t>Give every possible split a score, called an energy. The best splits sit in the deepest valleys.</a:t>
            </a:r>
            <a:endParaRPr lang="en-US" sz="1400" dirty="0"/>
          </a:p>
        </p:txBody>
      </p:sp>
      <p:sp>
        <p:nvSpPr>
          <p:cNvPr id="12" name="Shape 10"/>
          <p:cNvSpPr/>
          <p:nvPr/>
        </p:nvSpPr>
        <p:spPr>
          <a:xfrm>
            <a:off x="5971032" y="2697480"/>
            <a:ext cx="219456" cy="365760"/>
          </a:xfrm>
          <a:prstGeom prst="rightArrow">
            <a:avLst/>
          </a:prstGeom>
          <a:solidFill>
            <a:schemeClr val="accent1"/>
          </a:solidFill>
          <a:ln w="12700">
            <a:solidFill>
              <a:schemeClr val="accent1"/>
            </a:solidFill>
            <a:prstDash val="solid"/>
          </a:ln>
        </p:spPr>
        <p:txBody>
          <a:bodyPr/>
          <a:lstStyle/>
          <a:p>
            <a:endParaRPr lang="en-US"/>
          </a:p>
        </p:txBody>
      </p:sp>
      <p:sp>
        <p:nvSpPr>
          <p:cNvPr id="13" name="idea-card-2"/>
          <p:cNvSpPr/>
          <p:nvPr/>
        </p:nvSpPr>
        <p:spPr>
          <a:xfrm>
            <a:off x="6217920" y="1463040"/>
            <a:ext cx="2560320" cy="27432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4" name="badge-3"/>
          <p:cNvSpPr/>
          <p:nvPr/>
        </p:nvSpPr>
        <p:spPr>
          <a:xfrm>
            <a:off x="6400800" y="164592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3"/>
          <p:cNvSpPr txBox="1"/>
          <p:nvPr/>
        </p:nvSpPr>
        <p:spPr>
          <a:xfrm>
            <a:off x="6400800" y="2331720"/>
            <a:ext cx="2194560" cy="5486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A quantum circuit</a:t>
            </a:r>
            <a:endParaRPr lang="en-US" sz="1800" dirty="0"/>
          </a:p>
        </p:txBody>
      </p:sp>
      <p:sp>
        <p:nvSpPr>
          <p:cNvPr id="16" name="Text 14"/>
          <p:cNvSpPr txBox="1"/>
          <p:nvPr/>
        </p:nvSpPr>
        <p:spPr>
          <a:xfrm>
            <a:off x="6400800" y="2926080"/>
            <a:ext cx="2194560" cy="1188720"/>
          </a:xfrm>
          <a:prstGeom prst="rect">
            <a:avLst/>
          </a:prstGeom>
          <a:noFill/>
          <a:ln/>
        </p:spPr>
        <p:txBody>
          <a:bodyPr wrap="square" lIns="0" tIns="0" rIns="0" bIns="0" rtlCol="0" anchor="t"/>
          <a:lstStyle/>
          <a:p>
            <a:pPr marL="0" indent="0">
              <a:buNone/>
            </a:pPr>
            <a:r>
              <a:rPr lang="en-US" sz="1400" dirty="0">
                <a:solidFill>
                  <a:schemeClr val="tx1"/>
                </a:solidFill>
              </a:rPr>
              <a:t>A circuit with a few adjustable angles that makes valley splits more likely to be measured.</a:t>
            </a:r>
            <a:endParaRPr lang="en-US" sz="1400" dirty="0"/>
          </a:p>
        </p:txBody>
      </p:sp>
      <p:sp>
        <p:nvSpPr>
          <p:cNvPr id="17" name="Shape 15"/>
          <p:cNvSpPr/>
          <p:nvPr/>
        </p:nvSpPr>
        <p:spPr>
          <a:xfrm>
            <a:off x="8805672" y="2697480"/>
            <a:ext cx="219456" cy="365760"/>
          </a:xfrm>
          <a:prstGeom prst="rightArrow">
            <a:avLst/>
          </a:prstGeom>
          <a:solidFill>
            <a:schemeClr val="accent1"/>
          </a:solidFill>
          <a:ln w="12700">
            <a:solidFill>
              <a:schemeClr val="accent1"/>
            </a:solidFill>
            <a:prstDash val="solid"/>
          </a:ln>
        </p:spPr>
        <p:txBody>
          <a:bodyPr/>
          <a:lstStyle/>
          <a:p>
            <a:endParaRPr lang="en-US"/>
          </a:p>
        </p:txBody>
      </p:sp>
      <p:sp>
        <p:nvSpPr>
          <p:cNvPr id="18" name="idea-card-3"/>
          <p:cNvSpPr/>
          <p:nvPr/>
        </p:nvSpPr>
        <p:spPr>
          <a:xfrm>
            <a:off x="9052560" y="1463040"/>
            <a:ext cx="2560320" cy="27432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9" name="badge-4"/>
          <p:cNvSpPr/>
          <p:nvPr/>
        </p:nvSpPr>
        <p:spPr>
          <a:xfrm>
            <a:off x="9235440" y="164592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20" name="Text 18"/>
          <p:cNvSpPr txBox="1"/>
          <p:nvPr/>
        </p:nvSpPr>
        <p:spPr>
          <a:xfrm>
            <a:off x="9235440" y="2331720"/>
            <a:ext cx="2194560" cy="5486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Measure, keep the best</a:t>
            </a:r>
            <a:endParaRPr lang="en-US" sz="1800" dirty="0"/>
          </a:p>
        </p:txBody>
      </p:sp>
      <p:sp>
        <p:nvSpPr>
          <p:cNvPr id="21" name="Text 19"/>
          <p:cNvSpPr txBox="1"/>
          <p:nvPr/>
        </p:nvSpPr>
        <p:spPr>
          <a:xfrm>
            <a:off x="9235440" y="2926080"/>
            <a:ext cx="2194560" cy="1188720"/>
          </a:xfrm>
          <a:prstGeom prst="rect">
            <a:avLst/>
          </a:prstGeom>
          <a:noFill/>
          <a:ln/>
        </p:spPr>
        <p:txBody>
          <a:bodyPr wrap="square" lIns="0" tIns="0" rIns="0" bIns="0" rtlCol="0" anchor="t"/>
          <a:lstStyle/>
          <a:p>
            <a:pPr marL="0" indent="0">
              <a:buNone/>
            </a:pPr>
            <a:r>
              <a:rPr lang="en-US" sz="1400" dirty="0">
                <a:solidFill>
                  <a:schemeClr val="tx1"/>
                </a:solidFill>
              </a:rPr>
              <a:t>Run it many times, score every outcome, and keep the best split we ever see.</a:t>
            </a:r>
            <a:endParaRPr lang="en-US" sz="1400" dirty="0"/>
          </a:p>
        </p:txBody>
      </p:sp>
      <p:sp>
        <p:nvSpPr>
          <p:cNvPr id="22" name="analogy-card"/>
          <p:cNvSpPr/>
          <p:nvPr/>
        </p:nvSpPr>
        <p:spPr>
          <a:xfrm>
            <a:off x="548640" y="4480560"/>
            <a:ext cx="11064240" cy="1691640"/>
          </a:xfrm>
          <a:prstGeom prst="roundRect">
            <a:avLst>
              <a:gd name="adj" fmla="val 6486"/>
            </a:avLst>
          </a:prstGeom>
          <a:solidFill>
            <a:schemeClr val="bg2"/>
          </a:solidFill>
          <a:ln w="12700">
            <a:solidFill>
              <a:schemeClr val="bg2"/>
            </a:solidFill>
            <a:prstDash val="solid"/>
          </a:ln>
        </p:spPr>
        <p:txBody>
          <a:bodyPr/>
          <a:lstStyle/>
          <a:p>
            <a:endParaRPr lang="en-US"/>
          </a:p>
        </p:txBody>
      </p:sp>
      <p:sp>
        <p:nvSpPr>
          <p:cNvPr id="23" name="Text 21"/>
          <p:cNvSpPr txBox="1"/>
          <p:nvPr/>
        </p:nvSpPr>
        <p:spPr>
          <a:xfrm>
            <a:off x="822960" y="4572000"/>
            <a:ext cx="10515600" cy="1508760"/>
          </a:xfrm>
          <a:prstGeom prst="rect">
            <a:avLst/>
          </a:prstGeom>
          <a:noFill/>
          <a:ln/>
        </p:spPr>
        <p:txBody>
          <a:bodyPr wrap="square" lIns="0" tIns="0" rIns="0" bIns="0" rtlCol="0" anchor="ctr"/>
          <a:lstStyle/>
          <a:p>
            <a:pPr marL="0" indent="0">
              <a:buNone/>
            </a:pPr>
            <a:r>
              <a:rPr lang="en-US" sz="1700" b="1" dirty="0">
                <a:solidFill>
                  <a:schemeClr val="accent3"/>
                </a:solidFill>
              </a:rPr>
              <a:t>Analogy: </a:t>
            </a:r>
            <a:r>
              <a:rPr lang="en-US" sz="1700" dirty="0">
                <a:solidFill>
                  <a:schemeClr val="tx1"/>
                </a:solidFill>
              </a:rPr>
              <a:t>you are dropped at random into a huge mountain range in thick fog and asked to find the lowest point. You cannot see the whole range, but QAOA tilts the odds so that a random drop tends to land in a low valley. You drop in thousands of times and keep the lowest point found. </a:t>
            </a:r>
            <a:r>
              <a:rPr lang="en-US" sz="1700" b="1" dirty="0">
                <a:solidFill>
                  <a:schemeClr val="tx1"/>
                </a:solidFill>
              </a:rPr>
              <a:t>The result is good with high probability, not guaranteed best.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1691640"/>
            <a:ext cx="7315200" cy="548640"/>
          </a:xfrm>
          <a:prstGeom prst="rect">
            <a:avLst/>
          </a:prstGeom>
          <a:noFill/>
          <a:ln/>
        </p:spPr>
        <p:txBody>
          <a:bodyPr wrap="square" lIns="0" tIns="0" rIns="0" bIns="0" rtlCol="0" anchor="t"/>
          <a:lstStyle/>
          <a:p>
            <a:pPr marL="0" indent="0">
              <a:buNone/>
            </a:pPr>
            <a:r>
              <a:rPr lang="en-US" sz="2400" b="1" dirty="0">
                <a:solidFill>
                  <a:schemeClr val="accent1"/>
                </a:solidFill>
                <a:latin typeface="Cambria" pitchFamily="34" charset="0"/>
                <a:ea typeface="Cambria" pitchFamily="34" charset="-122"/>
                <a:cs typeface="Cambria" pitchFamily="34" charset="-120"/>
              </a:rPr>
              <a:t>Part A</a:t>
            </a:r>
            <a:endParaRPr lang="en-US" sz="2400" dirty="0"/>
          </a:p>
        </p:txBody>
      </p:sp>
      <p:sp>
        <p:nvSpPr>
          <p:cNvPr id="3" name="Text 1"/>
          <p:cNvSpPr>
            <a:spLocks noGrp="1"/>
          </p:cNvSpPr>
          <p:nvPr>
            <p:ph type="title" idx="101" hasCustomPrompt="1"/>
          </p:nvPr>
        </p:nvSpPr>
        <p:spPr>
          <a:xfrm>
            <a:off x="731520" y="2331720"/>
            <a:ext cx="10698480" cy="1188720"/>
          </a:xfrm>
          <a:prstGeom prst="rect">
            <a:avLst/>
          </a:prstGeom>
          <a:noFill/>
          <a:ln/>
        </p:spPr>
        <p:txBody>
          <a:bodyPr wrap="square" lIns="0" tIns="0" rIns="0" bIns="0" rtlCol="0" anchor="ctr"/>
          <a:lstStyle/>
          <a:p>
            <a:pPr marL="0" indent="0" algn="l">
              <a:buNone/>
            </a:pPr>
            <a:r>
              <a:rPr lang="en-US" sz="4400" b="1" dirty="0">
                <a:solidFill>
                  <a:schemeClr val="bg1"/>
                </a:solidFill>
              </a:rPr>
              <a:t>Classical foundations</a:t>
            </a:r>
            <a:endParaRPr lang="en-US" sz="4400" dirty="0"/>
          </a:p>
        </p:txBody>
      </p:sp>
      <p:sp>
        <p:nvSpPr>
          <p:cNvPr id="4" name="Text 2"/>
          <p:cNvSpPr txBox="1"/>
          <p:nvPr/>
        </p:nvSpPr>
        <p:spPr>
          <a:xfrm>
            <a:off x="731520" y="3749040"/>
            <a:ext cx="8686800" cy="1097280"/>
          </a:xfrm>
          <a:prstGeom prst="rect">
            <a:avLst/>
          </a:prstGeom>
          <a:noFill/>
          <a:ln/>
        </p:spPr>
        <p:txBody>
          <a:bodyPr wrap="square" lIns="0" tIns="0" rIns="0" bIns="0" rtlCol="0" anchor="t"/>
          <a:lstStyle/>
          <a:p>
            <a:pPr marL="0" indent="0">
              <a:buNone/>
            </a:pPr>
            <a:r>
              <a:rPr lang="en-US" sz="2000" dirty="0">
                <a:solidFill>
                  <a:schemeClr val="bg2"/>
                </a:solidFill>
              </a:rPr>
              <a:t>Optimization problems, why some are hard, what NP-hard means, and the Max-Cut problem we will solve</a:t>
            </a:r>
            <a:endParaRPr lang="en-US" sz="2000" dirty="0"/>
          </a:p>
        </p:txBody>
      </p:sp>
      <p:sp>
        <p:nvSpPr>
          <p:cNvPr id="5" name="Text 3"/>
          <p:cNvSpPr txBox="1"/>
          <p:nvPr/>
        </p:nvSpPr>
        <p:spPr>
          <a:xfrm>
            <a:off x="731520" y="5120640"/>
            <a:ext cx="5486400" cy="457200"/>
          </a:xfrm>
          <a:prstGeom prst="rect">
            <a:avLst/>
          </a:prstGeom>
          <a:noFill/>
          <a:ln/>
        </p:spPr>
        <p:txBody>
          <a:bodyPr wrap="square" lIns="0" tIns="0" rIns="0" bIns="0" rtlCol="0" anchor="t"/>
          <a:lstStyle/>
          <a:p>
            <a:pPr marL="0" indent="0">
              <a:buNone/>
            </a:pPr>
            <a:r>
              <a:rPr lang="en-US" sz="1600" dirty="0">
                <a:solidFill>
                  <a:schemeClr val="accent2"/>
                </a:solidFill>
              </a:rPr>
              <a:t>about 25 minutes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What is an optimization problem?</a:t>
            </a:r>
            <a:endParaRPr lang="en-US" sz="3400" dirty="0"/>
          </a:p>
        </p:txBody>
      </p:sp>
      <p:sp>
        <p:nvSpPr>
          <p:cNvPr id="3" name="Text 1"/>
          <p:cNvSpPr txBox="1"/>
          <p:nvPr/>
        </p:nvSpPr>
        <p:spPr>
          <a:xfrm>
            <a:off x="548640" y="1554480"/>
            <a:ext cx="5669280" cy="42062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Choose among many options to make one number as good as possible</a:t>
            </a:r>
            <a:endParaRPr lang="en-US" sz="1800" dirty="0"/>
          </a:p>
          <a:p>
            <a:pPr marL="342900" indent="-342900">
              <a:spcAft>
                <a:spcPts val="800"/>
              </a:spcAft>
              <a:buSzPct val="100000"/>
              <a:buChar char="•"/>
            </a:pPr>
            <a:r>
              <a:rPr lang="en-US" sz="1800" dirty="0">
                <a:solidFill>
                  <a:schemeClr val="tx1"/>
                </a:solidFill>
              </a:rPr>
              <a:t>That number is the objective function; we maximize or minimize it</a:t>
            </a:r>
            <a:endParaRPr lang="en-US" sz="1800" dirty="0"/>
          </a:p>
          <a:p>
            <a:pPr marL="342900" indent="-342900">
              <a:spcAft>
                <a:spcPts val="800"/>
              </a:spcAft>
              <a:buSzPct val="100000"/>
              <a:buChar char="•"/>
            </a:pPr>
            <a:r>
              <a:rPr lang="en-US" sz="1800" dirty="0">
                <a:solidFill>
                  <a:schemeClr val="tx1"/>
                </a:solidFill>
              </a:rPr>
              <a:t>Constraints are rules the choice must obey (some problems have none)</a:t>
            </a:r>
            <a:endParaRPr lang="en-US" sz="1800" dirty="0"/>
          </a:p>
          <a:p>
            <a:pPr marL="342900" indent="-342900">
              <a:spcAft>
                <a:spcPts val="800"/>
              </a:spcAft>
              <a:buSzPct val="100000"/>
              <a:buChar char="•"/>
            </a:pPr>
            <a:r>
              <a:rPr lang="en-US" sz="1800" dirty="0">
                <a:solidFill>
                  <a:schemeClr val="tx1"/>
                </a:solidFill>
              </a:rPr>
              <a:t>Combinatorial: the options are discrete choices, such as yes or no for each item</a:t>
            </a:r>
            <a:endParaRPr lang="en-US" sz="1800" dirty="0"/>
          </a:p>
        </p:txBody>
      </p:sp>
      <p:sp>
        <p:nvSpPr>
          <p:cNvPr id="4" name="example-card-0"/>
          <p:cNvSpPr/>
          <p:nvPr/>
        </p:nvSpPr>
        <p:spPr>
          <a:xfrm>
            <a:off x="6583680" y="1554480"/>
            <a:ext cx="5029200"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858000" y="1737360"/>
            <a:ext cx="457200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Delivery routes</a:t>
            </a:r>
            <a:endParaRPr lang="en-US" sz="2000" dirty="0"/>
          </a:p>
        </p:txBody>
      </p:sp>
      <p:sp>
        <p:nvSpPr>
          <p:cNvPr id="6" name="Text 4"/>
          <p:cNvSpPr txBox="1"/>
          <p:nvPr/>
        </p:nvSpPr>
        <p:spPr>
          <a:xfrm>
            <a:off x="6858000" y="2286000"/>
            <a:ext cx="4572000" cy="457200"/>
          </a:xfrm>
          <a:prstGeom prst="rect">
            <a:avLst/>
          </a:prstGeom>
          <a:noFill/>
          <a:ln/>
        </p:spPr>
        <p:txBody>
          <a:bodyPr wrap="square" lIns="0" tIns="0" rIns="0" bIns="0" rtlCol="0" anchor="t"/>
          <a:lstStyle/>
          <a:p>
            <a:pPr marL="0" indent="0">
              <a:buNone/>
            </a:pPr>
            <a:r>
              <a:rPr lang="en-US" sz="1600" dirty="0">
                <a:solidFill>
                  <a:schemeClr val="tx1"/>
                </a:solidFill>
              </a:rPr>
              <a:t>Objective: minimize fuel used</a:t>
            </a:r>
            <a:endParaRPr lang="en-US" sz="1600" dirty="0"/>
          </a:p>
        </p:txBody>
      </p:sp>
      <p:sp>
        <p:nvSpPr>
          <p:cNvPr id="7" name="example-card-1"/>
          <p:cNvSpPr/>
          <p:nvPr/>
        </p:nvSpPr>
        <p:spPr>
          <a:xfrm>
            <a:off x="6583680" y="3108960"/>
            <a:ext cx="5029200"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6858000" y="3291840"/>
            <a:ext cx="457200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Resource allocation</a:t>
            </a:r>
            <a:endParaRPr lang="en-US" sz="2000" dirty="0"/>
          </a:p>
        </p:txBody>
      </p:sp>
      <p:sp>
        <p:nvSpPr>
          <p:cNvPr id="9" name="Text 7"/>
          <p:cNvSpPr txBox="1"/>
          <p:nvPr/>
        </p:nvSpPr>
        <p:spPr>
          <a:xfrm>
            <a:off x="6858000" y="3840480"/>
            <a:ext cx="4572000" cy="457200"/>
          </a:xfrm>
          <a:prstGeom prst="rect">
            <a:avLst/>
          </a:prstGeom>
          <a:noFill/>
          <a:ln/>
        </p:spPr>
        <p:txBody>
          <a:bodyPr wrap="square" lIns="0" tIns="0" rIns="0" bIns="0" rtlCol="0" anchor="t"/>
          <a:lstStyle/>
          <a:p>
            <a:pPr marL="0" indent="0">
              <a:buNone/>
            </a:pPr>
            <a:r>
              <a:rPr lang="en-US" sz="1600" dirty="0">
                <a:solidFill>
                  <a:schemeClr val="tx1"/>
                </a:solidFill>
              </a:rPr>
              <a:t>Objective: limit material waste</a:t>
            </a:r>
            <a:endParaRPr lang="en-US" sz="1600" dirty="0"/>
          </a:p>
        </p:txBody>
      </p:sp>
      <p:sp>
        <p:nvSpPr>
          <p:cNvPr id="10" name="example-card-2"/>
          <p:cNvSpPr/>
          <p:nvPr/>
        </p:nvSpPr>
        <p:spPr>
          <a:xfrm>
            <a:off x="6583680" y="4663440"/>
            <a:ext cx="5029200"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11" name="Text 9"/>
          <p:cNvSpPr txBox="1"/>
          <p:nvPr/>
        </p:nvSpPr>
        <p:spPr>
          <a:xfrm>
            <a:off x="6858000" y="4846320"/>
            <a:ext cx="457200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Network design</a:t>
            </a:r>
            <a:endParaRPr lang="en-US" sz="2000" dirty="0"/>
          </a:p>
        </p:txBody>
      </p:sp>
      <p:sp>
        <p:nvSpPr>
          <p:cNvPr id="12" name="Text 10"/>
          <p:cNvSpPr txBox="1"/>
          <p:nvPr/>
        </p:nvSpPr>
        <p:spPr>
          <a:xfrm>
            <a:off x="6858000" y="5394960"/>
            <a:ext cx="4572000" cy="457200"/>
          </a:xfrm>
          <a:prstGeom prst="rect">
            <a:avLst/>
          </a:prstGeom>
          <a:noFill/>
          <a:ln/>
        </p:spPr>
        <p:txBody>
          <a:bodyPr wrap="square" lIns="0" tIns="0" rIns="0" bIns="0" rtlCol="0" anchor="t"/>
          <a:lstStyle/>
          <a:p>
            <a:pPr marL="0" indent="0">
              <a:buNone/>
            </a:pPr>
            <a:r>
              <a:rPr lang="en-US" sz="1600" dirty="0">
                <a:solidFill>
                  <a:schemeClr val="tx1"/>
                </a:solidFill>
              </a:rPr>
              <a:t>Objective: maximize traffic that gets through</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Why combinatorial problems get hard</a:t>
            </a:r>
            <a:endParaRPr lang="en-US" sz="3400" dirty="0"/>
          </a:p>
        </p:txBody>
      </p:sp>
      <p:sp>
        <p:nvSpPr>
          <p:cNvPr id="3" name="Text 1"/>
          <p:cNvSpPr txBox="1"/>
          <p:nvPr/>
        </p:nvSpPr>
        <p:spPr>
          <a:xfrm>
            <a:off x="548640" y="1554480"/>
            <a:ext cx="4754880" cy="4389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n yes/no choices give 2ⁿ candidate answers</a:t>
            </a:r>
            <a:endParaRPr lang="en-US" sz="1700" dirty="0"/>
          </a:p>
          <a:p>
            <a:pPr marL="342900" indent="-342900">
              <a:spcAft>
                <a:spcPts val="800"/>
              </a:spcAft>
              <a:buSzPct val="100000"/>
              <a:buChar char="•"/>
            </a:pPr>
            <a:r>
              <a:rPr lang="en-US" sz="1700" dirty="0">
                <a:solidFill>
                  <a:schemeClr val="tx1"/>
                </a:solidFill>
              </a:rPr>
              <a:t>50 choices: about 1.1 × 10¹⁵ candidates, roughly 13 days at a billion checks per second</a:t>
            </a:r>
            <a:endParaRPr lang="en-US" sz="1700" dirty="0"/>
          </a:p>
          <a:p>
            <a:pPr marL="342900" indent="-342900">
              <a:spcAft>
                <a:spcPts val="800"/>
              </a:spcAft>
              <a:buSzPct val="100000"/>
              <a:buChar char="•"/>
            </a:pPr>
            <a:r>
              <a:rPr lang="en-US" sz="1700" dirty="0">
                <a:solidFill>
                  <a:schemeClr val="tx1"/>
                </a:solidFill>
              </a:rPr>
              <a:t>100 choices: about 1.3 × 10³⁰ candidates, far beyond any computer</a:t>
            </a:r>
            <a:endParaRPr lang="en-US" sz="1700" dirty="0"/>
          </a:p>
          <a:p>
            <a:pPr marL="342900" indent="-342900">
              <a:spcAft>
                <a:spcPts val="800"/>
              </a:spcAft>
              <a:buSzPct val="100000"/>
              <a:buChar char="•"/>
            </a:pPr>
            <a:r>
              <a:rPr lang="en-US" sz="1700" dirty="0">
                <a:solidFill>
                  <a:schemeClr val="tx1"/>
                </a:solidFill>
              </a:rPr>
              <a:t>Checking every candidate (brute force) stops being possible</a:t>
            </a:r>
            <a:endParaRPr lang="en-US" sz="1700" dirty="0"/>
          </a:p>
        </p:txBody>
      </p:sp>
      <p:graphicFrame>
        <p:nvGraphicFramePr>
          <p:cNvPr id="4" name="Chart 0"/>
          <p:cNvGraphicFramePr/>
          <p:nvPr/>
        </p:nvGraphicFramePr>
        <p:xfrm>
          <a:off x="5577840" y="1463040"/>
          <a:ext cx="60350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P, NP, and NP-hard in plain words</a:t>
            </a:r>
            <a:endParaRPr lang="en-US" sz="3400" dirty="0"/>
          </a:p>
        </p:txBody>
      </p:sp>
      <p:sp>
        <p:nvSpPr>
          <p:cNvPr id="3" name="np-ellipse"/>
          <p:cNvSpPr/>
          <p:nvPr/>
        </p:nvSpPr>
        <p:spPr>
          <a:xfrm>
            <a:off x="640080" y="1737360"/>
            <a:ext cx="3931920" cy="3291840"/>
          </a:xfrm>
          <a:prstGeom prst="ellipse">
            <a:avLst/>
          </a:prstGeom>
          <a:solidFill>
            <a:schemeClr val="accent5">
              <a:alpha val="30000"/>
            </a:schemeClr>
          </a:solidFill>
          <a:ln w="25400">
            <a:solidFill>
              <a:schemeClr val="accent5"/>
            </a:solidFill>
            <a:prstDash val="solid"/>
          </a:ln>
        </p:spPr>
        <p:txBody>
          <a:bodyPr/>
          <a:lstStyle/>
          <a:p>
            <a:endParaRPr lang="en-US"/>
          </a:p>
        </p:txBody>
      </p:sp>
      <p:sp>
        <p:nvSpPr>
          <p:cNvPr id="4" name="nphard-ellipse"/>
          <p:cNvSpPr/>
          <p:nvPr/>
        </p:nvSpPr>
        <p:spPr>
          <a:xfrm>
            <a:off x="3108960" y="1737360"/>
            <a:ext cx="3566160" cy="3291840"/>
          </a:xfrm>
          <a:prstGeom prst="ellipse">
            <a:avLst/>
          </a:prstGeom>
          <a:solidFill>
            <a:schemeClr val="accent4">
              <a:alpha val="25000"/>
            </a:schemeClr>
          </a:solidFill>
          <a:ln w="25400">
            <a:solidFill>
              <a:schemeClr val="accent4"/>
            </a:solidFill>
            <a:prstDash val="solid"/>
          </a:ln>
        </p:spPr>
        <p:txBody>
          <a:bodyPr/>
          <a:lstStyle/>
          <a:p>
            <a:endParaRPr lang="en-US"/>
          </a:p>
        </p:txBody>
      </p:sp>
      <p:sp>
        <p:nvSpPr>
          <p:cNvPr id="5" name="p-ellipse"/>
          <p:cNvSpPr/>
          <p:nvPr/>
        </p:nvSpPr>
        <p:spPr>
          <a:xfrm>
            <a:off x="1005840" y="2743200"/>
            <a:ext cx="1540590" cy="1371600"/>
          </a:xfrm>
          <a:prstGeom prst="ellipse">
            <a:avLst/>
          </a:prstGeom>
          <a:solidFill>
            <a:schemeClr val="accent1">
              <a:alpha val="60000"/>
            </a:schemeClr>
          </a:solidFill>
          <a:ln w="25400">
            <a:solidFill>
              <a:schemeClr val="accent1"/>
            </a:solidFill>
            <a:prstDash val="solid"/>
          </a:ln>
        </p:spPr>
        <p:txBody>
          <a:bodyPr/>
          <a:lstStyle/>
          <a:p>
            <a:endParaRPr lang="en-US"/>
          </a:p>
        </p:txBody>
      </p:sp>
      <p:sp>
        <p:nvSpPr>
          <p:cNvPr id="6" name="Text 4"/>
          <p:cNvSpPr txBox="1"/>
          <p:nvPr/>
        </p:nvSpPr>
        <p:spPr>
          <a:xfrm>
            <a:off x="1325880" y="3154680"/>
            <a:ext cx="914400" cy="457200"/>
          </a:xfrm>
          <a:prstGeom prst="rect">
            <a:avLst/>
          </a:prstGeom>
          <a:noFill/>
          <a:ln/>
        </p:spPr>
        <p:txBody>
          <a:bodyPr wrap="square" lIns="0" tIns="0" rIns="0" bIns="0" rtlCol="0" anchor="t"/>
          <a:lstStyle/>
          <a:p>
            <a:pPr marL="0" indent="0" algn="ctr">
              <a:buNone/>
            </a:pPr>
            <a:r>
              <a:rPr lang="en-US" sz="2400" b="1" dirty="0">
                <a:solidFill>
                  <a:schemeClr val="tx1"/>
                </a:solidFill>
              </a:rPr>
              <a:t>P</a:t>
            </a:r>
            <a:endParaRPr lang="en-US" sz="2400" dirty="0"/>
          </a:p>
        </p:txBody>
      </p:sp>
      <p:sp>
        <p:nvSpPr>
          <p:cNvPr id="7" name="Text 5"/>
          <p:cNvSpPr txBox="1"/>
          <p:nvPr/>
        </p:nvSpPr>
        <p:spPr>
          <a:xfrm>
            <a:off x="1783080" y="2057400"/>
            <a:ext cx="914400" cy="365760"/>
          </a:xfrm>
          <a:prstGeom prst="rect">
            <a:avLst/>
          </a:prstGeom>
          <a:noFill/>
          <a:ln/>
        </p:spPr>
        <p:txBody>
          <a:bodyPr wrap="square" lIns="0" tIns="0" rIns="0" bIns="0" rtlCol="0" anchor="t"/>
          <a:lstStyle/>
          <a:p>
            <a:pPr marL="0" indent="0" algn="l">
              <a:buNone/>
            </a:pPr>
            <a:r>
              <a:rPr lang="en-US" sz="2000" b="1" dirty="0">
                <a:solidFill>
                  <a:srgbClr val="000000"/>
                </a:solidFill>
              </a:rPr>
              <a:t>NP</a:t>
            </a:r>
            <a:endParaRPr lang="en-US" sz="2000" dirty="0"/>
          </a:p>
        </p:txBody>
      </p:sp>
      <p:sp>
        <p:nvSpPr>
          <p:cNvPr id="8" name="Text 6"/>
          <p:cNvSpPr txBox="1"/>
          <p:nvPr/>
        </p:nvSpPr>
        <p:spPr>
          <a:xfrm>
            <a:off x="4686300" y="1965960"/>
            <a:ext cx="1645920" cy="365760"/>
          </a:xfrm>
          <a:prstGeom prst="rect">
            <a:avLst/>
          </a:prstGeom>
          <a:noFill/>
          <a:ln/>
        </p:spPr>
        <p:txBody>
          <a:bodyPr wrap="square" lIns="0" tIns="0" rIns="0" bIns="0" rtlCol="0" anchor="t"/>
          <a:lstStyle/>
          <a:p>
            <a:pPr marL="0" indent="0" algn="l">
              <a:buNone/>
            </a:pPr>
            <a:r>
              <a:rPr lang="en-US" sz="2000" b="1" dirty="0">
                <a:solidFill>
                  <a:schemeClr val="accent4"/>
                </a:solidFill>
              </a:rPr>
              <a:t>NP-hard</a:t>
            </a:r>
            <a:endParaRPr lang="en-US" sz="2000" dirty="0"/>
          </a:p>
        </p:txBody>
      </p:sp>
      <p:sp>
        <p:nvSpPr>
          <p:cNvPr id="9" name="Text 7"/>
          <p:cNvSpPr txBox="1"/>
          <p:nvPr/>
        </p:nvSpPr>
        <p:spPr>
          <a:xfrm>
            <a:off x="2926080" y="3108960"/>
            <a:ext cx="1828800" cy="457200"/>
          </a:xfrm>
          <a:prstGeom prst="rect">
            <a:avLst/>
          </a:prstGeom>
          <a:noFill/>
          <a:ln/>
        </p:spPr>
        <p:txBody>
          <a:bodyPr wrap="square" lIns="0" tIns="0" rIns="0" bIns="0" rtlCol="0" anchor="t"/>
          <a:lstStyle/>
          <a:p>
            <a:pPr marL="0" indent="0" algn="ctr">
              <a:buNone/>
            </a:pPr>
            <a:r>
              <a:rPr lang="en-US" sz="1600" b="1" dirty="0">
                <a:solidFill>
                  <a:schemeClr val="tx1"/>
                </a:solidFill>
              </a:rPr>
              <a:t>NP-complete</a:t>
            </a:r>
            <a:endParaRPr lang="en-US" sz="1600" dirty="0"/>
          </a:p>
        </p:txBody>
      </p:sp>
      <p:sp>
        <p:nvSpPr>
          <p:cNvPr id="10" name="Text 8"/>
          <p:cNvSpPr txBox="1"/>
          <p:nvPr/>
        </p:nvSpPr>
        <p:spPr>
          <a:xfrm>
            <a:off x="4892040" y="3108960"/>
            <a:ext cx="1645920" cy="457200"/>
          </a:xfrm>
          <a:prstGeom prst="rect">
            <a:avLst/>
          </a:prstGeom>
          <a:noFill/>
          <a:ln/>
        </p:spPr>
        <p:txBody>
          <a:bodyPr wrap="square" lIns="0" tIns="0" rIns="0" bIns="0" rtlCol="0" anchor="t"/>
          <a:lstStyle/>
          <a:p>
            <a:pPr marL="0" indent="0" algn="ctr">
              <a:buNone/>
            </a:pPr>
            <a:r>
              <a:rPr lang="en-US" sz="1800" b="1" dirty="0">
                <a:solidFill>
                  <a:schemeClr val="accent4"/>
                </a:solidFill>
              </a:rPr>
              <a:t>Max-Cut</a:t>
            </a:r>
            <a:endParaRPr lang="en-US" sz="1800" dirty="0"/>
          </a:p>
        </p:txBody>
      </p:sp>
      <p:sp>
        <p:nvSpPr>
          <p:cNvPr id="11" name="Text 9"/>
          <p:cNvSpPr txBox="1"/>
          <p:nvPr/>
        </p:nvSpPr>
        <p:spPr>
          <a:xfrm>
            <a:off x="640080" y="5257800"/>
            <a:ext cx="6035040" cy="548640"/>
          </a:xfrm>
          <a:prstGeom prst="rect">
            <a:avLst/>
          </a:prstGeom>
          <a:noFill/>
          <a:ln/>
        </p:spPr>
        <p:txBody>
          <a:bodyPr wrap="square" lIns="0" tIns="0" rIns="0" bIns="0" rtlCol="0" anchor="t"/>
          <a:lstStyle/>
          <a:p>
            <a:pPr marL="0" indent="0">
              <a:buNone/>
            </a:pPr>
            <a:r>
              <a:rPr lang="en-US" sz="1400" dirty="0">
                <a:solidFill>
                  <a:srgbClr val="000000"/>
                </a:solidFill>
              </a:rPr>
              <a:t>Picture assumes P ≠ NP, which is still an open question</a:t>
            </a:r>
            <a:endParaRPr lang="en-US" sz="1400" dirty="0"/>
          </a:p>
        </p:txBody>
      </p:sp>
      <p:sp>
        <p:nvSpPr>
          <p:cNvPr id="12" name="def-card-0"/>
          <p:cNvSpPr/>
          <p:nvPr/>
        </p:nvSpPr>
        <p:spPr>
          <a:xfrm>
            <a:off x="7040880" y="1554480"/>
            <a:ext cx="4572000" cy="1188720"/>
          </a:xfrm>
          <a:prstGeom prst="roundRect">
            <a:avLst>
              <a:gd name="adj" fmla="val 9231"/>
            </a:avLst>
          </a:prstGeom>
          <a:solidFill>
            <a:schemeClr val="bg2"/>
          </a:solidFill>
          <a:ln w="12700">
            <a:solidFill>
              <a:schemeClr val="bg2"/>
            </a:solidFill>
            <a:prstDash val="solid"/>
          </a:ln>
        </p:spPr>
        <p:txBody>
          <a:bodyPr/>
          <a:lstStyle/>
          <a:p>
            <a:endParaRPr lang="en-US"/>
          </a:p>
        </p:txBody>
      </p:sp>
      <p:sp>
        <p:nvSpPr>
          <p:cNvPr id="13" name="Text 11"/>
          <p:cNvSpPr txBox="1"/>
          <p:nvPr/>
        </p:nvSpPr>
        <p:spPr>
          <a:xfrm>
            <a:off x="7269480" y="1664208"/>
            <a:ext cx="4114800" cy="365760"/>
          </a:xfrm>
          <a:prstGeom prst="rect">
            <a:avLst/>
          </a:prstGeom>
          <a:noFill/>
          <a:ln/>
        </p:spPr>
        <p:txBody>
          <a:bodyPr wrap="square" lIns="0" tIns="0" rIns="0" bIns="0" rtlCol="0" anchor="t"/>
          <a:lstStyle/>
          <a:p>
            <a:pPr marL="0" indent="0">
              <a:buNone/>
            </a:pPr>
            <a:r>
              <a:rPr lang="en-US" sz="1800" b="1" dirty="0">
                <a:solidFill>
                  <a:schemeClr val="accent3"/>
                </a:solidFill>
                <a:latin typeface="Cambria" pitchFamily="34" charset="0"/>
                <a:ea typeface="Cambria" pitchFamily="34" charset="-122"/>
                <a:cs typeface="Cambria" pitchFamily="34" charset="-120"/>
              </a:rPr>
              <a:t>P</a:t>
            </a:r>
            <a:endParaRPr lang="en-US" sz="1800" dirty="0"/>
          </a:p>
        </p:txBody>
      </p:sp>
      <p:sp>
        <p:nvSpPr>
          <p:cNvPr id="14" name="Text 12"/>
          <p:cNvSpPr txBox="1"/>
          <p:nvPr/>
        </p:nvSpPr>
        <p:spPr>
          <a:xfrm>
            <a:off x="7269480" y="2057400"/>
            <a:ext cx="4114800" cy="640080"/>
          </a:xfrm>
          <a:prstGeom prst="rect">
            <a:avLst/>
          </a:prstGeom>
          <a:noFill/>
          <a:ln/>
        </p:spPr>
        <p:txBody>
          <a:bodyPr wrap="square" lIns="0" tIns="0" rIns="0" bIns="0" rtlCol="0" anchor="t"/>
          <a:lstStyle/>
          <a:p>
            <a:pPr marL="0" indent="0">
              <a:buNone/>
            </a:pPr>
            <a:r>
              <a:rPr lang="en-US" sz="1400" dirty="0">
                <a:solidFill>
                  <a:schemeClr val="tx1"/>
                </a:solidFill>
              </a:rPr>
              <a:t>Solvable quickly: running time grows like a polynomial in n. Example: sorting a list.</a:t>
            </a:r>
            <a:endParaRPr lang="en-US" sz="1400" dirty="0"/>
          </a:p>
        </p:txBody>
      </p:sp>
      <p:sp>
        <p:nvSpPr>
          <p:cNvPr id="15" name="def-card-1"/>
          <p:cNvSpPr/>
          <p:nvPr/>
        </p:nvSpPr>
        <p:spPr>
          <a:xfrm>
            <a:off x="7040880" y="2926080"/>
            <a:ext cx="4572000" cy="1188720"/>
          </a:xfrm>
          <a:prstGeom prst="roundRect">
            <a:avLst>
              <a:gd name="adj" fmla="val 9231"/>
            </a:avLst>
          </a:prstGeom>
          <a:solidFill>
            <a:schemeClr val="bg2"/>
          </a:solidFill>
          <a:ln w="12700">
            <a:solidFill>
              <a:schemeClr val="bg2"/>
            </a:solidFill>
            <a:prstDash val="solid"/>
          </a:ln>
        </p:spPr>
        <p:txBody>
          <a:bodyPr/>
          <a:lstStyle/>
          <a:p>
            <a:endParaRPr lang="en-US"/>
          </a:p>
        </p:txBody>
      </p:sp>
      <p:sp>
        <p:nvSpPr>
          <p:cNvPr id="16" name="Text 14"/>
          <p:cNvSpPr txBox="1"/>
          <p:nvPr/>
        </p:nvSpPr>
        <p:spPr>
          <a:xfrm>
            <a:off x="7269480" y="3035808"/>
            <a:ext cx="4114800" cy="365760"/>
          </a:xfrm>
          <a:prstGeom prst="rect">
            <a:avLst/>
          </a:prstGeom>
          <a:noFill/>
          <a:ln/>
        </p:spPr>
        <p:txBody>
          <a:bodyPr wrap="square" lIns="0" tIns="0" rIns="0" bIns="0" rtlCol="0" anchor="t"/>
          <a:lstStyle/>
          <a:p>
            <a:pPr marL="0" indent="0">
              <a:buNone/>
            </a:pPr>
            <a:r>
              <a:rPr lang="en-US" sz="1800" b="1" dirty="0">
                <a:solidFill>
                  <a:schemeClr val="accent3"/>
                </a:solidFill>
                <a:latin typeface="Cambria" pitchFamily="34" charset="0"/>
                <a:ea typeface="Cambria" pitchFamily="34" charset="-122"/>
                <a:cs typeface="Cambria" pitchFamily="34" charset="-120"/>
              </a:rPr>
              <a:t>NP</a:t>
            </a:r>
            <a:endParaRPr lang="en-US" sz="1800" dirty="0"/>
          </a:p>
        </p:txBody>
      </p:sp>
      <p:sp>
        <p:nvSpPr>
          <p:cNvPr id="17" name="Text 15"/>
          <p:cNvSpPr txBox="1"/>
          <p:nvPr/>
        </p:nvSpPr>
        <p:spPr>
          <a:xfrm>
            <a:off x="7269480" y="3429000"/>
            <a:ext cx="4114800" cy="640080"/>
          </a:xfrm>
          <a:prstGeom prst="rect">
            <a:avLst/>
          </a:prstGeom>
          <a:noFill/>
          <a:ln/>
        </p:spPr>
        <p:txBody>
          <a:bodyPr wrap="square" lIns="0" tIns="0" rIns="0" bIns="0" rtlCol="0" anchor="t"/>
          <a:lstStyle/>
          <a:p>
            <a:pPr marL="0" indent="0">
              <a:buNone/>
            </a:pPr>
            <a:r>
              <a:rPr lang="en-US" sz="1400" dirty="0">
                <a:solidFill>
                  <a:schemeClr val="tx1"/>
                </a:solidFill>
              </a:rPr>
              <a:t>A proposed answer can be checked quickly. Example: given a cut, count its edges.</a:t>
            </a:r>
            <a:endParaRPr lang="en-US" sz="1400" dirty="0"/>
          </a:p>
        </p:txBody>
      </p:sp>
      <p:sp>
        <p:nvSpPr>
          <p:cNvPr id="18" name="def-card-2"/>
          <p:cNvSpPr/>
          <p:nvPr/>
        </p:nvSpPr>
        <p:spPr>
          <a:xfrm>
            <a:off x="7040880" y="4297680"/>
            <a:ext cx="4572000" cy="1188720"/>
          </a:xfrm>
          <a:prstGeom prst="roundRect">
            <a:avLst>
              <a:gd name="adj" fmla="val 9231"/>
            </a:avLst>
          </a:prstGeom>
          <a:solidFill>
            <a:schemeClr val="bg2"/>
          </a:solidFill>
          <a:ln w="12700">
            <a:solidFill>
              <a:schemeClr val="bg2"/>
            </a:solidFill>
            <a:prstDash val="solid"/>
          </a:ln>
        </p:spPr>
        <p:txBody>
          <a:bodyPr/>
          <a:lstStyle/>
          <a:p>
            <a:endParaRPr lang="en-US"/>
          </a:p>
        </p:txBody>
      </p:sp>
      <p:sp>
        <p:nvSpPr>
          <p:cNvPr id="19" name="Text 17"/>
          <p:cNvSpPr txBox="1"/>
          <p:nvPr/>
        </p:nvSpPr>
        <p:spPr>
          <a:xfrm>
            <a:off x="7269480" y="4407408"/>
            <a:ext cx="4114800" cy="365760"/>
          </a:xfrm>
          <a:prstGeom prst="rect">
            <a:avLst/>
          </a:prstGeom>
          <a:noFill/>
          <a:ln/>
        </p:spPr>
        <p:txBody>
          <a:bodyPr wrap="square" lIns="0" tIns="0" rIns="0" bIns="0" rtlCol="0" anchor="t"/>
          <a:lstStyle/>
          <a:p>
            <a:pPr marL="0" indent="0">
              <a:buNone/>
            </a:pPr>
            <a:r>
              <a:rPr lang="en-US" sz="1800" b="1" dirty="0">
                <a:solidFill>
                  <a:schemeClr val="accent3"/>
                </a:solidFill>
                <a:latin typeface="Cambria" pitchFamily="34" charset="0"/>
                <a:ea typeface="Cambria" pitchFamily="34" charset="-122"/>
                <a:cs typeface="Cambria" pitchFamily="34" charset="-120"/>
              </a:rPr>
              <a:t>NP-hard</a:t>
            </a:r>
            <a:endParaRPr lang="en-US" sz="1800" dirty="0"/>
          </a:p>
        </p:txBody>
      </p:sp>
      <p:sp>
        <p:nvSpPr>
          <p:cNvPr id="20" name="Text 18"/>
          <p:cNvSpPr txBox="1"/>
          <p:nvPr/>
        </p:nvSpPr>
        <p:spPr>
          <a:xfrm>
            <a:off x="7269480" y="4800600"/>
            <a:ext cx="4114800" cy="640080"/>
          </a:xfrm>
          <a:prstGeom prst="rect">
            <a:avLst/>
          </a:prstGeom>
          <a:noFill/>
          <a:ln/>
        </p:spPr>
        <p:txBody>
          <a:bodyPr wrap="square" lIns="0" tIns="0" rIns="0" bIns="0" rtlCol="0" anchor="t"/>
          <a:lstStyle/>
          <a:p>
            <a:pPr marL="0" indent="0">
              <a:buNone/>
            </a:pPr>
            <a:r>
              <a:rPr lang="en-US" sz="1400" dirty="0">
                <a:solidFill>
                  <a:schemeClr val="tx1"/>
                </a:solidFill>
              </a:rPr>
              <a:t>At least as hard as every problem in NP. No known fast exact algorithm.</a:t>
            </a:r>
            <a:endParaRPr lang="en-US" sz="1400" dirty="0"/>
          </a:p>
        </p:txBody>
      </p:sp>
      <p:sp>
        <p:nvSpPr>
          <p:cNvPr id="21" name="Text 19"/>
          <p:cNvSpPr txBox="1"/>
          <p:nvPr/>
        </p:nvSpPr>
        <p:spPr>
          <a:xfrm>
            <a:off x="7040880" y="5715000"/>
            <a:ext cx="4572000" cy="457200"/>
          </a:xfrm>
          <a:prstGeom prst="rect">
            <a:avLst/>
          </a:prstGeom>
          <a:noFill/>
          <a:ln/>
        </p:spPr>
        <p:txBody>
          <a:bodyPr wrap="square" lIns="0" tIns="0" rIns="0" bIns="0" rtlCol="0" anchor="t"/>
          <a:lstStyle/>
          <a:p>
            <a:pPr marL="0" indent="0">
              <a:buNone/>
            </a:pPr>
            <a:r>
              <a:rPr lang="en-US" sz="1400" b="1" dirty="0">
                <a:solidFill>
                  <a:schemeClr val="tx1"/>
                </a:solidFill>
              </a:rPr>
              <a:t>Max-Cut is NP-hard (its yes/no version is NP-complete)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Graphs: the vocabulary</a:t>
            </a:r>
            <a:endParaRPr lang="en-US" sz="3400" dirty="0"/>
          </a:p>
        </p:txBody>
      </p:sp>
      <p:sp>
        <p:nvSpPr>
          <p:cNvPr id="3" name="Text 1"/>
          <p:cNvSpPr txBox="1"/>
          <p:nvPr/>
        </p:nvSpPr>
        <p:spPr>
          <a:xfrm>
            <a:off x="548640" y="1554480"/>
            <a:ext cx="5486400" cy="2743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A graph is a set of nodes (vertices) joined by edges</a:t>
            </a:r>
            <a:endParaRPr lang="en-US" sz="1700" dirty="0"/>
          </a:p>
          <a:p>
            <a:pPr marL="342900" indent="-342900">
              <a:spcAft>
                <a:spcPts val="800"/>
              </a:spcAft>
              <a:buSzPct val="100000"/>
              <a:buChar char="•"/>
            </a:pPr>
            <a:r>
              <a:rPr lang="en-US" sz="1700" dirty="0">
                <a:solidFill>
                  <a:schemeClr val="tx1"/>
                </a:solidFill>
              </a:rPr>
              <a:t>An edge may carry a weight; in our example every weight is 1.0</a:t>
            </a:r>
            <a:endParaRPr lang="en-US" sz="1700" dirty="0"/>
          </a:p>
          <a:p>
            <a:pPr marL="342900" indent="-342900">
              <a:spcAft>
                <a:spcPts val="800"/>
              </a:spcAft>
              <a:buSzPct val="100000"/>
              <a:buChar char="•"/>
            </a:pPr>
            <a:r>
              <a:rPr lang="en-US" sz="1700" dirty="0">
                <a:solidFill>
                  <a:schemeClr val="tx1"/>
                </a:solidFill>
              </a:rPr>
              <a:t>Degree of a node = number of edges touching it</a:t>
            </a:r>
            <a:endParaRPr lang="en-US" sz="1700" dirty="0"/>
          </a:p>
          <a:p>
            <a:pPr marL="342900" indent="-342900">
              <a:spcAft>
                <a:spcPts val="800"/>
              </a:spcAft>
              <a:buSzPct val="100000"/>
              <a:buChar char="•"/>
            </a:pPr>
            <a:r>
              <a:rPr lang="en-US" sz="1700" dirty="0">
                <a:solidFill>
                  <a:schemeClr val="tx1"/>
                </a:solidFill>
              </a:rPr>
              <a:t>A cut splits the nodes into two groups; an edge is cut when its ends are in different groups</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297680"/>
          <a:ext cx="5486400" cy="1901952"/>
        </p:xfrm>
        <a:graphic>
          <a:graphicData uri="http://schemas.openxmlformats.org/drawingml/2006/table">
            <a:tbl>
              <a:tblPr/>
              <a:tblGrid>
                <a:gridCol w="20116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475488">
                <a:tc>
                  <a:txBody>
                    <a:bodyPr/>
                    <a:lstStyle/>
                    <a:p>
                      <a:pPr marL="0" indent="0" algn="l">
                        <a:buNone/>
                      </a:pPr>
                      <a:r>
                        <a:rPr lang="en-US" sz="1400" b="1" dirty="0">
                          <a:solidFill>
                            <a:schemeClr val="bg1"/>
                          </a:solidFill>
                        </a:rPr>
                        <a:t>Our running example</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Value</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75488">
                <a:tc>
                  <a:txBody>
                    <a:bodyPr/>
                    <a:lstStyle/>
                    <a:p>
                      <a:pPr marL="0" indent="0" algn="l">
                        <a:buNone/>
                      </a:pPr>
                      <a:r>
                        <a:rPr lang="en-US" sz="1400" dirty="0">
                          <a:solidFill>
                            <a:schemeClr val="tx1"/>
                          </a:solidFill>
                        </a:rPr>
                        <a:t>Nodes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1, 2, 3, 4  (n = 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75488">
                <a:tc>
                  <a:txBody>
                    <a:bodyPr/>
                    <a:lstStyle/>
                    <a:p>
                      <a:pPr marL="0" indent="0" algn="l">
                        <a:buNone/>
                      </a:pPr>
                      <a:r>
                        <a:rPr lang="en-US" sz="1400" dirty="0">
                          <a:solidFill>
                            <a:schemeClr val="tx1"/>
                          </a:solidFill>
                        </a:rPr>
                        <a:t>Edges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(0,1) (0,2) (0,4) (1,2) (2,3) (3,4)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75488">
                <a:tc>
                  <a:txBody>
                    <a:bodyPr/>
                    <a:lstStyle/>
                    <a:p>
                      <a:pPr marL="0" indent="0" algn="l">
                        <a:buNone/>
                      </a:pPr>
                      <a:r>
                        <a:rPr lang="en-US" sz="1400" dirty="0">
                          <a:solidFill>
                            <a:schemeClr val="tx1"/>
                          </a:solidFill>
                        </a:rPr>
                        <a:t>Number of edges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|E| = 6</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5" name="graph-card"/>
          <p:cNvSpPr/>
          <p:nvPr/>
        </p:nvSpPr>
        <p:spPr>
          <a:xfrm>
            <a:off x="6492240" y="1463040"/>
            <a:ext cx="512064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6" name="edge-0"/>
          <p:cNvSpPr/>
          <p:nvPr/>
        </p:nvSpPr>
        <p:spPr>
          <a:xfrm flipV="1">
            <a:off x="7278624" y="2560320"/>
            <a:ext cx="1728216" cy="1172718"/>
          </a:xfrm>
          <a:prstGeom prst="line">
            <a:avLst/>
          </a:prstGeom>
          <a:noFill/>
          <a:ln w="25400">
            <a:solidFill>
              <a:schemeClr val="accent6"/>
            </a:solidFill>
            <a:prstDash val="solid"/>
          </a:ln>
        </p:spPr>
        <p:txBody>
          <a:bodyPr/>
          <a:lstStyle/>
          <a:p>
            <a:endParaRPr lang="en-US"/>
          </a:p>
        </p:txBody>
      </p:sp>
      <p:sp>
        <p:nvSpPr>
          <p:cNvPr id="7" name="edge-1"/>
          <p:cNvSpPr/>
          <p:nvPr/>
        </p:nvSpPr>
        <p:spPr>
          <a:xfrm>
            <a:off x="9006840" y="2560320"/>
            <a:ext cx="0" cy="2468880"/>
          </a:xfrm>
          <a:prstGeom prst="line">
            <a:avLst/>
          </a:prstGeom>
          <a:noFill/>
          <a:ln w="25400">
            <a:solidFill>
              <a:schemeClr val="accent6"/>
            </a:solidFill>
            <a:prstDash val="solid"/>
          </a:ln>
        </p:spPr>
        <p:txBody>
          <a:bodyPr/>
          <a:lstStyle/>
          <a:p>
            <a:endParaRPr lang="en-US"/>
          </a:p>
        </p:txBody>
      </p:sp>
      <p:sp>
        <p:nvSpPr>
          <p:cNvPr id="8" name="edge-2"/>
          <p:cNvSpPr/>
          <p:nvPr/>
        </p:nvSpPr>
        <p:spPr>
          <a:xfrm>
            <a:off x="9006840" y="2560320"/>
            <a:ext cx="1851660" cy="493776"/>
          </a:xfrm>
          <a:prstGeom prst="line">
            <a:avLst/>
          </a:prstGeom>
          <a:noFill/>
          <a:ln w="25400">
            <a:solidFill>
              <a:schemeClr val="accent6"/>
            </a:solidFill>
            <a:prstDash val="solid"/>
          </a:ln>
        </p:spPr>
        <p:txBody>
          <a:bodyPr/>
          <a:lstStyle/>
          <a:p>
            <a:endParaRPr lang="en-US"/>
          </a:p>
        </p:txBody>
      </p:sp>
      <p:sp>
        <p:nvSpPr>
          <p:cNvPr id="9" name="edge-3"/>
          <p:cNvSpPr/>
          <p:nvPr/>
        </p:nvSpPr>
        <p:spPr>
          <a:xfrm>
            <a:off x="7278624" y="3733038"/>
            <a:ext cx="1728216" cy="1296162"/>
          </a:xfrm>
          <a:prstGeom prst="line">
            <a:avLst/>
          </a:prstGeom>
          <a:noFill/>
          <a:ln w="25400">
            <a:solidFill>
              <a:schemeClr val="accent6"/>
            </a:solidFill>
            <a:prstDash val="solid"/>
          </a:ln>
        </p:spPr>
        <p:txBody>
          <a:bodyPr/>
          <a:lstStyle/>
          <a:p>
            <a:endParaRPr lang="en-US"/>
          </a:p>
        </p:txBody>
      </p:sp>
      <p:sp>
        <p:nvSpPr>
          <p:cNvPr id="4" name="edge-4"/>
          <p:cNvSpPr/>
          <p:nvPr/>
        </p:nvSpPr>
        <p:spPr>
          <a:xfrm flipV="1">
            <a:off x="9006840" y="4535424"/>
            <a:ext cx="1851660" cy="493776"/>
          </a:xfrm>
          <a:prstGeom prst="line">
            <a:avLst/>
          </a:prstGeom>
          <a:noFill/>
          <a:ln w="25400">
            <a:solidFill>
              <a:schemeClr val="accent6"/>
            </a:solidFill>
            <a:prstDash val="solid"/>
          </a:ln>
        </p:spPr>
        <p:txBody>
          <a:bodyPr/>
          <a:lstStyle/>
          <a:p>
            <a:endParaRPr lang="en-US"/>
          </a:p>
        </p:txBody>
      </p:sp>
      <p:sp>
        <p:nvSpPr>
          <p:cNvPr id="11" name="edge-5"/>
          <p:cNvSpPr/>
          <p:nvPr/>
        </p:nvSpPr>
        <p:spPr>
          <a:xfrm>
            <a:off x="10858500" y="3054096"/>
            <a:ext cx="0" cy="1481328"/>
          </a:xfrm>
          <a:prstGeom prst="line">
            <a:avLst/>
          </a:prstGeom>
          <a:noFill/>
          <a:ln w="25400">
            <a:solidFill>
              <a:schemeClr val="accent6"/>
            </a:solidFill>
            <a:prstDash val="solid"/>
          </a:ln>
        </p:spPr>
        <p:txBody>
          <a:bodyPr/>
          <a:lstStyle/>
          <a:p>
            <a:endParaRPr lang="en-US"/>
          </a:p>
        </p:txBody>
      </p:sp>
      <p:sp>
        <p:nvSpPr>
          <p:cNvPr id="12" name="node-0"/>
          <p:cNvSpPr/>
          <p:nvPr/>
        </p:nvSpPr>
        <p:spPr>
          <a:xfrm>
            <a:off x="8663940" y="2217420"/>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800" b="1" dirty="0">
                <a:solidFill>
                  <a:schemeClr val="bg1"/>
                </a:solidFill>
              </a:rPr>
              <a:t>0</a:t>
            </a:r>
            <a:endParaRPr lang="en-US" sz="1800" dirty="0"/>
          </a:p>
        </p:txBody>
      </p:sp>
      <p:sp>
        <p:nvSpPr>
          <p:cNvPr id="13" name="node-1"/>
          <p:cNvSpPr/>
          <p:nvPr/>
        </p:nvSpPr>
        <p:spPr>
          <a:xfrm>
            <a:off x="6935724" y="3390138"/>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4" name="node-2"/>
          <p:cNvSpPr/>
          <p:nvPr/>
        </p:nvSpPr>
        <p:spPr>
          <a:xfrm>
            <a:off x="8663940" y="4686300"/>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5" name="node-3"/>
          <p:cNvSpPr/>
          <p:nvPr/>
        </p:nvSpPr>
        <p:spPr>
          <a:xfrm>
            <a:off x="10515600" y="4192524"/>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node-4"/>
          <p:cNvSpPr/>
          <p:nvPr/>
        </p:nvSpPr>
        <p:spPr>
          <a:xfrm>
            <a:off x="10515600" y="2711196"/>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7" name="Text 14"/>
          <p:cNvSpPr txBox="1"/>
          <p:nvPr/>
        </p:nvSpPr>
        <p:spPr>
          <a:xfrm>
            <a:off x="6675120" y="5623560"/>
            <a:ext cx="4754880" cy="365760"/>
          </a:xfrm>
          <a:prstGeom prst="rect">
            <a:avLst/>
          </a:prstGeom>
          <a:noFill/>
          <a:ln/>
        </p:spPr>
        <p:txBody>
          <a:bodyPr wrap="square" lIns="0" tIns="0" rIns="0" bIns="0" rtlCol="0" anchor="t"/>
          <a:lstStyle/>
          <a:p>
            <a:pPr marL="0" indent="0" algn="ctr">
              <a:buNone/>
            </a:pPr>
            <a:r>
              <a:rPr lang="en-US" sz="1400" dirty="0">
                <a:solidFill>
                  <a:schemeClr val="tx1"/>
                </a:solidFill>
              </a:rPr>
              <a:t>The 5-node graph from the IBM notebook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Max-Cut problem</a:t>
            </a:r>
            <a:endParaRPr lang="en-US" sz="3400" dirty="0"/>
          </a:p>
        </p:txBody>
      </p:sp>
      <p:sp>
        <p:nvSpPr>
          <p:cNvPr id="3" name="Text 1"/>
          <p:cNvSpPr txBox="1"/>
          <p:nvPr/>
        </p:nvSpPr>
        <p:spPr>
          <a:xfrm>
            <a:off x="548640" y="1554480"/>
            <a:ext cx="5486400" cy="4389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Given a graph, split the nodes into two groups</a:t>
            </a:r>
            <a:endParaRPr lang="en-US" sz="1700" dirty="0"/>
          </a:p>
          <a:p>
            <a:pPr marL="342900" indent="-342900">
              <a:spcAft>
                <a:spcPts val="800"/>
              </a:spcAft>
              <a:buSzPct val="100000"/>
              <a:buChar char="•"/>
            </a:pPr>
            <a:r>
              <a:rPr lang="en-US" sz="1700" dirty="0">
                <a:solidFill>
                  <a:schemeClr val="tx1"/>
                </a:solidFill>
              </a:rPr>
              <a:t>Count the edges whose two ends are in different groups (the cut)</a:t>
            </a:r>
            <a:endParaRPr lang="en-US" sz="1700" dirty="0"/>
          </a:p>
          <a:p>
            <a:pPr marL="342900" indent="-342900">
              <a:spcAft>
                <a:spcPts val="800"/>
              </a:spcAft>
              <a:buSzPct val="100000"/>
              <a:buChar char="•"/>
            </a:pPr>
            <a:r>
              <a:rPr lang="en-US" sz="1700" dirty="0">
                <a:solidFill>
                  <a:schemeClr val="tx1"/>
                </a:solidFill>
              </a:rPr>
              <a:t>Goal: find the split with the largest cut</a:t>
            </a:r>
            <a:endParaRPr lang="en-US" sz="1700" dirty="0"/>
          </a:p>
          <a:p>
            <a:pPr marL="342900" indent="-342900">
              <a:spcAft>
                <a:spcPts val="800"/>
              </a:spcAft>
              <a:buSzPct val="100000"/>
              <a:buChar char="•"/>
            </a:pPr>
            <a:r>
              <a:rPr lang="en-US" sz="1700" dirty="0">
                <a:solidFill>
                  <a:schemeClr val="tx1"/>
                </a:solidFill>
              </a:rPr>
              <a:t>Used in clustering, network science, statistical physics, and circuit layout</a:t>
            </a:r>
            <a:endParaRPr lang="en-US" sz="1700" dirty="0"/>
          </a:p>
          <a:p>
            <a:pPr marL="342900" indent="-342900">
              <a:spcAft>
                <a:spcPts val="800"/>
              </a:spcAft>
              <a:buSzPct val="100000"/>
              <a:buChar char="•"/>
            </a:pPr>
            <a:r>
              <a:rPr lang="en-US" sz="1700" dirty="0">
                <a:solidFill>
                  <a:schemeClr val="tx1"/>
                </a:solidFill>
              </a:rPr>
              <a:t>Example on the right: group {1, 2, 3, 4} versus {0} cuts 3 edges. Can we do better?</a:t>
            </a:r>
            <a:endParaRPr lang="en-US" sz="1700" dirty="0"/>
          </a:p>
        </p:txBody>
      </p:sp>
      <p:sp>
        <p:nvSpPr>
          <p:cNvPr id="4" name="cut3-card"/>
          <p:cNvSpPr/>
          <p:nvPr/>
        </p:nvSpPr>
        <p:spPr>
          <a:xfrm>
            <a:off x="6492240" y="1463040"/>
            <a:ext cx="512064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edge-0"/>
          <p:cNvSpPr/>
          <p:nvPr/>
        </p:nvSpPr>
        <p:spPr>
          <a:xfrm flipV="1">
            <a:off x="7278624" y="2423160"/>
            <a:ext cx="1728216" cy="1172718"/>
          </a:xfrm>
          <a:prstGeom prst="line">
            <a:avLst/>
          </a:prstGeom>
          <a:noFill/>
          <a:ln w="50800">
            <a:solidFill>
              <a:schemeClr val="accent4"/>
            </a:solidFill>
            <a:prstDash val="solid"/>
          </a:ln>
        </p:spPr>
        <p:txBody>
          <a:bodyPr/>
          <a:lstStyle/>
          <a:p>
            <a:endParaRPr lang="en-US"/>
          </a:p>
        </p:txBody>
      </p:sp>
      <p:sp>
        <p:nvSpPr>
          <p:cNvPr id="6" name="edge-1"/>
          <p:cNvSpPr/>
          <p:nvPr/>
        </p:nvSpPr>
        <p:spPr>
          <a:xfrm>
            <a:off x="9006840" y="2423160"/>
            <a:ext cx="0" cy="2468880"/>
          </a:xfrm>
          <a:prstGeom prst="line">
            <a:avLst/>
          </a:prstGeom>
          <a:noFill/>
          <a:ln w="50800">
            <a:solidFill>
              <a:schemeClr val="accent4"/>
            </a:solidFill>
            <a:prstDash val="solid"/>
          </a:ln>
        </p:spPr>
        <p:txBody>
          <a:bodyPr/>
          <a:lstStyle/>
          <a:p>
            <a:endParaRPr lang="en-US"/>
          </a:p>
        </p:txBody>
      </p:sp>
      <p:sp>
        <p:nvSpPr>
          <p:cNvPr id="7" name="edge-2"/>
          <p:cNvSpPr/>
          <p:nvPr/>
        </p:nvSpPr>
        <p:spPr>
          <a:xfrm>
            <a:off x="9006840" y="2423160"/>
            <a:ext cx="1851660" cy="493776"/>
          </a:xfrm>
          <a:prstGeom prst="line">
            <a:avLst/>
          </a:prstGeom>
          <a:noFill/>
          <a:ln w="50800">
            <a:solidFill>
              <a:schemeClr val="accent4"/>
            </a:solidFill>
            <a:prstDash val="solid"/>
          </a:ln>
        </p:spPr>
        <p:txBody>
          <a:bodyPr/>
          <a:lstStyle/>
          <a:p>
            <a:endParaRPr lang="en-US"/>
          </a:p>
        </p:txBody>
      </p:sp>
      <p:sp>
        <p:nvSpPr>
          <p:cNvPr id="8" name="edge-3"/>
          <p:cNvSpPr/>
          <p:nvPr/>
        </p:nvSpPr>
        <p:spPr>
          <a:xfrm>
            <a:off x="7278624" y="3595878"/>
            <a:ext cx="1728216" cy="1296162"/>
          </a:xfrm>
          <a:prstGeom prst="line">
            <a:avLst/>
          </a:prstGeom>
          <a:noFill/>
          <a:ln w="25400">
            <a:solidFill>
              <a:schemeClr val="accent6"/>
            </a:solidFill>
            <a:prstDash val="dash"/>
          </a:ln>
        </p:spPr>
        <p:txBody>
          <a:bodyPr/>
          <a:lstStyle/>
          <a:p>
            <a:endParaRPr lang="en-US"/>
          </a:p>
        </p:txBody>
      </p:sp>
      <p:sp>
        <p:nvSpPr>
          <p:cNvPr id="9" name="edge-4"/>
          <p:cNvSpPr/>
          <p:nvPr/>
        </p:nvSpPr>
        <p:spPr>
          <a:xfrm flipV="1">
            <a:off x="9006840" y="4398264"/>
            <a:ext cx="1851660" cy="493776"/>
          </a:xfrm>
          <a:prstGeom prst="line">
            <a:avLst/>
          </a:prstGeom>
          <a:noFill/>
          <a:ln w="25400">
            <a:solidFill>
              <a:schemeClr val="accent6"/>
            </a:solidFill>
            <a:prstDash val="dash"/>
          </a:ln>
        </p:spPr>
        <p:txBody>
          <a:bodyPr/>
          <a:lstStyle/>
          <a:p>
            <a:endParaRPr lang="en-US"/>
          </a:p>
        </p:txBody>
      </p:sp>
      <p:sp>
        <p:nvSpPr>
          <p:cNvPr id="10" name="edge-5"/>
          <p:cNvSpPr/>
          <p:nvPr/>
        </p:nvSpPr>
        <p:spPr>
          <a:xfrm>
            <a:off x="10858500" y="2916936"/>
            <a:ext cx="0" cy="1481328"/>
          </a:xfrm>
          <a:prstGeom prst="line">
            <a:avLst/>
          </a:prstGeom>
          <a:noFill/>
          <a:ln w="25400">
            <a:solidFill>
              <a:schemeClr val="accent6"/>
            </a:solidFill>
            <a:prstDash val="dash"/>
          </a:ln>
        </p:spPr>
        <p:txBody>
          <a:bodyPr/>
          <a:lstStyle/>
          <a:p>
            <a:endParaRPr lang="en-US"/>
          </a:p>
        </p:txBody>
      </p:sp>
      <p:sp>
        <p:nvSpPr>
          <p:cNvPr id="11" name="node-0"/>
          <p:cNvSpPr/>
          <p:nvPr/>
        </p:nvSpPr>
        <p:spPr>
          <a:xfrm>
            <a:off x="8663940" y="2080260"/>
            <a:ext cx="685800" cy="68580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800" b="1" dirty="0">
                <a:solidFill>
                  <a:schemeClr val="tx1"/>
                </a:solidFill>
              </a:rPr>
              <a:t>0</a:t>
            </a:r>
            <a:endParaRPr lang="en-US" sz="1800" dirty="0"/>
          </a:p>
        </p:txBody>
      </p:sp>
      <p:sp>
        <p:nvSpPr>
          <p:cNvPr id="12" name="node-1"/>
          <p:cNvSpPr/>
          <p:nvPr/>
        </p:nvSpPr>
        <p:spPr>
          <a:xfrm>
            <a:off x="6935724" y="3252978"/>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13" name="node-2"/>
          <p:cNvSpPr/>
          <p:nvPr/>
        </p:nvSpPr>
        <p:spPr>
          <a:xfrm>
            <a:off x="8663940" y="4549140"/>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4" name="node-3"/>
          <p:cNvSpPr/>
          <p:nvPr/>
        </p:nvSpPr>
        <p:spPr>
          <a:xfrm>
            <a:off x="10515600" y="4055364"/>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5" name="node-4"/>
          <p:cNvSpPr/>
          <p:nvPr/>
        </p:nvSpPr>
        <p:spPr>
          <a:xfrm>
            <a:off x="10515600" y="2574036"/>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16" name="Text 14"/>
          <p:cNvSpPr txBox="1"/>
          <p:nvPr/>
        </p:nvSpPr>
        <p:spPr>
          <a:xfrm>
            <a:off x="6675120" y="5486400"/>
            <a:ext cx="4754880" cy="365760"/>
          </a:xfrm>
          <a:prstGeom prst="rect">
            <a:avLst/>
          </a:prstGeom>
          <a:noFill/>
          <a:ln/>
        </p:spPr>
        <p:txBody>
          <a:bodyPr wrap="square" lIns="0" tIns="0" rIns="0" bIns="0" rtlCol="0" anchor="t"/>
          <a:lstStyle/>
          <a:p>
            <a:pPr marL="0" indent="0" algn="ctr">
              <a:buNone/>
            </a:pPr>
            <a:r>
              <a:rPr lang="en-US" sz="1400" b="1" dirty="0">
                <a:solidFill>
                  <a:schemeClr val="tx1"/>
                </a:solidFill>
              </a:rPr>
              <a:t>A cut of size 3 (red edges are cut)</a:t>
            </a:r>
            <a:endParaRPr lang="en-US" sz="1400" dirty="0"/>
          </a:p>
        </p:txBody>
      </p:sp>
      <p:sp>
        <p:nvSpPr>
          <p:cNvPr id="17" name="Text 15"/>
          <p:cNvSpPr txBox="1"/>
          <p:nvPr/>
        </p:nvSpPr>
        <p:spPr>
          <a:xfrm>
            <a:off x="6675120" y="5760720"/>
            <a:ext cx="4754880" cy="274320"/>
          </a:xfrm>
          <a:prstGeom prst="rect">
            <a:avLst/>
          </a:prstGeom>
          <a:noFill/>
          <a:ln/>
        </p:spPr>
        <p:txBody>
          <a:bodyPr wrap="square" lIns="0" tIns="0" rIns="0" bIns="0" rtlCol="0" anchor="t"/>
          <a:lstStyle/>
          <a:p>
            <a:pPr marL="0" indent="0" algn="ctr">
              <a:buNone/>
            </a:pPr>
            <a:r>
              <a:rPr lang="en-US" sz="1200" dirty="0">
                <a:solidFill>
                  <a:srgbClr val="000000"/>
                </a:solidFill>
              </a:rPr>
              <a:t>Teal = group 0, amber = group 1</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objective function</a:t>
            </a:r>
            <a:endParaRPr lang="en-US" sz="3400" dirty="0"/>
          </a:p>
        </p:txBody>
      </p:sp>
      <p:sp>
        <p:nvSpPr>
          <p:cNvPr id="3" name="Text 1"/>
          <p:cNvSpPr txBox="1"/>
          <p:nvPr/>
        </p:nvSpPr>
        <p:spPr>
          <a:xfrm>
            <a:off x="548640" y="1508760"/>
            <a:ext cx="5852160" cy="640080"/>
          </a:xfrm>
          <a:prstGeom prst="rect">
            <a:avLst/>
          </a:prstGeom>
          <a:noFill/>
          <a:ln/>
        </p:spPr>
        <p:txBody>
          <a:bodyPr wrap="square" lIns="0" tIns="0" rIns="0" bIns="0" rtlCol="0" anchor="t"/>
          <a:lstStyle/>
          <a:p>
            <a:pPr marL="0" indent="0">
              <a:buNone/>
            </a:pPr>
            <a:r>
              <a:rPr lang="en-US" sz="1800" dirty="0">
                <a:solidFill>
                  <a:schemeClr val="tx1"/>
                </a:solidFill>
              </a:rPr>
              <a:t>One bit per node: xᵢ = 0 or 1 says which group node i is in.</a:t>
            </a:r>
            <a:endParaRPr lang="en-US" sz="1800" dirty="0"/>
          </a:p>
        </p:txBody>
      </p:sp>
      <p:sp>
        <p:nvSpPr>
          <p:cNvPr id="4" name="objective-card"/>
          <p:cNvSpPr/>
          <p:nvPr/>
        </p:nvSpPr>
        <p:spPr>
          <a:xfrm>
            <a:off x="548640" y="2194560"/>
            <a:ext cx="585216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777240" y="2286000"/>
            <a:ext cx="5486400" cy="1280160"/>
          </a:xfrm>
          <a:prstGeom prst="rect">
            <a:avLst/>
          </a:prstGeom>
          <a:noFill/>
          <a:ln/>
        </p:spPr>
        <p:txBody>
          <a:bodyPr wrap="square" lIns="0" tIns="0" rIns="0" bIns="0" rtlCol="0" anchor="ctr"/>
          <a:lstStyle/>
          <a:p>
            <a:pPr marL="0" indent="0">
              <a:buNone/>
            </a:pPr>
            <a:r>
              <a:rPr lang="en-US" sz="2200" b="1" dirty="0">
                <a:solidFill>
                  <a:schemeClr val="tx1"/>
                </a:solidFill>
              </a:rPr>
              <a:t>maximize  C(x) = Σ (xᵢ + xⱼ − 2xᵢxⱼ)</a:t>
            </a:r>
            <a:endParaRPr lang="en-US" sz="1600" dirty="0"/>
          </a:p>
          <a:p>
            <a:pPr marL="0" indent="0">
              <a:buNone/>
            </a:pPr>
            <a:r>
              <a:rPr lang="en-US" sz="1400" dirty="0">
                <a:solidFill>
                  <a:schemeClr val="tx1"/>
                </a:solidFill>
              </a:rPr>
              <a:t>sum over every edge (i, j)</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5852160" cy="2057400"/>
        </p:xfrm>
        <a:graphic>
          <a:graphicData uri="http://schemas.openxmlformats.org/drawingml/2006/table">
            <a:tbl>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11480">
                <a:tc>
                  <a:txBody>
                    <a:bodyPr/>
                    <a:lstStyle/>
                    <a:p>
                      <a:pPr marL="0" indent="0" algn="l">
                        <a:buNone/>
                      </a:pPr>
                      <a:r>
                        <a:rPr lang="en-US" sz="1400" b="1" dirty="0">
                          <a:solidFill>
                            <a:schemeClr val="bg1"/>
                          </a:solidFill>
                        </a:rPr>
                        <a:t>xᵢ</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xⱼ</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xᵢ + xⱼ − 2xᵢxⱼ</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Edge cut?</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11480">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+ 0 − 0 = 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no</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11480">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+ 1 − 0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 + 0 − 0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11480">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 + 1 − 2 = 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no</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7" name="obj-side-card"/>
          <p:cNvSpPr/>
          <p:nvPr/>
        </p:nvSpPr>
        <p:spPr>
          <a:xfrm>
            <a:off x="6766560" y="1463040"/>
            <a:ext cx="484632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8" name="Text 5"/>
          <p:cNvSpPr txBox="1"/>
          <p:nvPr/>
        </p:nvSpPr>
        <p:spPr>
          <a:xfrm>
            <a:off x="6995160" y="1645920"/>
            <a:ext cx="438912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Why this formula?</a:t>
            </a:r>
            <a:endParaRPr lang="en-US" sz="2000" dirty="0"/>
          </a:p>
        </p:txBody>
      </p:sp>
      <p:sp>
        <p:nvSpPr>
          <p:cNvPr id="9" name="Text 6"/>
          <p:cNvSpPr txBox="1"/>
          <p:nvPr/>
        </p:nvSpPr>
        <p:spPr>
          <a:xfrm>
            <a:off x="6995160" y="2286000"/>
            <a:ext cx="438912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Each edge adds 1 if its ends differ and 0 if they match</a:t>
            </a:r>
            <a:endParaRPr lang="en-US" sz="1600" dirty="0"/>
          </a:p>
          <a:p>
            <a:pPr marL="342900" indent="-342900">
              <a:spcAft>
                <a:spcPts val="800"/>
              </a:spcAft>
              <a:buSzPct val="100000"/>
              <a:buChar char="•"/>
            </a:pPr>
            <a:r>
              <a:rPr lang="en-US" sz="1600" dirty="0">
                <a:solidFill>
                  <a:schemeClr val="tx1"/>
                </a:solidFill>
              </a:rPr>
              <a:t>So C(x) counts the cut edges</a:t>
            </a:r>
            <a:endParaRPr lang="en-US" sz="1600" dirty="0"/>
          </a:p>
          <a:p>
            <a:pPr marL="342900" indent="-342900">
              <a:spcAft>
                <a:spcPts val="800"/>
              </a:spcAft>
              <a:buSzPct val="100000"/>
              <a:buChar char="•"/>
            </a:pPr>
            <a:r>
              <a:rPr lang="en-US" sz="1600" dirty="0">
                <a:solidFill>
                  <a:schemeClr val="tx1"/>
                </a:solidFill>
              </a:rPr>
              <a:t>n bits give 2ⁿ possible x, which is why brute force fails for large 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Worked example on the 5-node graph</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852160" cy="3218688"/>
        </p:xfrm>
        <a:graphic>
          <a:graphicData uri="http://schemas.openxmlformats.org/drawingml/2006/table">
            <a:tbl>
              <a:tblPr/>
              <a:tblGrid>
                <a:gridCol w="14630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02336">
                <a:tc>
                  <a:txBody>
                    <a:bodyPr/>
                    <a:lstStyle/>
                    <a:p>
                      <a:pPr marL="0" indent="0" algn="l">
                        <a:buNone/>
                      </a:pPr>
                      <a:r>
                        <a:rPr lang="en-US" sz="1400" b="1" dirty="0">
                          <a:solidFill>
                            <a:schemeClr val="bg1"/>
                          </a:solidFill>
                        </a:rPr>
                        <a:t>Edge</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xᵢ, xⱼ</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Cut?</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02336">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no</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02336">
                <a:tc>
                  <a:txBody>
                    <a:bodyPr/>
                    <a:lstStyle/>
                    <a:p>
                      <a:pPr marL="0" indent="0" algn="l">
                        <a:buNone/>
                      </a:pPr>
                      <a:r>
                        <a:rPr lang="en-US" sz="1400" dirty="0">
                          <a:solidFill>
                            <a:schemeClr val="tx1"/>
                          </a:solidFill>
                        </a:rPr>
                        <a:t>(0, 2)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02336">
                <a:tc>
                  <a:txBody>
                    <a:bodyPr/>
                    <a:lstStyle/>
                    <a:p>
                      <a:pPr marL="0" indent="0" algn="l">
                        <a:buNone/>
                      </a:pPr>
                      <a:r>
                        <a:rPr lang="en-US" sz="1400" dirty="0">
                          <a:solidFill>
                            <a:schemeClr val="tx1"/>
                          </a:solidFill>
                        </a:rPr>
                        <a:t>(0, 4)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02336">
                <a:tc>
                  <a:txBody>
                    <a:bodyPr/>
                    <a:lstStyle/>
                    <a:p>
                      <a:pPr marL="0" indent="0" algn="l">
                        <a:buNone/>
                      </a:pPr>
                      <a:r>
                        <a:rPr lang="en-US" sz="1400" dirty="0">
                          <a:solidFill>
                            <a:schemeClr val="tx1"/>
                          </a:solidFill>
                        </a:rPr>
                        <a:t>(1, 2)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02336">
                <a:tc>
                  <a:txBody>
                    <a:bodyPr/>
                    <a:lstStyle/>
                    <a:p>
                      <a:pPr marL="0" indent="0" algn="l">
                        <a:buNone/>
                      </a:pPr>
                      <a:r>
                        <a:rPr lang="en-US" sz="1400" dirty="0">
                          <a:solidFill>
                            <a:schemeClr val="tx1"/>
                          </a:solidFill>
                        </a:rPr>
                        <a:t>(2, 3)</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1, 0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02336">
                <a:tc>
                  <a:txBody>
                    <a:bodyPr/>
                    <a:lstStyle/>
                    <a:p>
                      <a:pPr marL="0" indent="0" algn="l">
                        <a:buNone/>
                      </a:pPr>
                      <a:r>
                        <a:rPr lang="en-US" sz="1400" dirty="0">
                          <a:solidFill>
                            <a:schemeClr val="tx1"/>
                          </a:solidFill>
                        </a:rPr>
                        <a:t>(3, 4)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02336">
                <a:tc>
                  <a:txBody>
                    <a:bodyPr/>
                    <a:lstStyle/>
                    <a:p>
                      <a:pPr marL="0" indent="0" algn="l">
                        <a:buNone/>
                      </a:pPr>
                      <a:r>
                        <a:rPr lang="en-US" sz="1400" b="1" dirty="0">
                          <a:solidFill>
                            <a:schemeClr val="tx1"/>
                          </a:solidFill>
                        </a:rPr>
                        <a:t>Total</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x = (0, 0, 1, 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accent3"/>
                          </a:solidFill>
                        </a:rPr>
                        <a:t>C(x) = 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548640" y="4983480"/>
            <a:ext cx="5852160" cy="1325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The triangle {0, 1, 2} can never have all 3 edges cut, so the best possible is 5 of 6</a:t>
            </a:r>
            <a:endParaRPr lang="en-US" sz="1400" dirty="0"/>
          </a:p>
          <a:p>
            <a:pPr marL="342900" indent="-342900">
              <a:spcAft>
                <a:spcPts val="800"/>
              </a:spcAft>
              <a:buSzPct val="100000"/>
              <a:buChar char="•"/>
            </a:pPr>
            <a:r>
              <a:rPr lang="en-US" sz="1400" dirty="0">
                <a:solidFill>
                  <a:schemeClr val="tx1"/>
                </a:solidFill>
              </a:rPr>
              <a:t>x = (0,0,1,0,1) reaches 5, so it is optimal</a:t>
            </a:r>
            <a:endParaRPr lang="en-US" sz="1400" dirty="0"/>
          </a:p>
          <a:p>
            <a:pPr marL="342900" indent="-342900">
              <a:spcAft>
                <a:spcPts val="800"/>
              </a:spcAft>
              <a:buSzPct val="100000"/>
              <a:buChar char="•"/>
            </a:pPr>
            <a:r>
              <a:rPr lang="en-US" sz="1400" dirty="0">
                <a:solidFill>
                  <a:schemeClr val="tx1"/>
                </a:solidFill>
              </a:rPr>
              <a:t>Brute force finds exactly four optimal bitstrings: 00101, 11010, 01101, 10010</a:t>
            </a:r>
            <a:endParaRPr lang="en-US" sz="1400" dirty="0"/>
          </a:p>
        </p:txBody>
      </p:sp>
      <p:sp>
        <p:nvSpPr>
          <p:cNvPr id="5" name="worked-card"/>
          <p:cNvSpPr/>
          <p:nvPr/>
        </p:nvSpPr>
        <p:spPr>
          <a:xfrm>
            <a:off x="6766560" y="1463040"/>
            <a:ext cx="484632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6" name="edge-0"/>
          <p:cNvSpPr/>
          <p:nvPr/>
        </p:nvSpPr>
        <p:spPr>
          <a:xfrm flipV="1">
            <a:off x="7525512" y="2468880"/>
            <a:ext cx="1664208" cy="1129284"/>
          </a:xfrm>
          <a:prstGeom prst="line">
            <a:avLst/>
          </a:prstGeom>
          <a:noFill/>
          <a:ln w="25400">
            <a:solidFill>
              <a:schemeClr val="accent6"/>
            </a:solidFill>
            <a:prstDash val="dash"/>
          </a:ln>
        </p:spPr>
        <p:txBody>
          <a:bodyPr/>
          <a:lstStyle/>
          <a:p>
            <a:endParaRPr lang="en-US"/>
          </a:p>
        </p:txBody>
      </p:sp>
      <p:sp>
        <p:nvSpPr>
          <p:cNvPr id="7" name="edge-1"/>
          <p:cNvSpPr/>
          <p:nvPr/>
        </p:nvSpPr>
        <p:spPr>
          <a:xfrm>
            <a:off x="9189720" y="2468880"/>
            <a:ext cx="0" cy="2377440"/>
          </a:xfrm>
          <a:prstGeom prst="line">
            <a:avLst/>
          </a:prstGeom>
          <a:noFill/>
          <a:ln w="50800">
            <a:solidFill>
              <a:schemeClr val="accent4"/>
            </a:solidFill>
            <a:prstDash val="solid"/>
          </a:ln>
        </p:spPr>
        <p:txBody>
          <a:bodyPr/>
          <a:lstStyle/>
          <a:p>
            <a:endParaRPr lang="en-US"/>
          </a:p>
        </p:txBody>
      </p:sp>
      <p:sp>
        <p:nvSpPr>
          <p:cNvPr id="8" name="edge-2"/>
          <p:cNvSpPr/>
          <p:nvPr/>
        </p:nvSpPr>
        <p:spPr>
          <a:xfrm>
            <a:off x="9189720" y="2468880"/>
            <a:ext cx="1783080" cy="475488"/>
          </a:xfrm>
          <a:prstGeom prst="line">
            <a:avLst/>
          </a:prstGeom>
          <a:noFill/>
          <a:ln w="50800">
            <a:solidFill>
              <a:schemeClr val="accent4"/>
            </a:solidFill>
            <a:prstDash val="solid"/>
          </a:ln>
        </p:spPr>
        <p:txBody>
          <a:bodyPr/>
          <a:lstStyle/>
          <a:p>
            <a:endParaRPr lang="en-US"/>
          </a:p>
        </p:txBody>
      </p:sp>
      <p:sp>
        <p:nvSpPr>
          <p:cNvPr id="9" name="edge-3"/>
          <p:cNvSpPr/>
          <p:nvPr/>
        </p:nvSpPr>
        <p:spPr>
          <a:xfrm>
            <a:off x="7525512" y="3598164"/>
            <a:ext cx="1664208" cy="1248156"/>
          </a:xfrm>
          <a:prstGeom prst="line">
            <a:avLst/>
          </a:prstGeom>
          <a:noFill/>
          <a:ln w="50800">
            <a:solidFill>
              <a:schemeClr val="accent4"/>
            </a:solidFill>
            <a:prstDash val="solid"/>
          </a:ln>
        </p:spPr>
        <p:txBody>
          <a:bodyPr/>
          <a:lstStyle/>
          <a:p>
            <a:endParaRPr lang="en-US"/>
          </a:p>
        </p:txBody>
      </p:sp>
      <p:sp>
        <p:nvSpPr>
          <p:cNvPr id="10" name="edge-4"/>
          <p:cNvSpPr/>
          <p:nvPr/>
        </p:nvSpPr>
        <p:spPr>
          <a:xfrm flipV="1">
            <a:off x="9189720" y="4370832"/>
            <a:ext cx="1783080" cy="475488"/>
          </a:xfrm>
          <a:prstGeom prst="line">
            <a:avLst/>
          </a:prstGeom>
          <a:noFill/>
          <a:ln w="50800">
            <a:solidFill>
              <a:schemeClr val="accent4"/>
            </a:solidFill>
            <a:prstDash val="solid"/>
          </a:ln>
        </p:spPr>
        <p:txBody>
          <a:bodyPr/>
          <a:lstStyle/>
          <a:p>
            <a:endParaRPr lang="en-US"/>
          </a:p>
        </p:txBody>
      </p:sp>
      <p:sp>
        <p:nvSpPr>
          <p:cNvPr id="11" name="edge-5"/>
          <p:cNvSpPr/>
          <p:nvPr/>
        </p:nvSpPr>
        <p:spPr>
          <a:xfrm>
            <a:off x="10972800" y="2944368"/>
            <a:ext cx="0" cy="1426464"/>
          </a:xfrm>
          <a:prstGeom prst="line">
            <a:avLst/>
          </a:prstGeom>
          <a:noFill/>
          <a:ln w="50800">
            <a:solidFill>
              <a:schemeClr val="accent4"/>
            </a:solidFill>
            <a:prstDash val="solid"/>
          </a:ln>
        </p:spPr>
        <p:txBody>
          <a:bodyPr/>
          <a:lstStyle/>
          <a:p>
            <a:endParaRPr lang="en-US"/>
          </a:p>
        </p:txBody>
      </p:sp>
      <p:sp>
        <p:nvSpPr>
          <p:cNvPr id="12" name="node-0"/>
          <p:cNvSpPr/>
          <p:nvPr/>
        </p:nvSpPr>
        <p:spPr>
          <a:xfrm>
            <a:off x="8846820" y="2125980"/>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0</a:t>
            </a:r>
            <a:endParaRPr lang="en-US" sz="1800" dirty="0"/>
          </a:p>
        </p:txBody>
      </p:sp>
      <p:sp>
        <p:nvSpPr>
          <p:cNvPr id="3" name="node-1"/>
          <p:cNvSpPr/>
          <p:nvPr/>
        </p:nvSpPr>
        <p:spPr>
          <a:xfrm>
            <a:off x="7182612" y="3255264"/>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14" name="node-2"/>
          <p:cNvSpPr/>
          <p:nvPr/>
        </p:nvSpPr>
        <p:spPr>
          <a:xfrm>
            <a:off x="8846820" y="4503420"/>
            <a:ext cx="685800" cy="68580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5" name="node-3"/>
          <p:cNvSpPr/>
          <p:nvPr/>
        </p:nvSpPr>
        <p:spPr>
          <a:xfrm>
            <a:off x="10629900" y="4027932"/>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6" name="node-4"/>
          <p:cNvSpPr/>
          <p:nvPr/>
        </p:nvSpPr>
        <p:spPr>
          <a:xfrm>
            <a:off x="10629900" y="2601468"/>
            <a:ext cx="685800" cy="68580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17" name="Text 14"/>
          <p:cNvSpPr txBox="1"/>
          <p:nvPr/>
        </p:nvSpPr>
        <p:spPr>
          <a:xfrm>
            <a:off x="6949440" y="5577840"/>
            <a:ext cx="4480560" cy="365760"/>
          </a:xfrm>
          <a:prstGeom prst="rect">
            <a:avLst/>
          </a:prstGeom>
          <a:noFill/>
          <a:ln/>
        </p:spPr>
        <p:txBody>
          <a:bodyPr wrap="square" lIns="0" tIns="0" rIns="0" bIns="0" rtlCol="0" anchor="t"/>
          <a:lstStyle/>
          <a:p>
            <a:pPr marL="0" indent="0" algn="ctr">
              <a:buNone/>
            </a:pPr>
            <a:r>
              <a:rPr lang="en-US" sz="1400" b="1" dirty="0">
                <a:solidFill>
                  <a:schemeClr val="tx1"/>
                </a:solidFill>
              </a:rPr>
              <a:t>Teal {0, 1, 3} versus amber {2, 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Check your understanding: Part A</a:t>
            </a:r>
            <a:endParaRPr lang="en-US" sz="3400" dirty="0"/>
          </a:p>
        </p:txBody>
      </p:sp>
      <p:sp>
        <p:nvSpPr>
          <p:cNvPr id="3" name="q-card-0"/>
          <p:cNvSpPr/>
          <p:nvPr/>
        </p:nvSpPr>
        <p:spPr>
          <a:xfrm>
            <a:off x="548640" y="1463040"/>
            <a:ext cx="11064240" cy="1341120"/>
          </a:xfrm>
          <a:prstGeom prst="roundRect">
            <a:avLst>
              <a:gd name="adj" fmla="val 8182"/>
            </a:avLst>
          </a:prstGeom>
          <a:solidFill>
            <a:schemeClr val="bg2"/>
          </a:solidFill>
          <a:ln w="12700">
            <a:solidFill>
              <a:schemeClr val="bg2"/>
            </a:solidFill>
            <a:prstDash val="solid"/>
          </a:ln>
        </p:spPr>
        <p:txBody>
          <a:bodyPr/>
          <a:lstStyle/>
          <a:p>
            <a:endParaRPr lang="en-US"/>
          </a:p>
        </p:txBody>
      </p:sp>
      <p:sp>
        <p:nvSpPr>
          <p:cNvPr id="4" name="badge-1"/>
          <p:cNvSpPr/>
          <p:nvPr/>
        </p:nvSpPr>
        <p:spPr>
          <a:xfrm>
            <a:off x="777240" y="18592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1554480" y="1554480"/>
            <a:ext cx="9875520" cy="1158240"/>
          </a:xfrm>
          <a:prstGeom prst="rect">
            <a:avLst/>
          </a:prstGeom>
          <a:noFill/>
          <a:ln/>
        </p:spPr>
        <p:txBody>
          <a:bodyPr wrap="square" lIns="0" tIns="0" rIns="0" bIns="0" rtlCol="0" anchor="ctr"/>
          <a:lstStyle/>
          <a:p>
            <a:pPr marL="0" indent="0">
              <a:buNone/>
            </a:pPr>
            <a:r>
              <a:rPr lang="en-US" sz="1900" dirty="0">
                <a:solidFill>
                  <a:schemeClr val="tx1"/>
                </a:solidFill>
              </a:rPr>
              <a:t>A graph has 7 edges and a split cuts 5 of them. How many edges are not cut?</a:t>
            </a:r>
            <a:endParaRPr lang="en-US" sz="1900" dirty="0"/>
          </a:p>
        </p:txBody>
      </p:sp>
      <p:sp>
        <p:nvSpPr>
          <p:cNvPr id="6" name="q-card-1"/>
          <p:cNvSpPr/>
          <p:nvPr/>
        </p:nvSpPr>
        <p:spPr>
          <a:xfrm>
            <a:off x="548640" y="2987040"/>
            <a:ext cx="11064240" cy="1341120"/>
          </a:xfrm>
          <a:prstGeom prst="roundRect">
            <a:avLst>
              <a:gd name="adj" fmla="val 8182"/>
            </a:avLst>
          </a:prstGeom>
          <a:solidFill>
            <a:schemeClr val="bg2"/>
          </a:solidFill>
          <a:ln w="12700">
            <a:solidFill>
              <a:schemeClr val="bg2"/>
            </a:solidFill>
            <a:prstDash val="solid"/>
          </a:ln>
        </p:spPr>
        <p:txBody>
          <a:bodyPr/>
          <a:lstStyle/>
          <a:p>
            <a:endParaRPr lang="en-US"/>
          </a:p>
        </p:txBody>
      </p:sp>
      <p:sp>
        <p:nvSpPr>
          <p:cNvPr id="7" name="badge-2"/>
          <p:cNvSpPr/>
          <p:nvPr/>
        </p:nvSpPr>
        <p:spPr>
          <a:xfrm>
            <a:off x="777240" y="33832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8" name="Text 6"/>
          <p:cNvSpPr txBox="1"/>
          <p:nvPr/>
        </p:nvSpPr>
        <p:spPr>
          <a:xfrm>
            <a:off x="1554480" y="3078480"/>
            <a:ext cx="9875520" cy="1158240"/>
          </a:xfrm>
          <a:prstGeom prst="rect">
            <a:avLst/>
          </a:prstGeom>
          <a:noFill/>
          <a:ln/>
        </p:spPr>
        <p:txBody>
          <a:bodyPr wrap="square" lIns="0" tIns="0" rIns="0" bIns="0" rtlCol="0" anchor="ctr"/>
          <a:lstStyle/>
          <a:p>
            <a:pPr marL="0" indent="0">
              <a:buNone/>
            </a:pPr>
            <a:r>
              <a:rPr lang="en-US" sz="1900" dirty="0">
                <a:solidFill>
                  <a:schemeClr val="tx1"/>
                </a:solidFill>
              </a:rPr>
              <a:t>Why can we not simply try every split of a five-node graph?</a:t>
            </a:r>
            <a:endParaRPr lang="en-US" sz="1900" dirty="0"/>
          </a:p>
        </p:txBody>
      </p:sp>
      <p:sp>
        <p:nvSpPr>
          <p:cNvPr id="9" name="q-card-2"/>
          <p:cNvSpPr/>
          <p:nvPr/>
        </p:nvSpPr>
        <p:spPr>
          <a:xfrm>
            <a:off x="548640" y="4511040"/>
            <a:ext cx="11064240" cy="1341120"/>
          </a:xfrm>
          <a:prstGeom prst="roundRect">
            <a:avLst>
              <a:gd name="adj" fmla="val 8182"/>
            </a:avLst>
          </a:prstGeom>
          <a:solidFill>
            <a:schemeClr val="bg2"/>
          </a:solidFill>
          <a:ln w="12700">
            <a:solidFill>
              <a:schemeClr val="bg2"/>
            </a:solidFill>
            <a:prstDash val="solid"/>
          </a:ln>
        </p:spPr>
        <p:txBody>
          <a:bodyPr/>
          <a:lstStyle/>
          <a:p>
            <a:endParaRPr lang="en-US"/>
          </a:p>
        </p:txBody>
      </p:sp>
      <p:sp>
        <p:nvSpPr>
          <p:cNvPr id="10" name="badge-3"/>
          <p:cNvSpPr/>
          <p:nvPr/>
        </p:nvSpPr>
        <p:spPr>
          <a:xfrm>
            <a:off x="777240" y="49072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1" name="Text 9"/>
          <p:cNvSpPr txBox="1"/>
          <p:nvPr/>
        </p:nvSpPr>
        <p:spPr>
          <a:xfrm>
            <a:off x="1554480" y="4602480"/>
            <a:ext cx="9875520" cy="1158240"/>
          </a:xfrm>
          <a:prstGeom prst="rect">
            <a:avLst/>
          </a:prstGeom>
          <a:noFill/>
          <a:ln/>
        </p:spPr>
        <p:txBody>
          <a:bodyPr wrap="square" lIns="0" tIns="0" rIns="0" bIns="0" rtlCol="0" anchor="ctr"/>
          <a:lstStyle/>
          <a:p>
            <a:pPr marL="0" indent="0">
              <a:buNone/>
            </a:pPr>
            <a:r>
              <a:rPr lang="en-US" sz="1900" dirty="0">
                <a:solidFill>
                  <a:schemeClr val="tx1"/>
                </a:solidFill>
              </a:rPr>
              <a:t>Does 'NP-hard' mean no good answers exist? Explain in one sentence.</a:t>
            </a:r>
            <a:endParaRPr lang="en-US" sz="1900" dirty="0"/>
          </a:p>
        </p:txBody>
      </p:sp>
      <p:sp>
        <p:nvSpPr>
          <p:cNvPr id="12" name="Text 10"/>
          <p:cNvSpPr txBox="1"/>
          <p:nvPr/>
        </p:nvSpPr>
        <p:spPr>
          <a:xfrm>
            <a:off x="548640" y="5989320"/>
            <a:ext cx="11064240" cy="320040"/>
          </a:xfrm>
          <a:prstGeom prst="rect">
            <a:avLst/>
          </a:prstGeom>
          <a:noFill/>
          <a:ln/>
        </p:spPr>
        <p:txBody>
          <a:bodyPr wrap="square" lIns="0" tIns="0" rIns="0" bIns="0" rtlCol="0" anchor="t"/>
          <a:lstStyle/>
          <a:p>
            <a:pPr marL="0" indent="0">
              <a:buNone/>
            </a:pPr>
            <a:r>
              <a:rPr lang="en-US" sz="1300" dirty="0">
                <a:solidFill>
                  <a:srgbClr val="000000"/>
                </a:solidFill>
              </a:rPr>
              <a:t>Think for a minute, discuss with a neighbour, then compare. Answers are in the speaker notes.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1691640"/>
            <a:ext cx="7315200" cy="548640"/>
          </a:xfrm>
          <a:prstGeom prst="rect">
            <a:avLst/>
          </a:prstGeom>
          <a:noFill/>
          <a:ln/>
        </p:spPr>
        <p:txBody>
          <a:bodyPr wrap="square" lIns="0" tIns="0" rIns="0" bIns="0" rtlCol="0" anchor="t"/>
          <a:lstStyle/>
          <a:p>
            <a:pPr marL="0" indent="0">
              <a:buNone/>
            </a:pPr>
            <a:r>
              <a:rPr lang="en-US" sz="2400" b="1" dirty="0">
                <a:solidFill>
                  <a:schemeClr val="accent1"/>
                </a:solidFill>
                <a:latin typeface="Cambria" pitchFamily="34" charset="0"/>
                <a:ea typeface="Cambria" pitchFamily="34" charset="-122"/>
                <a:cs typeface="Cambria" pitchFamily="34" charset="-120"/>
              </a:rPr>
              <a:t>Part B</a:t>
            </a:r>
            <a:endParaRPr lang="en-US" sz="2400" dirty="0"/>
          </a:p>
        </p:txBody>
      </p:sp>
      <p:sp>
        <p:nvSpPr>
          <p:cNvPr id="3" name="Text 1"/>
          <p:cNvSpPr>
            <a:spLocks noGrp="1"/>
          </p:cNvSpPr>
          <p:nvPr>
            <p:ph type="title" idx="101" hasCustomPrompt="1"/>
          </p:nvPr>
        </p:nvSpPr>
        <p:spPr>
          <a:xfrm>
            <a:off x="731520" y="2331720"/>
            <a:ext cx="10698480" cy="1188720"/>
          </a:xfrm>
          <a:prstGeom prst="rect">
            <a:avLst/>
          </a:prstGeom>
          <a:noFill/>
          <a:ln/>
        </p:spPr>
        <p:txBody>
          <a:bodyPr wrap="square" lIns="0" tIns="0" rIns="0" bIns="0" rtlCol="0" anchor="ctr"/>
          <a:lstStyle/>
          <a:p>
            <a:pPr marL="0" indent="0" algn="l">
              <a:buNone/>
            </a:pPr>
            <a:r>
              <a:rPr lang="en-US" sz="4400" b="1" dirty="0">
                <a:solidFill>
                  <a:schemeClr val="bg1"/>
                </a:solidFill>
              </a:rPr>
              <a:t>Quantum foundations</a:t>
            </a:r>
            <a:endParaRPr lang="en-US" sz="4400" dirty="0"/>
          </a:p>
        </p:txBody>
      </p:sp>
      <p:sp>
        <p:nvSpPr>
          <p:cNvPr id="4" name="Text 2"/>
          <p:cNvSpPr txBox="1"/>
          <p:nvPr/>
        </p:nvSpPr>
        <p:spPr>
          <a:xfrm>
            <a:off x="731520" y="3749040"/>
            <a:ext cx="8686800" cy="1097280"/>
          </a:xfrm>
          <a:prstGeom prst="rect">
            <a:avLst/>
          </a:prstGeom>
          <a:noFill/>
          <a:ln/>
        </p:spPr>
        <p:txBody>
          <a:bodyPr wrap="square" lIns="0" tIns="0" rIns="0" bIns="0" rtlCol="0" anchor="t"/>
          <a:lstStyle/>
          <a:p>
            <a:pPr marL="0" indent="0">
              <a:buNone/>
            </a:pPr>
            <a:r>
              <a:rPr lang="en-US" sz="2000" dirty="0">
                <a:solidFill>
                  <a:schemeClr val="bg2"/>
                </a:solidFill>
              </a:rPr>
              <a:t>Qubits, measurement, gates, Pauli operators, Hamiltonians, expectation values, and the hybrid loop</a:t>
            </a:r>
            <a:endParaRPr lang="en-US" sz="2000" dirty="0"/>
          </a:p>
        </p:txBody>
      </p:sp>
      <p:sp>
        <p:nvSpPr>
          <p:cNvPr id="5" name="Text 3"/>
          <p:cNvSpPr txBox="1"/>
          <p:nvPr/>
        </p:nvSpPr>
        <p:spPr>
          <a:xfrm>
            <a:off x="731520" y="5120640"/>
            <a:ext cx="5486400" cy="457200"/>
          </a:xfrm>
          <a:prstGeom prst="rect">
            <a:avLst/>
          </a:prstGeom>
          <a:noFill/>
          <a:ln/>
        </p:spPr>
        <p:txBody>
          <a:bodyPr wrap="square" lIns="0" tIns="0" rIns="0" bIns="0" rtlCol="0" anchor="t"/>
          <a:lstStyle/>
          <a:p>
            <a:pPr marL="0" indent="0">
              <a:buNone/>
            </a:pPr>
            <a:r>
              <a:rPr lang="en-US" sz="1600" dirty="0">
                <a:solidFill>
                  <a:schemeClr val="accent2"/>
                </a:solidFill>
              </a:rPr>
              <a:t>about 40 minutes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Bits and qubits</a:t>
            </a:r>
            <a:endParaRPr lang="en-US" sz="3400" dirty="0"/>
          </a:p>
        </p:txBody>
      </p:sp>
      <p:sp>
        <p:nvSpPr>
          <p:cNvPr id="3" name="Text 1"/>
          <p:cNvSpPr txBox="1"/>
          <p:nvPr/>
        </p:nvSpPr>
        <p:spPr>
          <a:xfrm>
            <a:off x="548640" y="1554480"/>
            <a:ext cx="5669280" cy="43891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A classical bit is 0 or 1</a:t>
            </a:r>
            <a:endParaRPr lang="en-US" sz="1800" dirty="0"/>
          </a:p>
          <a:p>
            <a:pPr marL="342900" indent="-342900">
              <a:spcAft>
                <a:spcPts val="800"/>
              </a:spcAft>
              <a:buSzPct val="100000"/>
              <a:buChar char="•"/>
            </a:pPr>
            <a:r>
              <a:rPr lang="en-US" sz="1800" dirty="0">
                <a:solidFill>
                  <a:schemeClr val="tx1"/>
                </a:solidFill>
              </a:rPr>
              <a:t>A qubit has two basis states, written |0⟩ and |1⟩</a:t>
            </a:r>
            <a:endParaRPr lang="en-US" sz="1800" dirty="0"/>
          </a:p>
          <a:p>
            <a:pPr marL="342900" indent="-342900">
              <a:spcAft>
                <a:spcPts val="800"/>
              </a:spcAft>
              <a:buSzPct val="100000"/>
              <a:buChar char="•"/>
            </a:pPr>
            <a:r>
              <a:rPr lang="en-US" sz="1800" dirty="0">
                <a:solidFill>
                  <a:schemeClr val="tx1"/>
                </a:solidFill>
              </a:rPr>
              <a:t>A general state is a blend: |ψ⟩ = α|0⟩ + β|1⟩</a:t>
            </a:r>
            <a:endParaRPr lang="en-US" sz="1800" dirty="0"/>
          </a:p>
          <a:p>
            <a:pPr marL="342900" indent="-342900">
              <a:spcAft>
                <a:spcPts val="800"/>
              </a:spcAft>
              <a:buSzPct val="100000"/>
              <a:buChar char="•"/>
            </a:pPr>
            <a:r>
              <a:rPr lang="en-US" sz="1800" dirty="0">
                <a:solidFill>
                  <a:schemeClr val="tx1"/>
                </a:solidFill>
              </a:rPr>
              <a:t>α and β are amplitudes (complex numbers) with |α|² + |β|² = 1</a:t>
            </a:r>
            <a:endParaRPr lang="en-US" sz="1800" dirty="0"/>
          </a:p>
          <a:p>
            <a:pPr marL="342900" indent="-342900">
              <a:spcAft>
                <a:spcPts val="800"/>
              </a:spcAft>
              <a:buSzPct val="100000"/>
              <a:buChar char="•"/>
            </a:pPr>
            <a:r>
              <a:rPr lang="en-US" sz="1800" dirty="0">
                <a:solidFill>
                  <a:schemeClr val="tx1"/>
                </a:solidFill>
              </a:rPr>
              <a:t>This blend is called a superposition</a:t>
            </a:r>
            <a:endParaRPr lang="en-US" sz="1800" dirty="0"/>
          </a:p>
        </p:txBody>
      </p:sp>
      <p:sp>
        <p:nvSpPr>
          <p:cNvPr id="4" name="bloch-card"/>
          <p:cNvSpPr/>
          <p:nvPr/>
        </p:nvSpPr>
        <p:spPr>
          <a:xfrm>
            <a:off x="6583680" y="1463040"/>
            <a:ext cx="502920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bloch-sphere"/>
          <p:cNvSpPr/>
          <p:nvPr/>
        </p:nvSpPr>
        <p:spPr>
          <a:xfrm>
            <a:off x="7635240" y="2194560"/>
            <a:ext cx="2926080" cy="2926080"/>
          </a:xfrm>
          <a:prstGeom prst="ellipse">
            <a:avLst/>
          </a:prstGeom>
          <a:solidFill>
            <a:schemeClr val="bg1"/>
          </a:solidFill>
          <a:ln w="25400">
            <a:solidFill>
              <a:schemeClr val="accent5"/>
            </a:solidFill>
            <a:prstDash val="solid"/>
          </a:ln>
        </p:spPr>
        <p:txBody>
          <a:bodyPr/>
          <a:lstStyle/>
          <a:p>
            <a:endParaRPr lang="en-US"/>
          </a:p>
        </p:txBody>
      </p:sp>
      <p:sp>
        <p:nvSpPr>
          <p:cNvPr id="6" name="bloch-equator"/>
          <p:cNvSpPr/>
          <p:nvPr/>
        </p:nvSpPr>
        <p:spPr>
          <a:xfrm>
            <a:off x="7635240" y="3246120"/>
            <a:ext cx="2926080" cy="822960"/>
          </a:xfrm>
          <a:prstGeom prst="ellipse">
            <a:avLst/>
          </a:prstGeom>
          <a:ln w="12700">
            <a:solidFill>
              <a:schemeClr val="accent6"/>
            </a:solidFill>
            <a:prstDash val="dash"/>
          </a:ln>
        </p:spPr>
        <p:txBody>
          <a:bodyPr/>
          <a:lstStyle/>
          <a:p>
            <a:endParaRPr lang="en-US"/>
          </a:p>
        </p:txBody>
      </p:sp>
      <p:sp>
        <p:nvSpPr>
          <p:cNvPr id="7" name="bloch-axis"/>
          <p:cNvSpPr/>
          <p:nvPr/>
        </p:nvSpPr>
        <p:spPr>
          <a:xfrm>
            <a:off x="9098280" y="2194560"/>
            <a:ext cx="0" cy="2926080"/>
          </a:xfrm>
          <a:prstGeom prst="line">
            <a:avLst/>
          </a:prstGeom>
          <a:noFill/>
          <a:ln w="12700">
            <a:solidFill>
              <a:schemeClr val="accent6"/>
            </a:solidFill>
            <a:prstDash val="solid"/>
          </a:ln>
        </p:spPr>
        <p:txBody>
          <a:bodyPr/>
          <a:lstStyle/>
          <a:p>
            <a:endParaRPr lang="en-US"/>
          </a:p>
        </p:txBody>
      </p:sp>
      <p:sp>
        <p:nvSpPr>
          <p:cNvPr id="8" name="bloch-arrow"/>
          <p:cNvSpPr/>
          <p:nvPr/>
        </p:nvSpPr>
        <p:spPr>
          <a:xfrm>
            <a:off x="9098280" y="3657600"/>
            <a:ext cx="1463040" cy="0"/>
          </a:xfrm>
          <a:prstGeom prst="line">
            <a:avLst/>
          </a:prstGeom>
          <a:noFill/>
          <a:ln w="38100">
            <a:solidFill>
              <a:schemeClr val="accent3"/>
            </a:solidFill>
            <a:prstDash val="solid"/>
            <a:tailEnd type="triangle"/>
          </a:ln>
        </p:spPr>
        <p:txBody>
          <a:bodyPr/>
          <a:lstStyle/>
          <a:p>
            <a:endParaRPr lang="en-US"/>
          </a:p>
        </p:txBody>
      </p:sp>
      <p:sp>
        <p:nvSpPr>
          <p:cNvPr id="9" name="Text 7"/>
          <p:cNvSpPr txBox="1"/>
          <p:nvPr/>
        </p:nvSpPr>
        <p:spPr>
          <a:xfrm>
            <a:off x="8641080" y="1737360"/>
            <a:ext cx="914400" cy="365760"/>
          </a:xfrm>
          <a:prstGeom prst="rect">
            <a:avLst/>
          </a:prstGeom>
          <a:noFill/>
          <a:ln/>
        </p:spPr>
        <p:txBody>
          <a:bodyPr wrap="square" lIns="0" tIns="0" rIns="0" bIns="0" rtlCol="0" anchor="t"/>
          <a:lstStyle/>
          <a:p>
            <a:pPr marL="0" indent="0" algn="ctr">
              <a:buNone/>
            </a:pPr>
            <a:r>
              <a:rPr lang="en-US" sz="1800" b="1" dirty="0">
                <a:solidFill>
                  <a:schemeClr val="tx1"/>
                </a:solidFill>
              </a:rPr>
              <a:t>|0⟩</a:t>
            </a:r>
            <a:endParaRPr lang="en-US" sz="1800" dirty="0"/>
          </a:p>
        </p:txBody>
      </p:sp>
      <p:sp>
        <p:nvSpPr>
          <p:cNvPr id="10" name="Text 8"/>
          <p:cNvSpPr txBox="1"/>
          <p:nvPr/>
        </p:nvSpPr>
        <p:spPr>
          <a:xfrm>
            <a:off x="8641080" y="5212080"/>
            <a:ext cx="914400" cy="365760"/>
          </a:xfrm>
          <a:prstGeom prst="rect">
            <a:avLst/>
          </a:prstGeom>
          <a:noFill/>
          <a:ln/>
        </p:spPr>
        <p:txBody>
          <a:bodyPr wrap="square" lIns="0" tIns="0" rIns="0" bIns="0" rtlCol="0" anchor="t"/>
          <a:lstStyle/>
          <a:p>
            <a:pPr marL="0" indent="0" algn="ctr">
              <a:buNone/>
            </a:pPr>
            <a:r>
              <a:rPr lang="en-US" sz="1800" b="1" dirty="0">
                <a:solidFill>
                  <a:schemeClr val="tx1"/>
                </a:solidFill>
              </a:rPr>
              <a:t>|1⟩</a:t>
            </a:r>
            <a:endParaRPr lang="en-US" sz="1800" dirty="0"/>
          </a:p>
        </p:txBody>
      </p:sp>
      <p:sp>
        <p:nvSpPr>
          <p:cNvPr id="11" name="Text 9"/>
          <p:cNvSpPr txBox="1"/>
          <p:nvPr/>
        </p:nvSpPr>
        <p:spPr>
          <a:xfrm>
            <a:off x="10607040" y="3474720"/>
            <a:ext cx="822960" cy="365760"/>
          </a:xfrm>
          <a:prstGeom prst="rect">
            <a:avLst/>
          </a:prstGeom>
          <a:noFill/>
          <a:ln/>
        </p:spPr>
        <p:txBody>
          <a:bodyPr wrap="square" lIns="0" tIns="0" rIns="0" bIns="0" rtlCol="0" anchor="t"/>
          <a:lstStyle/>
          <a:p>
            <a:pPr marL="0" indent="0">
              <a:buNone/>
            </a:pPr>
            <a:r>
              <a:rPr lang="en-US" sz="1800" b="1" dirty="0">
                <a:solidFill>
                  <a:schemeClr val="accent3"/>
                </a:solidFill>
              </a:rPr>
              <a:t>|+⟩</a:t>
            </a:r>
            <a:endParaRPr lang="en-US" sz="1800" dirty="0"/>
          </a:p>
        </p:txBody>
      </p:sp>
      <p:sp>
        <p:nvSpPr>
          <p:cNvPr id="12" name="Text 10"/>
          <p:cNvSpPr txBox="1"/>
          <p:nvPr/>
        </p:nvSpPr>
        <p:spPr>
          <a:xfrm>
            <a:off x="6766560" y="5669280"/>
            <a:ext cx="4663440" cy="365760"/>
          </a:xfrm>
          <a:prstGeom prst="rect">
            <a:avLst/>
          </a:prstGeom>
          <a:noFill/>
          <a:ln/>
        </p:spPr>
        <p:txBody>
          <a:bodyPr wrap="square" lIns="0" tIns="0" rIns="0" bIns="0" rtlCol="0" anchor="t"/>
          <a:lstStyle/>
          <a:p>
            <a:pPr marL="0" indent="0" algn="ctr">
              <a:buNone/>
            </a:pPr>
            <a:r>
              <a:rPr lang="en-US" sz="1400" dirty="0">
                <a:solidFill>
                  <a:schemeClr val="tx1"/>
                </a:solidFill>
              </a:rPr>
              <a:t>A qubit's state as a point on a sphere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Measurement: how we read a qubit</a:t>
            </a:r>
            <a:endParaRPr lang="en-US" sz="3400" dirty="0"/>
          </a:p>
        </p:txBody>
      </p:sp>
      <p:sp>
        <p:nvSpPr>
          <p:cNvPr id="3" name="Text 1"/>
          <p:cNvSpPr txBox="1"/>
          <p:nvPr/>
        </p:nvSpPr>
        <p:spPr>
          <a:xfrm>
            <a:off x="548640" y="1554480"/>
            <a:ext cx="5669280"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Measuring gives 0 with probability |α|² and 1 with probability |β|² (Born rule)</a:t>
            </a:r>
            <a:endParaRPr lang="en-US" sz="1700" dirty="0"/>
          </a:p>
          <a:p>
            <a:pPr marL="342900" indent="-342900">
              <a:spcAft>
                <a:spcPts val="800"/>
              </a:spcAft>
              <a:buSzPct val="100000"/>
              <a:buChar char="•"/>
            </a:pPr>
            <a:r>
              <a:rPr lang="en-US" sz="1700" dirty="0">
                <a:solidFill>
                  <a:schemeClr val="tx1"/>
                </a:solidFill>
              </a:rPr>
              <a:t>The result is a single bit; the superposition is gone afterwards</a:t>
            </a:r>
            <a:endParaRPr lang="en-US" sz="1700" dirty="0"/>
          </a:p>
          <a:p>
            <a:pPr marL="342900" indent="-342900">
              <a:spcAft>
                <a:spcPts val="800"/>
              </a:spcAft>
              <a:buSzPct val="100000"/>
              <a:buChar char="•"/>
            </a:pPr>
            <a:r>
              <a:rPr lang="en-US" sz="1700" dirty="0">
                <a:solidFill>
                  <a:schemeClr val="tx1"/>
                </a:solidFill>
              </a:rPr>
              <a:t>So we run the same circuit many times; each run is a shot</a:t>
            </a:r>
            <a:endParaRPr lang="en-US" sz="1700" dirty="0"/>
          </a:p>
          <a:p>
            <a:pPr marL="342900" indent="-342900">
              <a:spcAft>
                <a:spcPts val="800"/>
              </a:spcAft>
              <a:buSzPct val="100000"/>
              <a:buChar char="•"/>
            </a:pPr>
            <a:r>
              <a:rPr lang="en-US" sz="1700" dirty="0">
                <a:solidFill>
                  <a:schemeClr val="tx1"/>
                </a:solidFill>
              </a:rPr>
              <a:t>The histogram of shots estimates the probabilities</a:t>
            </a:r>
            <a:endParaRPr lang="en-US" sz="1700" dirty="0"/>
          </a:p>
        </p:txBody>
      </p:sp>
      <p:sp>
        <p:nvSpPr>
          <p:cNvPr id="4" name="plus-example"/>
          <p:cNvSpPr/>
          <p:nvPr/>
        </p:nvSpPr>
        <p:spPr>
          <a:xfrm>
            <a:off x="548640" y="4572000"/>
            <a:ext cx="5669280" cy="1554480"/>
          </a:xfrm>
          <a:prstGeom prst="roundRect">
            <a:avLst>
              <a:gd name="adj" fmla="val 7059"/>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777240" y="4709160"/>
            <a:ext cx="5212080" cy="1280160"/>
          </a:xfrm>
          <a:prstGeom prst="rect">
            <a:avLst/>
          </a:prstGeom>
          <a:noFill/>
          <a:ln/>
        </p:spPr>
        <p:txBody>
          <a:bodyPr wrap="square" lIns="0" tIns="0" rIns="0" bIns="0" rtlCol="0" anchor="ctr"/>
          <a:lstStyle/>
          <a:p>
            <a:pPr marL="0" indent="0">
              <a:buNone/>
            </a:pPr>
            <a:r>
              <a:rPr lang="en-US" sz="1600" b="1" dirty="0">
                <a:solidFill>
                  <a:schemeClr val="tx1"/>
                </a:solidFill>
              </a:rPr>
              <a:t>Example: |+⟩ = (|0⟩ + |1⟩) / √2</a:t>
            </a:r>
            <a:endParaRPr lang="en-US" sz="1600" dirty="0"/>
          </a:p>
          <a:p>
            <a:pPr marL="0" indent="0">
              <a:buNone/>
            </a:pPr>
            <a:r>
              <a:rPr lang="en-US" sz="1600" dirty="0">
                <a:solidFill>
                  <a:schemeClr val="tx1"/>
                </a:solidFill>
              </a:rPr>
              <a:t>1,000 shots give about 500 zeros and 500 ones, give or take 16</a:t>
            </a:r>
            <a:endParaRPr lang="en-US" sz="1600" dirty="0"/>
          </a:p>
        </p:txBody>
      </p:sp>
      <p:sp>
        <p:nvSpPr>
          <p:cNvPr id="6" name="stat-card"/>
          <p:cNvSpPr/>
          <p:nvPr/>
        </p:nvSpPr>
        <p:spPr>
          <a:xfrm>
            <a:off x="6675120" y="1554480"/>
            <a:ext cx="233172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7" name="Text 5"/>
          <p:cNvSpPr txBox="1"/>
          <p:nvPr/>
        </p:nvSpPr>
        <p:spPr>
          <a:xfrm>
            <a:off x="6858000" y="1664208"/>
            <a:ext cx="1965960" cy="73152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50%</a:t>
            </a:r>
            <a:endParaRPr lang="en-US" sz="4000" dirty="0"/>
          </a:p>
        </p:txBody>
      </p:sp>
      <p:sp>
        <p:nvSpPr>
          <p:cNvPr id="8" name="Text 6"/>
          <p:cNvSpPr txBox="1"/>
          <p:nvPr/>
        </p:nvSpPr>
        <p:spPr>
          <a:xfrm>
            <a:off x="6858000" y="2423160"/>
            <a:ext cx="1965960" cy="457200"/>
          </a:xfrm>
          <a:prstGeom prst="rect">
            <a:avLst/>
          </a:prstGeom>
          <a:noFill/>
          <a:ln/>
        </p:spPr>
        <p:txBody>
          <a:bodyPr wrap="square" lIns="0" tIns="0" rIns="0" bIns="0" rtlCol="0" anchor="t"/>
          <a:lstStyle/>
          <a:p>
            <a:pPr marL="0" indent="0">
              <a:buNone/>
            </a:pPr>
            <a:r>
              <a:rPr lang="en-US" sz="1400" dirty="0">
                <a:solidFill>
                  <a:schemeClr val="tx1"/>
                </a:solidFill>
              </a:rPr>
              <a:t>measure 0</a:t>
            </a:r>
            <a:endParaRPr lang="en-US" sz="1400" dirty="0"/>
          </a:p>
        </p:txBody>
      </p:sp>
      <p:sp>
        <p:nvSpPr>
          <p:cNvPr id="9" name="stat-card"/>
          <p:cNvSpPr/>
          <p:nvPr/>
        </p:nvSpPr>
        <p:spPr>
          <a:xfrm>
            <a:off x="9281160" y="1554480"/>
            <a:ext cx="233172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0" name="Text 8"/>
          <p:cNvSpPr txBox="1"/>
          <p:nvPr/>
        </p:nvSpPr>
        <p:spPr>
          <a:xfrm>
            <a:off x="9464040" y="1664208"/>
            <a:ext cx="1965960" cy="731520"/>
          </a:xfrm>
          <a:prstGeom prst="rect">
            <a:avLst/>
          </a:prstGeom>
          <a:noFill/>
          <a:ln/>
        </p:spPr>
        <p:txBody>
          <a:bodyPr wrap="square" lIns="0" tIns="0" rIns="0" bIns="0" rtlCol="0" anchor="ctr"/>
          <a:lstStyle/>
          <a:p>
            <a:pPr marL="0" indent="0">
              <a:buNone/>
            </a:pPr>
            <a:r>
              <a:rPr lang="en-US" sz="4000" b="1" dirty="0">
                <a:solidFill>
                  <a:schemeClr val="accent3"/>
                </a:solidFill>
                <a:latin typeface="Cambria" pitchFamily="34" charset="0"/>
                <a:ea typeface="Cambria" pitchFamily="34" charset="-122"/>
                <a:cs typeface="Cambria" pitchFamily="34" charset="-120"/>
              </a:rPr>
              <a:t>50%</a:t>
            </a:r>
            <a:endParaRPr lang="en-US" sz="4000" dirty="0"/>
          </a:p>
        </p:txBody>
      </p:sp>
      <p:sp>
        <p:nvSpPr>
          <p:cNvPr id="11" name="Text 9"/>
          <p:cNvSpPr txBox="1"/>
          <p:nvPr/>
        </p:nvSpPr>
        <p:spPr>
          <a:xfrm>
            <a:off x="9464040" y="2423160"/>
            <a:ext cx="1965960" cy="457200"/>
          </a:xfrm>
          <a:prstGeom prst="rect">
            <a:avLst/>
          </a:prstGeom>
          <a:noFill/>
          <a:ln/>
        </p:spPr>
        <p:txBody>
          <a:bodyPr wrap="square" lIns="0" tIns="0" rIns="0" bIns="0" rtlCol="0" anchor="t"/>
          <a:lstStyle/>
          <a:p>
            <a:pPr marL="0" indent="0">
              <a:buNone/>
            </a:pPr>
            <a:r>
              <a:rPr lang="en-US" sz="1400" dirty="0">
                <a:solidFill>
                  <a:schemeClr val="tx1"/>
                </a:solidFill>
              </a:rPr>
              <a:t>measure 1</a:t>
            </a:r>
            <a:endParaRPr lang="en-US" sz="1400" dirty="0"/>
          </a:p>
        </p:txBody>
      </p:sp>
      <p:sp>
        <p:nvSpPr>
          <p:cNvPr id="12" name="shots-card"/>
          <p:cNvSpPr/>
          <p:nvPr/>
        </p:nvSpPr>
        <p:spPr>
          <a:xfrm>
            <a:off x="6675120" y="3200400"/>
            <a:ext cx="4937760" cy="2926080"/>
          </a:xfrm>
          <a:prstGeom prst="roundRect">
            <a:avLst>
              <a:gd name="adj" fmla="val 3750"/>
            </a:avLst>
          </a:prstGeom>
          <a:solidFill>
            <a:schemeClr val="bg2"/>
          </a:solidFill>
          <a:ln w="12700">
            <a:solidFill>
              <a:schemeClr val="bg2"/>
            </a:solidFill>
            <a:prstDash val="solid"/>
          </a:ln>
        </p:spPr>
        <p:txBody>
          <a:bodyPr/>
          <a:lstStyle/>
          <a:p>
            <a:endParaRPr lang="en-US"/>
          </a:p>
        </p:txBody>
      </p:sp>
      <p:sp>
        <p:nvSpPr>
          <p:cNvPr id="13" name="Text 11"/>
          <p:cNvSpPr txBox="1"/>
          <p:nvPr/>
        </p:nvSpPr>
        <p:spPr>
          <a:xfrm>
            <a:off x="6903720" y="3337560"/>
            <a:ext cx="448056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Why shots matter later</a:t>
            </a:r>
            <a:endParaRPr lang="en-US" sz="2000" dirty="0"/>
          </a:p>
        </p:txBody>
      </p:sp>
      <p:sp>
        <p:nvSpPr>
          <p:cNvPr id="14" name="Text 12"/>
          <p:cNvSpPr txBox="1"/>
          <p:nvPr/>
        </p:nvSpPr>
        <p:spPr>
          <a:xfrm>
            <a:off x="6903720" y="3931920"/>
            <a:ext cx="448056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Every cost value QAOA uses is estimated from shots</a:t>
            </a:r>
            <a:endParaRPr lang="en-US" sz="1600" dirty="0"/>
          </a:p>
          <a:p>
            <a:pPr marL="342900" indent="-342900">
              <a:spcAft>
                <a:spcPts val="800"/>
              </a:spcAft>
              <a:buSzPct val="100000"/>
              <a:buChar char="•"/>
            </a:pPr>
            <a:r>
              <a:rPr lang="en-US" sz="1600" dirty="0">
                <a:solidFill>
                  <a:schemeClr val="tx1"/>
                </a:solidFill>
              </a:rPr>
              <a:t>Statistical error shrinks like 1/√shots</a:t>
            </a:r>
            <a:endParaRPr lang="en-US" sz="1600" dirty="0"/>
          </a:p>
          <a:p>
            <a:pPr marL="342900" indent="-342900">
              <a:spcAft>
                <a:spcPts val="800"/>
              </a:spcAft>
              <a:buSzPct val="100000"/>
              <a:buChar char="•"/>
            </a:pPr>
            <a:r>
              <a:rPr lang="en-US" sz="1600" dirty="0">
                <a:solidFill>
                  <a:schemeClr val="tx1"/>
                </a:solidFill>
              </a:rPr>
              <a:t>More shots cost more device time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Amplitudes, probabilities, and interference</a:t>
            </a:r>
            <a:endParaRPr lang="en-US" sz="3400" dirty="0"/>
          </a:p>
        </p:txBody>
      </p:sp>
      <p:sp>
        <p:nvSpPr>
          <p:cNvPr id="3" name="Text 1"/>
          <p:cNvSpPr txBox="1"/>
          <p:nvPr/>
        </p:nvSpPr>
        <p:spPr>
          <a:xfrm>
            <a:off x="548640" y="1554480"/>
            <a:ext cx="5120640" cy="4663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Every bitstring in a quantum state carries an amplitude: a number that can be positive or negative (in general, complex)</a:t>
            </a:r>
            <a:endParaRPr lang="en-US" sz="1600" dirty="0"/>
          </a:p>
          <a:p>
            <a:pPr marL="342900" indent="-342900">
              <a:spcAft>
                <a:spcPts val="800"/>
              </a:spcAft>
              <a:buSzPct val="100000"/>
              <a:buChar char="•"/>
            </a:pPr>
            <a:r>
              <a:rPr lang="en-US" sz="1600" dirty="0">
                <a:solidFill>
                  <a:schemeClr val="tx1"/>
                </a:solidFill>
              </a:rPr>
              <a:t>The probability of measuring a bitstring is the amplitude squared, so it is never negative</a:t>
            </a:r>
            <a:endParaRPr lang="en-US" sz="1600" dirty="0"/>
          </a:p>
          <a:p>
            <a:pPr marL="342900" indent="-342900">
              <a:spcAft>
                <a:spcPts val="800"/>
              </a:spcAft>
              <a:buSzPct val="100000"/>
              <a:buChar char="•"/>
            </a:pPr>
            <a:r>
              <a:rPr lang="en-US" sz="1600" dirty="0">
                <a:solidFill>
                  <a:schemeClr val="tx1"/>
                </a:solidFill>
              </a:rPr>
              <a:t>Different routes to the same bitstring add their amplitudes before squaring</a:t>
            </a:r>
            <a:endParaRPr lang="en-US" sz="1600" dirty="0"/>
          </a:p>
          <a:p>
            <a:pPr marL="342900" indent="-342900">
              <a:spcAft>
                <a:spcPts val="800"/>
              </a:spcAft>
              <a:buSzPct val="100000"/>
              <a:buChar char="•"/>
            </a:pPr>
            <a:r>
              <a:rPr lang="en-US" sz="1600" dirty="0">
                <a:solidFill>
                  <a:schemeClr val="tx1"/>
                </a:solidFill>
              </a:rPr>
              <a:t>Equal signs reinforce each other; opposite signs cancel. This is interference, and it is the engine of every quantum algorithm</a:t>
            </a:r>
            <a:endParaRPr lang="en-US" sz="1600" dirty="0"/>
          </a:p>
        </p:txBody>
      </p:sp>
      <p:sp>
        <p:nvSpPr>
          <p:cNvPr id="4" name="interf-card-0"/>
          <p:cNvSpPr/>
          <p:nvPr/>
        </p:nvSpPr>
        <p:spPr>
          <a:xfrm>
            <a:off x="5943600" y="1463040"/>
            <a:ext cx="5669280" cy="2240280"/>
          </a:xfrm>
          <a:prstGeom prst="roundRect">
            <a:avLst>
              <a:gd name="adj" fmla="val 4898"/>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126480" y="1572768"/>
            <a:ext cx="5303520" cy="36576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Same sign: reinforce</a:t>
            </a:r>
            <a:endParaRPr lang="en-US" sz="1600" dirty="0"/>
          </a:p>
        </p:txBody>
      </p:sp>
      <p:sp>
        <p:nvSpPr>
          <p:cNvPr id="6" name="Text 4"/>
          <p:cNvSpPr txBox="1"/>
          <p:nvPr/>
        </p:nvSpPr>
        <p:spPr>
          <a:xfrm>
            <a:off x="6126480" y="2103120"/>
            <a:ext cx="1325880" cy="320040"/>
          </a:xfrm>
          <a:prstGeom prst="rect">
            <a:avLst/>
          </a:prstGeom>
          <a:noFill/>
          <a:ln/>
        </p:spPr>
        <p:txBody>
          <a:bodyPr wrap="square" lIns="0" tIns="0" rIns="0" bIns="0" rtlCol="0" anchor="ctr"/>
          <a:lstStyle/>
          <a:p>
            <a:pPr marL="0" indent="0">
              <a:buNone/>
            </a:pPr>
            <a:r>
              <a:rPr lang="en-US" sz="1300" dirty="0">
                <a:solidFill>
                  <a:schemeClr val="tx1"/>
                </a:solidFill>
              </a:rPr>
              <a:t>Route 1: +0.5</a:t>
            </a:r>
            <a:endParaRPr lang="en-US" sz="1300" dirty="0"/>
          </a:p>
        </p:txBody>
      </p:sp>
      <p:sp>
        <p:nvSpPr>
          <p:cNvPr id="7" name="Shape 5"/>
          <p:cNvSpPr/>
          <p:nvPr/>
        </p:nvSpPr>
        <p:spPr>
          <a:xfrm>
            <a:off x="7498080" y="2103120"/>
            <a:ext cx="1280160" cy="320040"/>
          </a:xfrm>
          <a:prstGeom prst="rect">
            <a:avLst/>
          </a:prstGeom>
          <a:solidFill>
            <a:schemeClr val="accent1"/>
          </a:solidFill>
          <a:ln w="12700">
            <a:solidFill>
              <a:schemeClr val="accent1"/>
            </a:solidFill>
            <a:prstDash val="solid"/>
          </a:ln>
        </p:spPr>
        <p:txBody>
          <a:bodyPr/>
          <a:lstStyle/>
          <a:p>
            <a:endParaRPr lang="en-US"/>
          </a:p>
        </p:txBody>
      </p:sp>
      <p:sp>
        <p:nvSpPr>
          <p:cNvPr id="8" name="Text 6"/>
          <p:cNvSpPr txBox="1"/>
          <p:nvPr/>
        </p:nvSpPr>
        <p:spPr>
          <a:xfrm>
            <a:off x="6126480" y="2578608"/>
            <a:ext cx="1325880" cy="320040"/>
          </a:xfrm>
          <a:prstGeom prst="rect">
            <a:avLst/>
          </a:prstGeom>
          <a:noFill/>
          <a:ln/>
        </p:spPr>
        <p:txBody>
          <a:bodyPr wrap="square" lIns="0" tIns="0" rIns="0" bIns="0" rtlCol="0" anchor="ctr"/>
          <a:lstStyle/>
          <a:p>
            <a:pPr marL="0" indent="0">
              <a:buNone/>
            </a:pPr>
            <a:r>
              <a:rPr lang="en-US" sz="1300" dirty="0">
                <a:solidFill>
                  <a:schemeClr val="tx1"/>
                </a:solidFill>
              </a:rPr>
              <a:t>Route 2: +0.5</a:t>
            </a:r>
            <a:endParaRPr lang="en-US" sz="1300" dirty="0"/>
          </a:p>
        </p:txBody>
      </p:sp>
      <p:sp>
        <p:nvSpPr>
          <p:cNvPr id="9" name="Shape 7"/>
          <p:cNvSpPr/>
          <p:nvPr/>
        </p:nvSpPr>
        <p:spPr>
          <a:xfrm>
            <a:off x="8778240" y="2578608"/>
            <a:ext cx="1280160" cy="320040"/>
          </a:xfrm>
          <a:prstGeom prst="rect">
            <a:avLst/>
          </a:prstGeom>
          <a:solidFill>
            <a:schemeClr val="accent1"/>
          </a:solidFill>
          <a:ln w="12700">
            <a:solidFill>
              <a:schemeClr val="accent1"/>
            </a:solidFill>
            <a:prstDash val="solid"/>
          </a:ln>
        </p:spPr>
        <p:txBody>
          <a:bodyPr/>
          <a:lstStyle/>
          <a:p>
            <a:endParaRPr lang="en-US"/>
          </a:p>
        </p:txBody>
      </p:sp>
      <p:sp>
        <p:nvSpPr>
          <p:cNvPr id="10" name="Text 8"/>
          <p:cNvSpPr txBox="1"/>
          <p:nvPr/>
        </p:nvSpPr>
        <p:spPr>
          <a:xfrm>
            <a:off x="6126480" y="3054096"/>
            <a:ext cx="1325880" cy="320040"/>
          </a:xfrm>
          <a:prstGeom prst="rect">
            <a:avLst/>
          </a:prstGeom>
          <a:noFill/>
          <a:ln/>
        </p:spPr>
        <p:txBody>
          <a:bodyPr wrap="square" lIns="0" tIns="0" rIns="0" bIns="0" rtlCol="0" anchor="ctr"/>
          <a:lstStyle/>
          <a:p>
            <a:pPr marL="0" indent="0">
              <a:buNone/>
            </a:pPr>
            <a:r>
              <a:rPr lang="en-US" sz="1300" dirty="0">
                <a:solidFill>
                  <a:schemeClr val="tx1"/>
                </a:solidFill>
              </a:rPr>
              <a:t>Total</a:t>
            </a:r>
            <a:endParaRPr lang="en-US" sz="1300" dirty="0"/>
          </a:p>
        </p:txBody>
      </p:sp>
      <p:sp>
        <p:nvSpPr>
          <p:cNvPr id="11" name="Shape 9"/>
          <p:cNvSpPr/>
          <p:nvPr/>
        </p:nvSpPr>
        <p:spPr>
          <a:xfrm>
            <a:off x="7498080" y="3054096"/>
            <a:ext cx="2560320" cy="320040"/>
          </a:xfrm>
          <a:prstGeom prst="rect">
            <a:avLst/>
          </a:prstGeom>
          <a:solidFill>
            <a:schemeClr val="accent3"/>
          </a:solidFill>
          <a:ln w="12700">
            <a:solidFill>
              <a:schemeClr val="accent3"/>
            </a:solidFill>
            <a:prstDash val="solid"/>
          </a:ln>
        </p:spPr>
        <p:txBody>
          <a:bodyPr/>
          <a:lstStyle/>
          <a:p>
            <a:endParaRPr lang="en-US"/>
          </a:p>
        </p:txBody>
      </p:sp>
      <p:sp>
        <p:nvSpPr>
          <p:cNvPr id="12" name="Shape 10"/>
          <p:cNvSpPr/>
          <p:nvPr/>
        </p:nvSpPr>
        <p:spPr>
          <a:xfrm>
            <a:off x="7498080" y="2057400"/>
            <a:ext cx="0" cy="1463040"/>
          </a:xfrm>
          <a:prstGeom prst="line">
            <a:avLst/>
          </a:prstGeom>
          <a:noFill/>
          <a:ln w="12700">
            <a:solidFill>
              <a:schemeClr val="tx1"/>
            </a:solidFill>
            <a:prstDash val="solid"/>
          </a:ln>
        </p:spPr>
        <p:txBody>
          <a:bodyPr/>
          <a:lstStyle/>
          <a:p>
            <a:endParaRPr lang="en-US"/>
          </a:p>
        </p:txBody>
      </p:sp>
      <p:sp>
        <p:nvSpPr>
          <p:cNvPr id="13" name="Text 11"/>
          <p:cNvSpPr txBox="1"/>
          <p:nvPr/>
        </p:nvSpPr>
        <p:spPr>
          <a:xfrm>
            <a:off x="10104120" y="3063240"/>
            <a:ext cx="1463040" cy="320040"/>
          </a:xfrm>
          <a:prstGeom prst="rect">
            <a:avLst/>
          </a:prstGeom>
          <a:noFill/>
          <a:ln/>
        </p:spPr>
        <p:txBody>
          <a:bodyPr wrap="square" lIns="0" tIns="0" rIns="0" bIns="0" rtlCol="0" anchor="ctr"/>
          <a:lstStyle/>
          <a:p>
            <a:pPr marL="0" indent="0">
              <a:buNone/>
            </a:pPr>
            <a:r>
              <a:rPr lang="en-US" sz="1200" dirty="0">
                <a:solidFill>
                  <a:schemeClr val="tx1"/>
                </a:solidFill>
              </a:rPr>
              <a:t>total 1.0: prob. 1</a:t>
            </a:r>
            <a:endParaRPr lang="en-US" sz="1200" dirty="0"/>
          </a:p>
        </p:txBody>
      </p:sp>
      <p:sp>
        <p:nvSpPr>
          <p:cNvPr id="14" name="interf-card-1"/>
          <p:cNvSpPr/>
          <p:nvPr/>
        </p:nvSpPr>
        <p:spPr>
          <a:xfrm>
            <a:off x="5943600" y="3886200"/>
            <a:ext cx="5669280" cy="2240280"/>
          </a:xfrm>
          <a:prstGeom prst="roundRect">
            <a:avLst>
              <a:gd name="adj" fmla="val 4898"/>
            </a:avLst>
          </a:prstGeom>
          <a:solidFill>
            <a:schemeClr val="bg2"/>
          </a:solidFill>
          <a:ln w="12700">
            <a:solidFill>
              <a:schemeClr val="bg2"/>
            </a:solidFill>
            <a:prstDash val="solid"/>
          </a:ln>
        </p:spPr>
        <p:txBody>
          <a:bodyPr/>
          <a:lstStyle/>
          <a:p>
            <a:endParaRPr lang="en-US"/>
          </a:p>
        </p:txBody>
      </p:sp>
      <p:sp>
        <p:nvSpPr>
          <p:cNvPr id="15" name="Text 13"/>
          <p:cNvSpPr txBox="1"/>
          <p:nvPr/>
        </p:nvSpPr>
        <p:spPr>
          <a:xfrm>
            <a:off x="6126480" y="3995928"/>
            <a:ext cx="5303520" cy="36576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Opposite sign: cancel</a:t>
            </a:r>
            <a:endParaRPr lang="en-US" sz="1600" dirty="0"/>
          </a:p>
        </p:txBody>
      </p:sp>
      <p:sp>
        <p:nvSpPr>
          <p:cNvPr id="16" name="Text 14"/>
          <p:cNvSpPr txBox="1"/>
          <p:nvPr/>
        </p:nvSpPr>
        <p:spPr>
          <a:xfrm>
            <a:off x="6126480" y="4526280"/>
            <a:ext cx="1325880" cy="320040"/>
          </a:xfrm>
          <a:prstGeom prst="rect">
            <a:avLst/>
          </a:prstGeom>
          <a:noFill/>
          <a:ln/>
        </p:spPr>
        <p:txBody>
          <a:bodyPr wrap="square" lIns="0" tIns="0" rIns="0" bIns="0" rtlCol="0" anchor="ctr"/>
          <a:lstStyle/>
          <a:p>
            <a:pPr marL="0" indent="0">
              <a:buNone/>
            </a:pPr>
            <a:r>
              <a:rPr lang="en-US" sz="1300" dirty="0">
                <a:solidFill>
                  <a:schemeClr val="tx1"/>
                </a:solidFill>
              </a:rPr>
              <a:t>Route 1: +0.5</a:t>
            </a:r>
            <a:endParaRPr lang="en-US" sz="1300" dirty="0"/>
          </a:p>
        </p:txBody>
      </p:sp>
      <p:sp>
        <p:nvSpPr>
          <p:cNvPr id="17" name="Shape 15"/>
          <p:cNvSpPr/>
          <p:nvPr/>
        </p:nvSpPr>
        <p:spPr>
          <a:xfrm>
            <a:off x="7498080" y="4526280"/>
            <a:ext cx="1280160" cy="320040"/>
          </a:xfrm>
          <a:prstGeom prst="rect">
            <a:avLst/>
          </a:prstGeom>
          <a:solidFill>
            <a:schemeClr val="accent1"/>
          </a:solidFill>
          <a:ln w="12700">
            <a:solidFill>
              <a:schemeClr val="accent1"/>
            </a:solidFill>
            <a:prstDash val="solid"/>
          </a:ln>
        </p:spPr>
        <p:txBody>
          <a:bodyPr/>
          <a:lstStyle/>
          <a:p>
            <a:endParaRPr lang="en-US"/>
          </a:p>
        </p:txBody>
      </p:sp>
      <p:sp>
        <p:nvSpPr>
          <p:cNvPr id="18" name="Text 16"/>
          <p:cNvSpPr txBox="1"/>
          <p:nvPr/>
        </p:nvSpPr>
        <p:spPr>
          <a:xfrm>
            <a:off x="6126480" y="5001768"/>
            <a:ext cx="1325880" cy="320040"/>
          </a:xfrm>
          <a:prstGeom prst="rect">
            <a:avLst/>
          </a:prstGeom>
          <a:noFill/>
          <a:ln/>
        </p:spPr>
        <p:txBody>
          <a:bodyPr wrap="square" lIns="0" tIns="0" rIns="0" bIns="0" rtlCol="0" anchor="ctr"/>
          <a:lstStyle/>
          <a:p>
            <a:pPr marL="0" indent="0">
              <a:buNone/>
            </a:pPr>
            <a:r>
              <a:rPr lang="en-US" sz="1300" dirty="0">
                <a:solidFill>
                  <a:schemeClr val="tx1"/>
                </a:solidFill>
              </a:rPr>
              <a:t>Route 2: −0.5</a:t>
            </a:r>
            <a:endParaRPr lang="en-US" sz="1300" dirty="0"/>
          </a:p>
        </p:txBody>
      </p:sp>
      <p:sp>
        <p:nvSpPr>
          <p:cNvPr id="19" name="Shape 17"/>
          <p:cNvSpPr/>
          <p:nvPr/>
        </p:nvSpPr>
        <p:spPr>
          <a:xfrm>
            <a:off x="7498080" y="5001768"/>
            <a:ext cx="1280160" cy="320040"/>
          </a:xfrm>
          <a:prstGeom prst="rect">
            <a:avLst/>
          </a:prstGeom>
          <a:solidFill>
            <a:schemeClr val="accent4"/>
          </a:solidFill>
          <a:ln w="12700">
            <a:solidFill>
              <a:schemeClr val="accent4"/>
            </a:solidFill>
            <a:prstDash val="solid"/>
          </a:ln>
        </p:spPr>
        <p:txBody>
          <a:bodyPr/>
          <a:lstStyle/>
          <a:p>
            <a:endParaRPr lang="en-US"/>
          </a:p>
        </p:txBody>
      </p:sp>
      <p:sp>
        <p:nvSpPr>
          <p:cNvPr id="20" name="Text 18"/>
          <p:cNvSpPr txBox="1"/>
          <p:nvPr/>
        </p:nvSpPr>
        <p:spPr>
          <a:xfrm>
            <a:off x="6126480" y="5477256"/>
            <a:ext cx="1325880" cy="320040"/>
          </a:xfrm>
          <a:prstGeom prst="rect">
            <a:avLst/>
          </a:prstGeom>
          <a:noFill/>
          <a:ln/>
        </p:spPr>
        <p:txBody>
          <a:bodyPr wrap="square" lIns="0" tIns="0" rIns="0" bIns="0" rtlCol="0" anchor="ctr"/>
          <a:lstStyle/>
          <a:p>
            <a:pPr marL="0" indent="0">
              <a:buNone/>
            </a:pPr>
            <a:r>
              <a:rPr lang="en-US" sz="1300" dirty="0">
                <a:solidFill>
                  <a:schemeClr val="tx1"/>
                </a:solidFill>
              </a:rPr>
              <a:t>Total</a:t>
            </a:r>
            <a:endParaRPr lang="en-US" sz="1300" dirty="0"/>
          </a:p>
        </p:txBody>
      </p:sp>
      <p:sp>
        <p:nvSpPr>
          <p:cNvPr id="21" name="Shape 19"/>
          <p:cNvSpPr/>
          <p:nvPr/>
        </p:nvSpPr>
        <p:spPr>
          <a:xfrm>
            <a:off x="7498080" y="4480560"/>
            <a:ext cx="0" cy="1463040"/>
          </a:xfrm>
          <a:prstGeom prst="line">
            <a:avLst/>
          </a:prstGeom>
          <a:noFill/>
          <a:ln w="12700">
            <a:solidFill>
              <a:schemeClr val="tx1"/>
            </a:solidFill>
            <a:prstDash val="solid"/>
          </a:ln>
        </p:spPr>
        <p:txBody>
          <a:bodyPr/>
          <a:lstStyle/>
          <a:p>
            <a:endParaRPr lang="en-US"/>
          </a:p>
        </p:txBody>
      </p:sp>
      <p:sp>
        <p:nvSpPr>
          <p:cNvPr id="22" name="Text 20"/>
          <p:cNvSpPr txBox="1"/>
          <p:nvPr/>
        </p:nvSpPr>
        <p:spPr>
          <a:xfrm>
            <a:off x="7680960" y="5486400"/>
            <a:ext cx="1463040" cy="320040"/>
          </a:xfrm>
          <a:prstGeom prst="rect">
            <a:avLst/>
          </a:prstGeom>
          <a:noFill/>
          <a:ln/>
        </p:spPr>
        <p:txBody>
          <a:bodyPr wrap="square" lIns="0" tIns="0" rIns="0" bIns="0" rtlCol="0" anchor="ctr"/>
          <a:lstStyle/>
          <a:p>
            <a:pPr marL="0" indent="0">
              <a:buNone/>
            </a:pPr>
            <a:r>
              <a:rPr lang="en-US" sz="1200" dirty="0">
                <a:solidFill>
                  <a:schemeClr val="tx1"/>
                </a:solidFill>
              </a:rPr>
              <a:t>total 0: prob. 0</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Several qubits and bit order</a:t>
            </a:r>
            <a:endParaRPr lang="en-US" sz="3400" dirty="0"/>
          </a:p>
        </p:txBody>
      </p:sp>
      <p:sp>
        <p:nvSpPr>
          <p:cNvPr id="3" name="Text 1"/>
          <p:cNvSpPr txBox="1"/>
          <p:nvPr/>
        </p:nvSpPr>
        <p:spPr>
          <a:xfrm>
            <a:off x="548640" y="1554480"/>
            <a:ext cx="5486400" cy="4480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n qubits have 2ⁿ basis states, one for each bitstring of length n</a:t>
            </a:r>
            <a:endParaRPr lang="en-US" sz="1700" dirty="0"/>
          </a:p>
          <a:p>
            <a:pPr marL="342900" indent="-342900">
              <a:spcAft>
                <a:spcPts val="800"/>
              </a:spcAft>
              <a:buSzPct val="100000"/>
              <a:buChar char="•"/>
            </a:pPr>
            <a:r>
              <a:rPr lang="en-US" sz="1700" dirty="0">
                <a:solidFill>
                  <a:schemeClr val="tx1"/>
                </a:solidFill>
              </a:rPr>
              <a:t>A general state assigns an amplitude to every bitstring</a:t>
            </a:r>
            <a:endParaRPr lang="en-US" sz="1700" dirty="0"/>
          </a:p>
          <a:p>
            <a:pPr marL="342900" indent="-342900">
              <a:spcAft>
                <a:spcPts val="800"/>
              </a:spcAft>
              <a:buSzPct val="100000"/>
              <a:buChar char="•"/>
            </a:pPr>
            <a:r>
              <a:rPr lang="en-US" sz="1700" dirty="0">
                <a:solidFill>
                  <a:schemeClr val="tx1"/>
                </a:solidFill>
              </a:rPr>
              <a:t>Entanglement: some states cannot be split into independent qubits; it is what lets QAOA correlate neighboring nodes</a:t>
            </a:r>
            <a:endParaRPr lang="en-US" sz="1700" dirty="0"/>
          </a:p>
          <a:p>
            <a:pPr marL="342900" indent="-342900">
              <a:spcAft>
                <a:spcPts val="800"/>
              </a:spcAft>
              <a:buSzPct val="100000"/>
              <a:buChar char="•"/>
            </a:pPr>
            <a:r>
              <a:rPr lang="en-US" sz="1700" dirty="0">
                <a:solidFill>
                  <a:schemeClr val="tx1"/>
                </a:solidFill>
              </a:rPr>
              <a:t>Qiskit writes bitstrings as q4 q3 q2 q1 q0, so qubit 0 is the rightmost bit</a:t>
            </a:r>
            <a:endParaRPr lang="en-US" sz="1700" dirty="0"/>
          </a:p>
        </p:txBody>
      </p:sp>
      <p:sp>
        <p:nvSpPr>
          <p:cNvPr id="4" name="order-card"/>
          <p:cNvSpPr/>
          <p:nvPr/>
        </p:nvSpPr>
        <p:spPr>
          <a:xfrm>
            <a:off x="6400800" y="1463040"/>
            <a:ext cx="521208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629400" y="1645920"/>
            <a:ext cx="4754880" cy="41148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Reading Qiskit output for 5 qubits</a:t>
            </a:r>
            <a:endParaRPr lang="en-US" sz="1800" dirty="0"/>
          </a:p>
        </p:txBody>
      </p:sp>
      <p:sp>
        <p:nvSpPr>
          <p:cNvPr id="6" name="Text 4"/>
          <p:cNvSpPr txBox="1"/>
          <p:nvPr/>
        </p:nvSpPr>
        <p:spPr>
          <a:xfrm>
            <a:off x="6675120" y="2286000"/>
            <a:ext cx="731520" cy="320040"/>
          </a:xfrm>
          <a:prstGeom prst="rect">
            <a:avLst/>
          </a:prstGeom>
          <a:noFill/>
          <a:ln/>
        </p:spPr>
        <p:txBody>
          <a:bodyPr wrap="square" lIns="0" tIns="0" rIns="0" bIns="0" rtlCol="0" anchor="t"/>
          <a:lstStyle/>
          <a:p>
            <a:pPr marL="0" indent="0" algn="ctr">
              <a:buNone/>
            </a:pPr>
            <a:r>
              <a:rPr lang="en-US" sz="1400" dirty="0">
                <a:solidFill>
                  <a:srgbClr val="000000"/>
                </a:solidFill>
              </a:rPr>
              <a:t>q4</a:t>
            </a:r>
            <a:endParaRPr lang="en-US" sz="1400" dirty="0"/>
          </a:p>
        </p:txBody>
      </p:sp>
      <p:sp>
        <p:nvSpPr>
          <p:cNvPr id="7" name="Text 5"/>
          <p:cNvSpPr/>
          <p:nvPr/>
        </p:nvSpPr>
        <p:spPr>
          <a:xfrm>
            <a:off x="6675120" y="2651760"/>
            <a:ext cx="731520" cy="731520"/>
          </a:xfrm>
          <a:prstGeom prst="roundRect">
            <a:avLst>
              <a:gd name="adj" fmla="val 7500"/>
            </a:avLst>
          </a:prstGeom>
          <a:solidFill>
            <a:schemeClr val="accent3"/>
          </a:solidFill>
          <a:ln>
            <a:solidFill>
              <a:schemeClr val="accent3"/>
            </a:solid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8" name="Text 6"/>
          <p:cNvSpPr txBox="1"/>
          <p:nvPr/>
        </p:nvSpPr>
        <p:spPr>
          <a:xfrm>
            <a:off x="7589520" y="2286000"/>
            <a:ext cx="731520" cy="320040"/>
          </a:xfrm>
          <a:prstGeom prst="rect">
            <a:avLst/>
          </a:prstGeom>
          <a:noFill/>
          <a:ln/>
        </p:spPr>
        <p:txBody>
          <a:bodyPr wrap="square" lIns="0" tIns="0" rIns="0" bIns="0" rtlCol="0" anchor="t"/>
          <a:lstStyle/>
          <a:p>
            <a:pPr marL="0" indent="0" algn="ctr">
              <a:buNone/>
            </a:pPr>
            <a:r>
              <a:rPr lang="en-US" sz="1400" dirty="0">
                <a:solidFill>
                  <a:srgbClr val="000000"/>
                </a:solidFill>
              </a:rPr>
              <a:t>q3</a:t>
            </a:r>
            <a:endParaRPr lang="en-US" sz="1400" dirty="0"/>
          </a:p>
        </p:txBody>
      </p:sp>
      <p:sp>
        <p:nvSpPr>
          <p:cNvPr id="9" name="Text 7"/>
          <p:cNvSpPr/>
          <p:nvPr/>
        </p:nvSpPr>
        <p:spPr>
          <a:xfrm>
            <a:off x="7589520" y="2651760"/>
            <a:ext cx="731520" cy="731520"/>
          </a:xfrm>
          <a:prstGeom prst="roundRect">
            <a:avLst>
              <a:gd name="adj" fmla="val 7500"/>
            </a:avLst>
          </a:prstGeom>
          <a:solidFill>
            <a:schemeClr val="accent3"/>
          </a:solidFill>
          <a:ln>
            <a:solidFill>
              <a:schemeClr val="accent3"/>
            </a:solidFill>
          </a:ln>
        </p:spPr>
        <p:txBody>
          <a:bodyPr wrap="square" lIns="0" tIns="0" rIns="0" bIns="0" rtlCol="0" anchor="ctr"/>
          <a:lstStyle/>
          <a:p>
            <a:pPr marL="0" indent="0" algn="ctr">
              <a:buNone/>
            </a:pPr>
            <a:r>
              <a:rPr lang="en-US" sz="2200" b="1" dirty="0">
                <a:solidFill>
                  <a:schemeClr val="bg1"/>
                </a:solidFill>
              </a:rPr>
              <a:t>0</a:t>
            </a:r>
            <a:endParaRPr lang="en-US" sz="2200" dirty="0"/>
          </a:p>
        </p:txBody>
      </p:sp>
      <p:sp>
        <p:nvSpPr>
          <p:cNvPr id="10" name="Text 8"/>
          <p:cNvSpPr txBox="1"/>
          <p:nvPr/>
        </p:nvSpPr>
        <p:spPr>
          <a:xfrm>
            <a:off x="8503920" y="2286000"/>
            <a:ext cx="731520" cy="320040"/>
          </a:xfrm>
          <a:prstGeom prst="rect">
            <a:avLst/>
          </a:prstGeom>
          <a:noFill/>
          <a:ln/>
        </p:spPr>
        <p:txBody>
          <a:bodyPr wrap="square" lIns="0" tIns="0" rIns="0" bIns="0" rtlCol="0" anchor="t"/>
          <a:lstStyle/>
          <a:p>
            <a:pPr marL="0" indent="0" algn="ctr">
              <a:buNone/>
            </a:pPr>
            <a:r>
              <a:rPr lang="en-US" sz="1400" dirty="0">
                <a:solidFill>
                  <a:srgbClr val="000000"/>
                </a:solidFill>
              </a:rPr>
              <a:t>q2</a:t>
            </a:r>
            <a:endParaRPr lang="en-US" sz="1400" dirty="0"/>
          </a:p>
        </p:txBody>
      </p:sp>
      <p:sp>
        <p:nvSpPr>
          <p:cNvPr id="11" name="Text 9"/>
          <p:cNvSpPr/>
          <p:nvPr/>
        </p:nvSpPr>
        <p:spPr>
          <a:xfrm>
            <a:off x="8503920" y="2651760"/>
            <a:ext cx="731520" cy="731520"/>
          </a:xfrm>
          <a:prstGeom prst="roundRect">
            <a:avLst>
              <a:gd name="adj" fmla="val 7500"/>
            </a:avLst>
          </a:prstGeom>
          <a:solidFill>
            <a:schemeClr val="accent3"/>
          </a:solidFill>
          <a:ln>
            <a:solidFill>
              <a:schemeClr val="accent3"/>
            </a:solid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12" name="Text 10"/>
          <p:cNvSpPr txBox="1"/>
          <p:nvPr/>
        </p:nvSpPr>
        <p:spPr>
          <a:xfrm>
            <a:off x="9418320" y="2286000"/>
            <a:ext cx="731520" cy="320040"/>
          </a:xfrm>
          <a:prstGeom prst="rect">
            <a:avLst/>
          </a:prstGeom>
          <a:noFill/>
          <a:ln/>
        </p:spPr>
        <p:txBody>
          <a:bodyPr wrap="square" lIns="0" tIns="0" rIns="0" bIns="0" rtlCol="0" anchor="t"/>
          <a:lstStyle/>
          <a:p>
            <a:pPr marL="0" indent="0" algn="ctr">
              <a:buNone/>
            </a:pPr>
            <a:r>
              <a:rPr lang="en-US" sz="1400" dirty="0">
                <a:solidFill>
                  <a:srgbClr val="000000"/>
                </a:solidFill>
              </a:rPr>
              <a:t>q1</a:t>
            </a:r>
            <a:endParaRPr lang="en-US" sz="1400" dirty="0"/>
          </a:p>
        </p:txBody>
      </p:sp>
      <p:sp>
        <p:nvSpPr>
          <p:cNvPr id="13" name="Text 11"/>
          <p:cNvSpPr/>
          <p:nvPr/>
        </p:nvSpPr>
        <p:spPr>
          <a:xfrm>
            <a:off x="9418320" y="2651760"/>
            <a:ext cx="731520" cy="731520"/>
          </a:xfrm>
          <a:prstGeom prst="roundRect">
            <a:avLst>
              <a:gd name="adj" fmla="val 7500"/>
            </a:avLst>
          </a:prstGeom>
          <a:solidFill>
            <a:schemeClr val="accent3"/>
          </a:solidFill>
          <a:ln>
            <a:solidFill>
              <a:schemeClr val="accent3"/>
            </a:solidFill>
          </a:ln>
        </p:spPr>
        <p:txBody>
          <a:bodyPr wrap="square" lIns="0" tIns="0" rIns="0" bIns="0" rtlCol="0" anchor="ctr"/>
          <a:lstStyle/>
          <a:p>
            <a:pPr marL="0" indent="0" algn="ctr">
              <a:buNone/>
            </a:pPr>
            <a:r>
              <a:rPr lang="en-US" sz="2200" b="1" dirty="0">
                <a:solidFill>
                  <a:schemeClr val="bg1"/>
                </a:solidFill>
              </a:rPr>
              <a:t>0</a:t>
            </a:r>
            <a:endParaRPr lang="en-US" sz="2200" dirty="0"/>
          </a:p>
        </p:txBody>
      </p:sp>
      <p:sp>
        <p:nvSpPr>
          <p:cNvPr id="14" name="Text 12"/>
          <p:cNvSpPr txBox="1"/>
          <p:nvPr/>
        </p:nvSpPr>
        <p:spPr>
          <a:xfrm>
            <a:off x="10332720" y="2286000"/>
            <a:ext cx="731520" cy="320040"/>
          </a:xfrm>
          <a:prstGeom prst="rect">
            <a:avLst/>
          </a:prstGeom>
          <a:noFill/>
          <a:ln/>
        </p:spPr>
        <p:txBody>
          <a:bodyPr wrap="square" lIns="0" tIns="0" rIns="0" bIns="0" rtlCol="0" anchor="t"/>
          <a:lstStyle/>
          <a:p>
            <a:pPr marL="0" indent="0" algn="ctr">
              <a:buNone/>
            </a:pPr>
            <a:r>
              <a:rPr lang="en-US" sz="1400" dirty="0">
                <a:solidFill>
                  <a:srgbClr val="000000"/>
                </a:solidFill>
              </a:rPr>
              <a:t>q0</a:t>
            </a:r>
            <a:endParaRPr lang="en-US" sz="1400" dirty="0"/>
          </a:p>
        </p:txBody>
      </p:sp>
      <p:sp>
        <p:nvSpPr>
          <p:cNvPr id="15" name="Text 13"/>
          <p:cNvSpPr/>
          <p:nvPr/>
        </p:nvSpPr>
        <p:spPr>
          <a:xfrm>
            <a:off x="10332720" y="2651760"/>
            <a:ext cx="731520" cy="731520"/>
          </a:xfrm>
          <a:prstGeom prst="roundRect">
            <a:avLst>
              <a:gd name="adj" fmla="val 7500"/>
            </a:avLst>
          </a:prstGeom>
          <a:solidFill>
            <a:schemeClr val="accent3"/>
          </a:solidFill>
          <a:ln>
            <a:solidFill>
              <a:schemeClr val="accent3"/>
            </a:solidFill>
          </a:ln>
        </p:spPr>
        <p:txBody>
          <a:bodyPr wrap="square" lIns="0" tIns="0" rIns="0" bIns="0" rtlCol="0" anchor="ctr"/>
          <a:lstStyle/>
          <a:p>
            <a:pPr marL="0" indent="0" algn="ctr">
              <a:buNone/>
            </a:pPr>
            <a:r>
              <a:rPr lang="en-US" sz="2200" b="1" dirty="0">
                <a:solidFill>
                  <a:schemeClr val="bg1"/>
                </a:solidFill>
              </a:rPr>
              <a:t>0</a:t>
            </a:r>
            <a:endParaRPr lang="en-US" sz="2200" dirty="0"/>
          </a:p>
        </p:txBody>
      </p:sp>
      <p:sp>
        <p:nvSpPr>
          <p:cNvPr id="16" name="Text 14"/>
          <p:cNvSpPr txBox="1"/>
          <p:nvPr/>
        </p:nvSpPr>
        <p:spPr>
          <a:xfrm>
            <a:off x="6675120" y="3520440"/>
            <a:ext cx="4572000" cy="365760"/>
          </a:xfrm>
          <a:prstGeom prst="rect">
            <a:avLst/>
          </a:prstGeom>
          <a:noFill/>
          <a:ln/>
        </p:spPr>
        <p:txBody>
          <a:bodyPr wrap="square" lIns="0" tIns="0" rIns="0" bIns="0" rtlCol="0" anchor="t"/>
          <a:lstStyle/>
          <a:p>
            <a:pPr marL="0" indent="0">
              <a:buNone/>
            </a:pPr>
            <a:r>
              <a:rPr lang="en-US" sz="1600" b="1" dirty="0">
                <a:solidFill>
                  <a:schemeClr val="tx1"/>
                </a:solidFill>
              </a:rPr>
              <a:t>Qiskit string: 10100</a:t>
            </a:r>
            <a:endParaRPr lang="en-US" sz="1600" dirty="0"/>
          </a:p>
        </p:txBody>
      </p:sp>
      <p:sp>
        <p:nvSpPr>
          <p:cNvPr id="17" name="Shape 15"/>
          <p:cNvSpPr/>
          <p:nvPr/>
        </p:nvSpPr>
        <p:spPr>
          <a:xfrm>
            <a:off x="8732520" y="3931920"/>
            <a:ext cx="365760" cy="457200"/>
          </a:xfrm>
          <a:prstGeom prst="downArrow">
            <a:avLst/>
          </a:prstGeom>
          <a:solidFill>
            <a:schemeClr val="accent6"/>
          </a:solidFill>
          <a:ln w="12700">
            <a:solidFill>
              <a:schemeClr val="accent6"/>
            </a:solidFill>
            <a:prstDash val="solid"/>
          </a:ln>
        </p:spPr>
        <p:txBody>
          <a:bodyPr/>
          <a:lstStyle/>
          <a:p>
            <a:endParaRPr lang="en-US"/>
          </a:p>
        </p:txBody>
      </p:sp>
      <p:sp>
        <p:nvSpPr>
          <p:cNvPr id="18" name="Text 16"/>
          <p:cNvSpPr txBox="1"/>
          <p:nvPr/>
        </p:nvSpPr>
        <p:spPr>
          <a:xfrm>
            <a:off x="9235440" y="4023360"/>
            <a:ext cx="2011680" cy="365760"/>
          </a:xfrm>
          <a:prstGeom prst="rect">
            <a:avLst/>
          </a:prstGeom>
          <a:noFill/>
          <a:ln/>
        </p:spPr>
        <p:txBody>
          <a:bodyPr wrap="square" lIns="0" tIns="0" rIns="0" bIns="0" rtlCol="0" anchor="t"/>
          <a:lstStyle/>
          <a:p>
            <a:pPr marL="0" indent="0">
              <a:buNone/>
            </a:pPr>
            <a:r>
              <a:rPr lang="en-US" sz="1400" dirty="0">
                <a:solidFill>
                  <a:schemeClr val="tx1"/>
                </a:solidFill>
              </a:rPr>
              <a:t>reverse it</a:t>
            </a:r>
            <a:endParaRPr lang="en-US" sz="1400" dirty="0"/>
          </a:p>
        </p:txBody>
      </p:sp>
      <p:sp>
        <p:nvSpPr>
          <p:cNvPr id="19" name="Text 17"/>
          <p:cNvSpPr txBox="1"/>
          <p:nvPr/>
        </p:nvSpPr>
        <p:spPr>
          <a:xfrm>
            <a:off x="6675120" y="4526280"/>
            <a:ext cx="731520" cy="320040"/>
          </a:xfrm>
          <a:prstGeom prst="rect">
            <a:avLst/>
          </a:prstGeom>
          <a:noFill/>
          <a:ln/>
        </p:spPr>
        <p:txBody>
          <a:bodyPr wrap="square" lIns="0" tIns="0" rIns="0" bIns="0" rtlCol="0" anchor="t"/>
          <a:lstStyle/>
          <a:p>
            <a:pPr marL="0" indent="0" algn="ctr">
              <a:buNone/>
            </a:pPr>
            <a:r>
              <a:rPr lang="en-US" sz="1200" dirty="0">
                <a:solidFill>
                  <a:srgbClr val="000000"/>
                </a:solidFill>
              </a:rPr>
              <a:t>node 0</a:t>
            </a:r>
            <a:endParaRPr lang="en-US" sz="1200" dirty="0"/>
          </a:p>
        </p:txBody>
      </p:sp>
      <p:sp>
        <p:nvSpPr>
          <p:cNvPr id="20" name="Text 18"/>
          <p:cNvSpPr/>
          <p:nvPr/>
        </p:nvSpPr>
        <p:spPr>
          <a:xfrm>
            <a:off x="6675120" y="4892040"/>
            <a:ext cx="731520" cy="731520"/>
          </a:xfrm>
          <a:prstGeom prst="roundRect">
            <a:avLst>
              <a:gd name="adj" fmla="val 7500"/>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0</a:t>
            </a:r>
            <a:endParaRPr lang="en-US" sz="2200" dirty="0"/>
          </a:p>
        </p:txBody>
      </p:sp>
      <p:sp>
        <p:nvSpPr>
          <p:cNvPr id="21" name="Text 19"/>
          <p:cNvSpPr txBox="1"/>
          <p:nvPr/>
        </p:nvSpPr>
        <p:spPr>
          <a:xfrm>
            <a:off x="7589520" y="4526280"/>
            <a:ext cx="731520" cy="320040"/>
          </a:xfrm>
          <a:prstGeom prst="rect">
            <a:avLst/>
          </a:prstGeom>
          <a:noFill/>
          <a:ln/>
        </p:spPr>
        <p:txBody>
          <a:bodyPr wrap="square" lIns="0" tIns="0" rIns="0" bIns="0" rtlCol="0" anchor="t"/>
          <a:lstStyle/>
          <a:p>
            <a:pPr marL="0" indent="0" algn="ctr">
              <a:buNone/>
            </a:pPr>
            <a:r>
              <a:rPr lang="en-US" sz="1200" dirty="0">
                <a:solidFill>
                  <a:srgbClr val="000000"/>
                </a:solidFill>
              </a:rPr>
              <a:t>node 1</a:t>
            </a:r>
            <a:endParaRPr lang="en-US" sz="1200" dirty="0"/>
          </a:p>
        </p:txBody>
      </p:sp>
      <p:sp>
        <p:nvSpPr>
          <p:cNvPr id="22" name="Text 20"/>
          <p:cNvSpPr/>
          <p:nvPr/>
        </p:nvSpPr>
        <p:spPr>
          <a:xfrm>
            <a:off x="7589520" y="4892040"/>
            <a:ext cx="731520" cy="731520"/>
          </a:xfrm>
          <a:prstGeom prst="roundRect">
            <a:avLst>
              <a:gd name="adj" fmla="val 7500"/>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0</a:t>
            </a:r>
            <a:endParaRPr lang="en-US" sz="2200" dirty="0"/>
          </a:p>
        </p:txBody>
      </p:sp>
      <p:sp>
        <p:nvSpPr>
          <p:cNvPr id="23" name="Text 21"/>
          <p:cNvSpPr txBox="1"/>
          <p:nvPr/>
        </p:nvSpPr>
        <p:spPr>
          <a:xfrm>
            <a:off x="8503920" y="4526280"/>
            <a:ext cx="731520" cy="320040"/>
          </a:xfrm>
          <a:prstGeom prst="rect">
            <a:avLst/>
          </a:prstGeom>
          <a:noFill/>
          <a:ln/>
        </p:spPr>
        <p:txBody>
          <a:bodyPr wrap="square" lIns="0" tIns="0" rIns="0" bIns="0" rtlCol="0" anchor="t"/>
          <a:lstStyle/>
          <a:p>
            <a:pPr marL="0" indent="0" algn="ctr">
              <a:buNone/>
            </a:pPr>
            <a:r>
              <a:rPr lang="en-US" sz="1200" dirty="0">
                <a:solidFill>
                  <a:srgbClr val="000000"/>
                </a:solidFill>
              </a:rPr>
              <a:t>node 2</a:t>
            </a:r>
            <a:endParaRPr lang="en-US" sz="1200" dirty="0"/>
          </a:p>
        </p:txBody>
      </p:sp>
      <p:sp>
        <p:nvSpPr>
          <p:cNvPr id="24" name="Text 22"/>
          <p:cNvSpPr/>
          <p:nvPr/>
        </p:nvSpPr>
        <p:spPr>
          <a:xfrm>
            <a:off x="8503920" y="4892040"/>
            <a:ext cx="731520" cy="731520"/>
          </a:xfrm>
          <a:prstGeom prst="roundRect">
            <a:avLst>
              <a:gd name="adj" fmla="val 7500"/>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25" name="Text 23"/>
          <p:cNvSpPr txBox="1"/>
          <p:nvPr/>
        </p:nvSpPr>
        <p:spPr>
          <a:xfrm>
            <a:off x="9418320" y="4526280"/>
            <a:ext cx="731520" cy="320040"/>
          </a:xfrm>
          <a:prstGeom prst="rect">
            <a:avLst/>
          </a:prstGeom>
          <a:noFill/>
          <a:ln/>
        </p:spPr>
        <p:txBody>
          <a:bodyPr wrap="square" lIns="0" tIns="0" rIns="0" bIns="0" rtlCol="0" anchor="t"/>
          <a:lstStyle/>
          <a:p>
            <a:pPr marL="0" indent="0" algn="ctr">
              <a:buNone/>
            </a:pPr>
            <a:r>
              <a:rPr lang="en-US" sz="1200" dirty="0">
                <a:solidFill>
                  <a:srgbClr val="000000"/>
                </a:solidFill>
              </a:rPr>
              <a:t>node 3</a:t>
            </a:r>
            <a:endParaRPr lang="en-US" sz="1200" dirty="0"/>
          </a:p>
        </p:txBody>
      </p:sp>
      <p:sp>
        <p:nvSpPr>
          <p:cNvPr id="26" name="Text 24"/>
          <p:cNvSpPr/>
          <p:nvPr/>
        </p:nvSpPr>
        <p:spPr>
          <a:xfrm>
            <a:off x="9418320" y="4892040"/>
            <a:ext cx="731520" cy="731520"/>
          </a:xfrm>
          <a:prstGeom prst="roundRect">
            <a:avLst>
              <a:gd name="adj" fmla="val 7500"/>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0</a:t>
            </a:r>
            <a:endParaRPr lang="en-US" sz="2200" dirty="0"/>
          </a:p>
        </p:txBody>
      </p:sp>
      <p:sp>
        <p:nvSpPr>
          <p:cNvPr id="27" name="Text 25"/>
          <p:cNvSpPr txBox="1"/>
          <p:nvPr/>
        </p:nvSpPr>
        <p:spPr>
          <a:xfrm>
            <a:off x="10332720" y="4526280"/>
            <a:ext cx="731520" cy="320040"/>
          </a:xfrm>
          <a:prstGeom prst="rect">
            <a:avLst/>
          </a:prstGeom>
          <a:noFill/>
          <a:ln/>
        </p:spPr>
        <p:txBody>
          <a:bodyPr wrap="square" lIns="0" tIns="0" rIns="0" bIns="0" rtlCol="0" anchor="t"/>
          <a:lstStyle/>
          <a:p>
            <a:pPr marL="0" indent="0" algn="ctr">
              <a:buNone/>
            </a:pPr>
            <a:r>
              <a:rPr lang="en-US" sz="1200" dirty="0">
                <a:solidFill>
                  <a:srgbClr val="000000"/>
                </a:solidFill>
              </a:rPr>
              <a:t>node 4</a:t>
            </a:r>
            <a:endParaRPr lang="en-US" sz="1200" dirty="0"/>
          </a:p>
        </p:txBody>
      </p:sp>
      <p:sp>
        <p:nvSpPr>
          <p:cNvPr id="28" name="Text 26"/>
          <p:cNvSpPr/>
          <p:nvPr/>
        </p:nvSpPr>
        <p:spPr>
          <a:xfrm>
            <a:off x="10332720" y="4892040"/>
            <a:ext cx="731520" cy="731520"/>
          </a:xfrm>
          <a:prstGeom prst="roundRect">
            <a:avLst>
              <a:gd name="adj" fmla="val 7500"/>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29" name="Text 27"/>
          <p:cNvSpPr txBox="1"/>
          <p:nvPr/>
        </p:nvSpPr>
        <p:spPr>
          <a:xfrm>
            <a:off x="6675120" y="5715000"/>
            <a:ext cx="4572000" cy="365760"/>
          </a:xfrm>
          <a:prstGeom prst="rect">
            <a:avLst/>
          </a:prstGeom>
          <a:noFill/>
          <a:ln/>
        </p:spPr>
        <p:txBody>
          <a:bodyPr wrap="square" lIns="0" tIns="0" rIns="0" bIns="0" rtlCol="0" anchor="t"/>
          <a:lstStyle/>
          <a:p>
            <a:pPr marL="0" indent="0">
              <a:buNone/>
            </a:pPr>
            <a:r>
              <a:rPr lang="en-US" sz="1600" b="1" dirty="0">
                <a:solidFill>
                  <a:schemeClr val="tx1"/>
                </a:solidFill>
              </a:rPr>
              <a:t>Node order: [0, 0, 1, 0, 1]</a:t>
            </a:r>
            <a:endParaRPr lang="en-US" sz="16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Pauli operators</a:t>
            </a:r>
            <a:endParaRPr lang="en-US" sz="3400" dirty="0"/>
          </a:p>
        </p:txBody>
      </p:sp>
      <p:sp>
        <p:nvSpPr>
          <p:cNvPr id="3" name="Text 1"/>
          <p:cNvSpPr txBox="1"/>
          <p:nvPr/>
        </p:nvSpPr>
        <p:spPr>
          <a:xfrm>
            <a:off x="548640" y="1417320"/>
            <a:ext cx="11064240" cy="548640"/>
          </a:xfrm>
          <a:prstGeom prst="rect">
            <a:avLst/>
          </a:prstGeom>
          <a:noFill/>
          <a:ln/>
        </p:spPr>
        <p:txBody>
          <a:bodyPr wrap="square" lIns="0" tIns="0" rIns="0" bIns="0" rtlCol="0" anchor="t"/>
          <a:lstStyle/>
          <a:p>
            <a:pPr marL="0" indent="0">
              <a:buNone/>
            </a:pPr>
            <a:r>
              <a:rPr lang="en-US" sz="1800" dirty="0">
                <a:solidFill>
                  <a:schemeClr val="tx1"/>
                </a:solidFill>
              </a:rPr>
              <a:t>The Pauli operators (named after Wolfgang Pauli) are four 2×2 matrices that act on one qubit:</a:t>
            </a:r>
            <a:endParaRPr lang="en-US" sz="1800" dirty="0"/>
          </a:p>
        </p:txBody>
      </p:sp>
      <p:sp>
        <p:nvSpPr>
          <p:cNvPr id="4" name="pauli-card-0"/>
          <p:cNvSpPr/>
          <p:nvPr/>
        </p:nvSpPr>
        <p:spPr>
          <a:xfrm>
            <a:off x="548640" y="2103120"/>
            <a:ext cx="2560320" cy="292608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731520" y="2194560"/>
            <a:ext cx="219456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I (identity)</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051560" y="2788920"/>
          <a:ext cx="1554480" cy="1097280"/>
        </p:xfrm>
        <a:graphic>
          <a:graphicData uri="http://schemas.openxmlformats.org/drawingml/2006/table">
            <a:tbl>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548640">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48640">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731520" y="4114800"/>
            <a:ext cx="2194560" cy="731520"/>
          </a:xfrm>
          <a:prstGeom prst="rect">
            <a:avLst/>
          </a:prstGeom>
          <a:noFill/>
          <a:ln/>
        </p:spPr>
        <p:txBody>
          <a:bodyPr wrap="square" lIns="0" tIns="0" rIns="0" bIns="0" rtlCol="0" anchor="t"/>
          <a:lstStyle/>
          <a:p>
            <a:pPr marL="0" indent="0">
              <a:buNone/>
            </a:pPr>
            <a:r>
              <a:rPr lang="en-US" sz="1400" dirty="0">
                <a:solidFill>
                  <a:schemeClr val="tx1"/>
                </a:solidFill>
              </a:rPr>
              <a:t>does nothing</a:t>
            </a:r>
            <a:endParaRPr lang="en-US" sz="1400" dirty="0"/>
          </a:p>
        </p:txBody>
      </p:sp>
      <p:sp>
        <p:nvSpPr>
          <p:cNvPr id="8" name="pauli-card-1"/>
          <p:cNvSpPr/>
          <p:nvPr/>
        </p:nvSpPr>
        <p:spPr>
          <a:xfrm>
            <a:off x="3383280" y="2103120"/>
            <a:ext cx="2560320" cy="292608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3566160" y="2194560"/>
            <a:ext cx="219456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X (bit flip)</a:t>
            </a:r>
            <a:endParaRPr lang="en-US" sz="18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3886200" y="2788920"/>
          <a:ext cx="1554480" cy="1097280"/>
        </p:xfrm>
        <a:graphic>
          <a:graphicData uri="http://schemas.openxmlformats.org/drawingml/2006/table">
            <a:tbl>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548640">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48640">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1" name="Text 7"/>
          <p:cNvSpPr txBox="1"/>
          <p:nvPr/>
        </p:nvSpPr>
        <p:spPr>
          <a:xfrm>
            <a:off x="3566160" y="4114800"/>
            <a:ext cx="2194560" cy="731520"/>
          </a:xfrm>
          <a:prstGeom prst="rect">
            <a:avLst/>
          </a:prstGeom>
          <a:noFill/>
          <a:ln/>
        </p:spPr>
        <p:txBody>
          <a:bodyPr wrap="square" lIns="0" tIns="0" rIns="0" bIns="0" rtlCol="0" anchor="t"/>
          <a:lstStyle/>
          <a:p>
            <a:pPr marL="0" indent="0">
              <a:buNone/>
            </a:pPr>
            <a:r>
              <a:rPr lang="en-US" sz="1400" dirty="0">
                <a:solidFill>
                  <a:schemeClr val="tx1"/>
                </a:solidFill>
              </a:rPr>
              <a:t>swaps |0⟩ and |1⟩</a:t>
            </a:r>
            <a:endParaRPr lang="en-US" sz="1400" dirty="0"/>
          </a:p>
        </p:txBody>
      </p:sp>
      <p:sp>
        <p:nvSpPr>
          <p:cNvPr id="12" name="pauli-card-2"/>
          <p:cNvSpPr/>
          <p:nvPr/>
        </p:nvSpPr>
        <p:spPr>
          <a:xfrm>
            <a:off x="6217920" y="2103120"/>
            <a:ext cx="2560320" cy="292608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3" name="Text 9"/>
          <p:cNvSpPr txBox="1"/>
          <p:nvPr/>
        </p:nvSpPr>
        <p:spPr>
          <a:xfrm>
            <a:off x="6400800" y="2194560"/>
            <a:ext cx="219456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Y</a:t>
            </a:r>
            <a:endParaRPr lang="en-US" sz="1800" dirty="0"/>
          </a:p>
        </p:txBody>
      </p:sp>
      <p:graphicFrame>
        <p:nvGraphicFramePr>
          <p:cNvPr id="58" name="Table 2"/>
          <p:cNvGraphicFramePr>
            <a:graphicFrameLocks noGrp="1"/>
          </p:cNvGraphicFramePr>
          <p:nvPr>
            <p:extLst>
              <p:ext uri="{D42A27DB-BD31-4B8C-83A1-F6EECF244321}">
                <p14:modId xmlns:p14="http://schemas.microsoft.com/office/powerpoint/2010/main" val="1579011935"/>
              </p:ext>
            </p:extLst>
          </p:nvPr>
        </p:nvGraphicFramePr>
        <p:xfrm>
          <a:off x="6720840" y="2788920"/>
          <a:ext cx="1554480" cy="1097280"/>
        </p:xfrm>
        <a:graphic>
          <a:graphicData uri="http://schemas.openxmlformats.org/drawingml/2006/table">
            <a:tbl>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548640">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−i</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48640">
                <a:tc>
                  <a:txBody>
                    <a:bodyPr/>
                    <a:lstStyle/>
                    <a:p>
                      <a:pPr marL="0" indent="0" algn="ctr">
                        <a:buNone/>
                      </a:pPr>
                      <a:r>
                        <a:rPr lang="en-US" sz="2000" b="1" dirty="0">
                          <a:solidFill>
                            <a:schemeClr val="tx1"/>
                          </a:solidFill>
                        </a:rPr>
                        <a:t>i</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5" name="Text 10"/>
          <p:cNvSpPr txBox="1"/>
          <p:nvPr/>
        </p:nvSpPr>
        <p:spPr>
          <a:xfrm>
            <a:off x="6400800" y="4114800"/>
            <a:ext cx="2194560" cy="731520"/>
          </a:xfrm>
          <a:prstGeom prst="rect">
            <a:avLst/>
          </a:prstGeom>
          <a:noFill/>
          <a:ln/>
        </p:spPr>
        <p:txBody>
          <a:bodyPr wrap="square" lIns="0" tIns="0" rIns="0" bIns="0" rtlCol="0" anchor="t"/>
          <a:lstStyle/>
          <a:p>
            <a:pPr marL="0" indent="0">
              <a:buNone/>
            </a:pPr>
            <a:r>
              <a:rPr lang="en-US" sz="1400" dirty="0">
                <a:solidFill>
                  <a:schemeClr val="tx1"/>
                </a:solidFill>
              </a:rPr>
              <a:t>flip with a phase</a:t>
            </a:r>
            <a:endParaRPr lang="en-US" sz="1400" dirty="0"/>
          </a:p>
        </p:txBody>
      </p:sp>
      <p:sp>
        <p:nvSpPr>
          <p:cNvPr id="16" name="pauli-card-3"/>
          <p:cNvSpPr/>
          <p:nvPr/>
        </p:nvSpPr>
        <p:spPr>
          <a:xfrm>
            <a:off x="9052560" y="2103120"/>
            <a:ext cx="2560320" cy="292608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7" name="Text 12"/>
          <p:cNvSpPr txBox="1"/>
          <p:nvPr/>
        </p:nvSpPr>
        <p:spPr>
          <a:xfrm>
            <a:off x="9235440" y="2194560"/>
            <a:ext cx="219456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Z (phase)</a:t>
            </a:r>
            <a:endParaRPr lang="en-US" sz="1800" dirty="0"/>
          </a:p>
        </p:txBody>
      </p:sp>
      <p:graphicFrame>
        <p:nvGraphicFramePr>
          <p:cNvPr id="77" name="Table 3"/>
          <p:cNvGraphicFramePr>
            <a:graphicFrameLocks noGrp="1"/>
          </p:cNvGraphicFramePr>
          <p:nvPr>
            <p:extLst>
              <p:ext uri="{D42A27DB-BD31-4B8C-83A1-F6EECF244321}">
                <p14:modId xmlns:p14="http://schemas.microsoft.com/office/powerpoint/2010/main" val="1579011935"/>
              </p:ext>
            </p:extLst>
          </p:nvPr>
        </p:nvGraphicFramePr>
        <p:xfrm>
          <a:off x="9555480" y="2788920"/>
          <a:ext cx="1554480" cy="1097280"/>
        </p:xfrm>
        <a:graphic>
          <a:graphicData uri="http://schemas.openxmlformats.org/drawingml/2006/table">
            <a:tbl>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548640">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48640">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9" name="Text 13"/>
          <p:cNvSpPr txBox="1"/>
          <p:nvPr/>
        </p:nvSpPr>
        <p:spPr>
          <a:xfrm>
            <a:off x="9235440" y="4114800"/>
            <a:ext cx="2194560" cy="731520"/>
          </a:xfrm>
          <a:prstGeom prst="rect">
            <a:avLst/>
          </a:prstGeom>
          <a:noFill/>
          <a:ln/>
        </p:spPr>
        <p:txBody>
          <a:bodyPr wrap="square" lIns="0" tIns="0" rIns="0" bIns="0" rtlCol="0" anchor="t"/>
          <a:lstStyle/>
          <a:p>
            <a:pPr marL="0" indent="0">
              <a:buNone/>
            </a:pPr>
            <a:r>
              <a:rPr lang="en-US" sz="1400" dirty="0">
                <a:solidFill>
                  <a:schemeClr val="tx1"/>
                </a:solidFill>
              </a:rPr>
              <a:t>+1 on |0⟩, −1 on |1⟩</a:t>
            </a:r>
            <a:endParaRPr lang="en-US" sz="1400" dirty="0"/>
          </a:p>
        </p:txBody>
      </p:sp>
      <p:sp>
        <p:nvSpPr>
          <p:cNvPr id="6" name="pauli-key"/>
          <p:cNvSpPr/>
          <p:nvPr/>
        </p:nvSpPr>
        <p:spPr>
          <a:xfrm>
            <a:off x="548640" y="5212080"/>
            <a:ext cx="11064240" cy="1005840"/>
          </a:xfrm>
          <a:prstGeom prst="roundRect">
            <a:avLst>
              <a:gd name="adj" fmla="val 10909"/>
            </a:avLst>
          </a:prstGeom>
          <a:solidFill>
            <a:schemeClr val="bg2"/>
          </a:solidFill>
          <a:ln w="12700">
            <a:solidFill>
              <a:schemeClr val="bg2"/>
            </a:solidFill>
            <a:prstDash val="solid"/>
          </a:ln>
        </p:spPr>
        <p:txBody>
          <a:bodyPr/>
          <a:lstStyle/>
          <a:p>
            <a:endParaRPr lang="en-US"/>
          </a:p>
        </p:txBody>
      </p:sp>
      <p:sp>
        <p:nvSpPr>
          <p:cNvPr id="21" name="Text 15"/>
          <p:cNvSpPr txBox="1"/>
          <p:nvPr/>
        </p:nvSpPr>
        <p:spPr>
          <a:xfrm>
            <a:off x="777240" y="5303520"/>
            <a:ext cx="10607040" cy="822960"/>
          </a:xfrm>
          <a:prstGeom prst="rect">
            <a:avLst/>
          </a:prstGeom>
          <a:noFill/>
          <a:ln/>
        </p:spPr>
        <p:txBody>
          <a:bodyPr wrap="square" lIns="0" tIns="0" rIns="0" bIns="0" rtlCol="0" anchor="ctr"/>
          <a:lstStyle/>
          <a:p>
            <a:pPr marL="0" indent="0">
              <a:buNone/>
            </a:pPr>
            <a:r>
              <a:rPr lang="en-US" sz="1700" b="1" dirty="0">
                <a:solidFill>
                  <a:schemeClr val="tx1"/>
                </a:solidFill>
              </a:rPr>
              <a:t>Key fact: </a:t>
            </a:r>
            <a:r>
              <a:rPr lang="en-US" sz="1700" dirty="0">
                <a:solidFill>
                  <a:schemeClr val="tx1"/>
                </a:solidFill>
              </a:rPr>
              <a:t>Z reads a bit as a spin. Z|0⟩ = +|0⟩ and Z|1⟩ = −|1⟩, so measuring Z gives +1 for bit 0 and −1 for bit 1.</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Pauli strings: several qubits at once</a:t>
            </a:r>
            <a:endParaRPr lang="en-US" sz="3400" dirty="0"/>
          </a:p>
        </p:txBody>
      </p:sp>
      <p:sp>
        <p:nvSpPr>
          <p:cNvPr id="3" name="Text 1"/>
          <p:cNvSpPr txBox="1"/>
          <p:nvPr/>
        </p:nvSpPr>
        <p:spPr>
          <a:xfrm>
            <a:off x="548640" y="1554480"/>
            <a:ext cx="5669280" cy="32918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ZᵢZⱼ means Z on qubits i and j, and the identity (do nothing) on every other qubit</a:t>
            </a:r>
            <a:endParaRPr lang="en-US" sz="1700" dirty="0"/>
          </a:p>
          <a:p>
            <a:pPr marL="342900" indent="-342900">
              <a:spcAft>
                <a:spcPts val="800"/>
              </a:spcAft>
              <a:buSzPct val="100000"/>
              <a:buChar char="•"/>
            </a:pPr>
            <a:r>
              <a:rPr lang="en-US" sz="1700" dirty="0">
                <a:solidFill>
                  <a:schemeClr val="tx1"/>
                </a:solidFill>
              </a:rPr>
              <a:t>Qiskit labels it as a string of letters, with qubit 0 on the right</a:t>
            </a:r>
            <a:endParaRPr lang="en-US" sz="1700" dirty="0"/>
          </a:p>
          <a:p>
            <a:pPr marL="342900" indent="-342900">
              <a:spcAft>
                <a:spcPts val="800"/>
              </a:spcAft>
              <a:buSzPct val="100000"/>
              <a:buChar char="•"/>
            </a:pPr>
            <a:r>
              <a:rPr lang="en-US" sz="1700" dirty="0">
                <a:solidFill>
                  <a:schemeClr val="tx1"/>
                </a:solidFill>
              </a:rPr>
              <a:t>On a bitstring, ZᵢZⱼ equals +1 if the bits match and −1 if they differ</a:t>
            </a:r>
            <a:endParaRPr lang="en-US" sz="1700" dirty="0"/>
          </a:p>
          <a:p>
            <a:pPr marL="342900" indent="-342900">
              <a:spcAft>
                <a:spcPts val="800"/>
              </a:spcAft>
              <a:buSzPct val="100000"/>
              <a:buChar char="•"/>
            </a:pPr>
            <a:r>
              <a:rPr lang="en-US" sz="1700" dirty="0">
                <a:solidFill>
                  <a:schemeClr val="tx1"/>
                </a:solidFill>
              </a:rPr>
              <a:t>That single fact is what lets a ZZ term count a cut edge</a:t>
            </a:r>
            <a:endParaRPr lang="en-US" sz="1700" dirty="0"/>
          </a:p>
        </p:txBody>
      </p:sp>
      <p:sp>
        <p:nvSpPr>
          <p:cNvPr id="4" name="Text 2"/>
          <p:cNvSpPr txBox="1"/>
          <p:nvPr/>
        </p:nvSpPr>
        <p:spPr>
          <a:xfrm>
            <a:off x="548640" y="4572000"/>
            <a:ext cx="5669280" cy="365760"/>
          </a:xfrm>
          <a:prstGeom prst="rect">
            <a:avLst/>
          </a:prstGeom>
          <a:noFill/>
          <a:ln/>
        </p:spPr>
        <p:txBody>
          <a:bodyPr wrap="square" lIns="0" tIns="0" rIns="0" bIns="0" rtlCol="0" anchor="t"/>
          <a:lstStyle/>
          <a:p>
            <a:pPr marL="0" indent="0">
              <a:buNone/>
            </a:pPr>
            <a:r>
              <a:rPr lang="en-US" sz="1600" b="1" dirty="0">
                <a:solidFill>
                  <a:schemeClr val="tx1"/>
                </a:solidFill>
              </a:rPr>
              <a:t>Example: the label IIIZZ</a:t>
            </a:r>
            <a:endParaRPr lang="en-US" sz="1600" dirty="0"/>
          </a:p>
        </p:txBody>
      </p:sp>
      <p:sp>
        <p:nvSpPr>
          <p:cNvPr id="5" name="Text 3"/>
          <p:cNvSpPr/>
          <p:nvPr/>
        </p:nvSpPr>
        <p:spPr>
          <a:xfrm>
            <a:off x="548640" y="5029200"/>
            <a:ext cx="566928" cy="566928"/>
          </a:xfrm>
          <a:prstGeom prst="roundRect">
            <a:avLst>
              <a:gd name="adj" fmla="val 9677"/>
            </a:avLst>
          </a:prstGeom>
          <a:solidFill>
            <a:schemeClr val="accent6"/>
          </a:solidFill>
          <a:ln>
            <a:solidFill>
              <a:schemeClr val="accent6"/>
            </a:solidFill>
          </a:ln>
        </p:spPr>
        <p:txBody>
          <a:bodyPr wrap="square" lIns="0" tIns="0" rIns="0" bIns="0" rtlCol="0" anchor="ctr"/>
          <a:lstStyle/>
          <a:p>
            <a:pPr marL="0" indent="0" algn="ctr">
              <a:buNone/>
            </a:pPr>
            <a:r>
              <a:rPr lang="en-US" sz="2000" b="1" dirty="0">
                <a:solidFill>
                  <a:schemeClr val="tx1"/>
                </a:solidFill>
              </a:rPr>
              <a:t>I</a:t>
            </a:r>
            <a:endParaRPr lang="en-US" sz="2000" dirty="0"/>
          </a:p>
        </p:txBody>
      </p:sp>
      <p:sp>
        <p:nvSpPr>
          <p:cNvPr id="6" name="Text 4"/>
          <p:cNvSpPr txBox="1"/>
          <p:nvPr/>
        </p:nvSpPr>
        <p:spPr>
          <a:xfrm>
            <a:off x="548640" y="5650992"/>
            <a:ext cx="566928" cy="274320"/>
          </a:xfrm>
          <a:prstGeom prst="rect">
            <a:avLst/>
          </a:prstGeom>
          <a:noFill/>
          <a:ln/>
        </p:spPr>
        <p:txBody>
          <a:bodyPr wrap="square" lIns="0" tIns="0" rIns="0" bIns="0" rtlCol="0" anchor="t"/>
          <a:lstStyle/>
          <a:p>
            <a:pPr marL="0" indent="0" algn="ctr">
              <a:buNone/>
            </a:pPr>
            <a:r>
              <a:rPr lang="en-US" sz="1200" dirty="0">
                <a:solidFill>
                  <a:srgbClr val="000000"/>
                </a:solidFill>
              </a:rPr>
              <a:t>q4</a:t>
            </a:r>
            <a:endParaRPr lang="en-US" sz="1200" dirty="0"/>
          </a:p>
        </p:txBody>
      </p:sp>
      <p:sp>
        <p:nvSpPr>
          <p:cNvPr id="7" name="Text 5"/>
          <p:cNvSpPr/>
          <p:nvPr/>
        </p:nvSpPr>
        <p:spPr>
          <a:xfrm>
            <a:off x="1234440" y="5029200"/>
            <a:ext cx="566928" cy="566928"/>
          </a:xfrm>
          <a:prstGeom prst="roundRect">
            <a:avLst>
              <a:gd name="adj" fmla="val 9677"/>
            </a:avLst>
          </a:prstGeom>
          <a:solidFill>
            <a:schemeClr val="accent6"/>
          </a:solidFill>
          <a:ln>
            <a:solidFill>
              <a:schemeClr val="accent6"/>
            </a:solidFill>
          </a:ln>
        </p:spPr>
        <p:txBody>
          <a:bodyPr wrap="square" lIns="0" tIns="0" rIns="0" bIns="0" rtlCol="0" anchor="ctr"/>
          <a:lstStyle/>
          <a:p>
            <a:pPr marL="0" indent="0" algn="ctr">
              <a:buNone/>
            </a:pPr>
            <a:r>
              <a:rPr lang="en-US" sz="2000" b="1" dirty="0">
                <a:solidFill>
                  <a:schemeClr val="tx1"/>
                </a:solidFill>
              </a:rPr>
              <a:t>I</a:t>
            </a:r>
            <a:endParaRPr lang="en-US" sz="2000" dirty="0"/>
          </a:p>
        </p:txBody>
      </p:sp>
      <p:sp>
        <p:nvSpPr>
          <p:cNvPr id="8" name="Text 6"/>
          <p:cNvSpPr txBox="1"/>
          <p:nvPr/>
        </p:nvSpPr>
        <p:spPr>
          <a:xfrm>
            <a:off x="1234440" y="5650992"/>
            <a:ext cx="566928" cy="274320"/>
          </a:xfrm>
          <a:prstGeom prst="rect">
            <a:avLst/>
          </a:prstGeom>
          <a:noFill/>
          <a:ln/>
        </p:spPr>
        <p:txBody>
          <a:bodyPr wrap="square" lIns="0" tIns="0" rIns="0" bIns="0" rtlCol="0" anchor="t"/>
          <a:lstStyle/>
          <a:p>
            <a:pPr marL="0" indent="0" algn="ctr">
              <a:buNone/>
            </a:pPr>
            <a:r>
              <a:rPr lang="en-US" sz="1200" dirty="0">
                <a:solidFill>
                  <a:srgbClr val="000000"/>
                </a:solidFill>
              </a:rPr>
              <a:t>q3</a:t>
            </a:r>
            <a:endParaRPr lang="en-US" sz="1200" dirty="0"/>
          </a:p>
        </p:txBody>
      </p:sp>
      <p:sp>
        <p:nvSpPr>
          <p:cNvPr id="9" name="Text 7"/>
          <p:cNvSpPr/>
          <p:nvPr/>
        </p:nvSpPr>
        <p:spPr>
          <a:xfrm>
            <a:off x="1920240" y="5029200"/>
            <a:ext cx="566928" cy="566928"/>
          </a:xfrm>
          <a:prstGeom prst="roundRect">
            <a:avLst>
              <a:gd name="adj" fmla="val 9677"/>
            </a:avLst>
          </a:prstGeom>
          <a:solidFill>
            <a:schemeClr val="accent6"/>
          </a:solidFill>
          <a:ln>
            <a:solidFill>
              <a:schemeClr val="accent6"/>
            </a:solidFill>
          </a:ln>
        </p:spPr>
        <p:txBody>
          <a:bodyPr wrap="square" lIns="0" tIns="0" rIns="0" bIns="0" rtlCol="0" anchor="ctr"/>
          <a:lstStyle/>
          <a:p>
            <a:pPr marL="0" indent="0" algn="ctr">
              <a:buNone/>
            </a:pPr>
            <a:r>
              <a:rPr lang="en-US" sz="2000" b="1" dirty="0">
                <a:solidFill>
                  <a:schemeClr val="tx1"/>
                </a:solidFill>
              </a:rPr>
              <a:t>I</a:t>
            </a:r>
            <a:endParaRPr lang="en-US" sz="2000" dirty="0"/>
          </a:p>
        </p:txBody>
      </p:sp>
      <p:sp>
        <p:nvSpPr>
          <p:cNvPr id="10" name="Text 8"/>
          <p:cNvSpPr txBox="1"/>
          <p:nvPr/>
        </p:nvSpPr>
        <p:spPr>
          <a:xfrm>
            <a:off x="1920240" y="5650992"/>
            <a:ext cx="566928" cy="274320"/>
          </a:xfrm>
          <a:prstGeom prst="rect">
            <a:avLst/>
          </a:prstGeom>
          <a:noFill/>
          <a:ln/>
        </p:spPr>
        <p:txBody>
          <a:bodyPr wrap="square" lIns="0" tIns="0" rIns="0" bIns="0" rtlCol="0" anchor="t"/>
          <a:lstStyle/>
          <a:p>
            <a:pPr marL="0" indent="0" algn="ctr">
              <a:buNone/>
            </a:pPr>
            <a:r>
              <a:rPr lang="en-US" sz="1200" dirty="0">
                <a:solidFill>
                  <a:srgbClr val="000000"/>
                </a:solidFill>
              </a:rPr>
              <a:t>q2</a:t>
            </a:r>
            <a:endParaRPr lang="en-US" sz="1200" dirty="0"/>
          </a:p>
        </p:txBody>
      </p:sp>
      <p:sp>
        <p:nvSpPr>
          <p:cNvPr id="11" name="Text 9"/>
          <p:cNvSpPr/>
          <p:nvPr/>
        </p:nvSpPr>
        <p:spPr>
          <a:xfrm>
            <a:off x="2606040" y="5029200"/>
            <a:ext cx="566928" cy="566928"/>
          </a:xfrm>
          <a:prstGeom prst="roundRect">
            <a:avLst>
              <a:gd name="adj" fmla="val 9677"/>
            </a:avLst>
          </a:prstGeom>
          <a:solidFill>
            <a:schemeClr val="accent3"/>
          </a:solidFill>
          <a:ln>
            <a:solidFill>
              <a:schemeClr val="accent3"/>
            </a:solidFill>
          </a:ln>
        </p:spPr>
        <p:txBody>
          <a:bodyPr wrap="square" lIns="0" tIns="0" rIns="0" bIns="0" rtlCol="0" anchor="ctr"/>
          <a:lstStyle/>
          <a:p>
            <a:pPr marL="0" indent="0" algn="ctr">
              <a:buNone/>
            </a:pPr>
            <a:r>
              <a:rPr lang="en-US" sz="2000" b="1" dirty="0">
                <a:solidFill>
                  <a:schemeClr val="bg1"/>
                </a:solidFill>
              </a:rPr>
              <a:t>Z</a:t>
            </a:r>
            <a:endParaRPr lang="en-US" sz="2000" dirty="0"/>
          </a:p>
        </p:txBody>
      </p:sp>
      <p:sp>
        <p:nvSpPr>
          <p:cNvPr id="12" name="Text 10"/>
          <p:cNvSpPr txBox="1"/>
          <p:nvPr/>
        </p:nvSpPr>
        <p:spPr>
          <a:xfrm>
            <a:off x="2606040" y="5650992"/>
            <a:ext cx="566928" cy="274320"/>
          </a:xfrm>
          <a:prstGeom prst="rect">
            <a:avLst/>
          </a:prstGeom>
          <a:noFill/>
          <a:ln/>
        </p:spPr>
        <p:txBody>
          <a:bodyPr wrap="square" lIns="0" tIns="0" rIns="0" bIns="0" rtlCol="0" anchor="t"/>
          <a:lstStyle/>
          <a:p>
            <a:pPr marL="0" indent="0" algn="ctr">
              <a:buNone/>
            </a:pPr>
            <a:r>
              <a:rPr lang="en-US" sz="1200" dirty="0">
                <a:solidFill>
                  <a:srgbClr val="000000"/>
                </a:solidFill>
              </a:rPr>
              <a:t>q1</a:t>
            </a:r>
            <a:endParaRPr lang="en-US" sz="1200" dirty="0"/>
          </a:p>
        </p:txBody>
      </p:sp>
      <p:sp>
        <p:nvSpPr>
          <p:cNvPr id="13" name="Text 11"/>
          <p:cNvSpPr/>
          <p:nvPr/>
        </p:nvSpPr>
        <p:spPr>
          <a:xfrm>
            <a:off x="3291840" y="5029200"/>
            <a:ext cx="566928" cy="566928"/>
          </a:xfrm>
          <a:prstGeom prst="roundRect">
            <a:avLst>
              <a:gd name="adj" fmla="val 9677"/>
            </a:avLst>
          </a:prstGeom>
          <a:solidFill>
            <a:schemeClr val="accent3"/>
          </a:solidFill>
          <a:ln>
            <a:solidFill>
              <a:schemeClr val="accent3"/>
            </a:solidFill>
          </a:ln>
        </p:spPr>
        <p:txBody>
          <a:bodyPr wrap="square" lIns="0" tIns="0" rIns="0" bIns="0" rtlCol="0" anchor="ctr"/>
          <a:lstStyle/>
          <a:p>
            <a:pPr marL="0" indent="0" algn="ctr">
              <a:buNone/>
            </a:pPr>
            <a:r>
              <a:rPr lang="en-US" sz="2000" b="1" dirty="0">
                <a:solidFill>
                  <a:schemeClr val="bg1"/>
                </a:solidFill>
              </a:rPr>
              <a:t>Z</a:t>
            </a:r>
            <a:endParaRPr lang="en-US" sz="2000" dirty="0"/>
          </a:p>
        </p:txBody>
      </p:sp>
      <p:sp>
        <p:nvSpPr>
          <p:cNvPr id="14" name="Text 12"/>
          <p:cNvSpPr txBox="1"/>
          <p:nvPr/>
        </p:nvSpPr>
        <p:spPr>
          <a:xfrm>
            <a:off x="3291840" y="5650992"/>
            <a:ext cx="566928" cy="274320"/>
          </a:xfrm>
          <a:prstGeom prst="rect">
            <a:avLst/>
          </a:prstGeom>
          <a:noFill/>
          <a:ln/>
        </p:spPr>
        <p:txBody>
          <a:bodyPr wrap="square" lIns="0" tIns="0" rIns="0" bIns="0" rtlCol="0" anchor="t"/>
          <a:lstStyle/>
          <a:p>
            <a:pPr marL="0" indent="0" algn="ctr">
              <a:buNone/>
            </a:pPr>
            <a:r>
              <a:rPr lang="en-US" sz="1200" dirty="0">
                <a:solidFill>
                  <a:srgbClr val="000000"/>
                </a:solidFill>
              </a:rPr>
              <a:t>q0</a:t>
            </a:r>
            <a:endParaRPr lang="en-US" sz="1200" dirty="0"/>
          </a:p>
        </p:txBody>
      </p:sp>
      <p:sp>
        <p:nvSpPr>
          <p:cNvPr id="15" name="Text 13"/>
          <p:cNvSpPr txBox="1"/>
          <p:nvPr/>
        </p:nvSpPr>
        <p:spPr>
          <a:xfrm>
            <a:off x="4114800" y="5120640"/>
            <a:ext cx="2377440" cy="822960"/>
          </a:xfrm>
          <a:prstGeom prst="rect">
            <a:avLst/>
          </a:prstGeom>
          <a:noFill/>
          <a:ln/>
        </p:spPr>
        <p:txBody>
          <a:bodyPr wrap="square" lIns="0" tIns="0" rIns="0" bIns="0" rtlCol="0" anchor="t"/>
          <a:lstStyle/>
          <a:p>
            <a:pPr marL="0" indent="0">
              <a:buNone/>
            </a:pPr>
            <a:r>
              <a:rPr lang="en-US" sz="1400" dirty="0">
                <a:solidFill>
                  <a:schemeClr val="tx1"/>
                </a:solidFill>
              </a:rPr>
              <a:t>= Z₀Z₁ (an edge between nodes 0 and 1)</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583680" y="1554480"/>
          <a:ext cx="5029200" cy="2743200"/>
        </p:xfrm>
        <a:graphic>
          <a:graphicData uri="http://schemas.openxmlformats.org/drawingml/2006/table">
            <a:tbl>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548640">
                <a:tc>
                  <a:txBody>
                    <a:bodyPr/>
                    <a:lstStyle/>
                    <a:p>
                      <a:pPr marL="0" indent="0" algn="l">
                        <a:buNone/>
                      </a:pPr>
                      <a:r>
                        <a:rPr lang="en-US" sz="1400" b="1" dirty="0">
                          <a:solidFill>
                            <a:schemeClr val="bg1"/>
                          </a:solidFill>
                        </a:rPr>
                        <a:t>bit i</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bit j</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ZᵢZⱼ</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Meaning</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48640">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(+1)(+1)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same group</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(+1)(−1)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edge cut</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48640">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(−1)(+1)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edge cut</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48640">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(−1)(−1)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same group</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17" name="Text 14"/>
          <p:cNvSpPr txBox="1"/>
          <p:nvPr/>
        </p:nvSpPr>
        <p:spPr>
          <a:xfrm>
            <a:off x="6583680" y="4480560"/>
            <a:ext cx="5029200" cy="731520"/>
          </a:xfrm>
          <a:prstGeom prst="rect">
            <a:avLst/>
          </a:prstGeom>
          <a:noFill/>
          <a:ln/>
        </p:spPr>
        <p:txBody>
          <a:bodyPr wrap="square" lIns="0" tIns="0" rIns="0" bIns="0" rtlCol="0" anchor="t"/>
          <a:lstStyle/>
          <a:p>
            <a:pPr marL="0" indent="0">
              <a:buNone/>
            </a:pPr>
            <a:r>
              <a:rPr lang="en-US" sz="1600" b="1" dirty="0">
                <a:solidFill>
                  <a:schemeClr val="accent3"/>
                </a:solidFill>
              </a:rPr>
              <a:t>A cut edge contributes −1; an uncut edge contributes +1.</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Hamiltonians and ground states</a:t>
            </a:r>
            <a:endParaRPr lang="en-US" sz="3400" dirty="0"/>
          </a:p>
        </p:txBody>
      </p:sp>
      <p:sp>
        <p:nvSpPr>
          <p:cNvPr id="3" name="Text 1"/>
          <p:cNvSpPr txBox="1"/>
          <p:nvPr/>
        </p:nvSpPr>
        <p:spPr>
          <a:xfrm>
            <a:off x="548640" y="1554480"/>
            <a:ext cx="5303520" cy="4389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A Hamiltonian H is an operator that assigns an energy to each state</a:t>
            </a:r>
            <a:endParaRPr lang="en-US" sz="1700" dirty="0"/>
          </a:p>
          <a:p>
            <a:pPr marL="342900" indent="-342900">
              <a:spcAft>
                <a:spcPts val="800"/>
              </a:spcAft>
              <a:buSzPct val="100000"/>
              <a:buChar char="•"/>
            </a:pPr>
            <a:r>
              <a:rPr lang="en-US" sz="1700" dirty="0">
                <a:solidFill>
                  <a:schemeClr val="tx1"/>
                </a:solidFill>
              </a:rPr>
              <a:t>Our H_C is a sum of Z-products, so every bitstring has a definite energy we can compute</a:t>
            </a:r>
            <a:endParaRPr lang="en-US" sz="1700" dirty="0"/>
          </a:p>
          <a:p>
            <a:pPr marL="342900" indent="-342900">
              <a:spcAft>
                <a:spcPts val="800"/>
              </a:spcAft>
              <a:buSzPct val="100000"/>
              <a:buChar char="•"/>
            </a:pPr>
            <a:r>
              <a:rPr lang="en-US" sz="1700" dirty="0">
                <a:solidFill>
                  <a:schemeClr val="tx1"/>
                </a:solidFill>
              </a:rPr>
              <a:t>The ground state is the state with the lowest energy</a:t>
            </a:r>
            <a:endParaRPr lang="en-US" sz="1700" dirty="0"/>
          </a:p>
          <a:p>
            <a:pPr marL="342900" indent="-342900">
              <a:spcAft>
                <a:spcPts val="800"/>
              </a:spcAft>
              <a:buSzPct val="100000"/>
              <a:buChar char="•"/>
            </a:pPr>
            <a:r>
              <a:rPr lang="en-US" sz="1700" dirty="0">
                <a:solidFill>
                  <a:schemeClr val="tx1"/>
                </a:solidFill>
              </a:rPr>
              <a:t>Trick of the whole method: design H_C so its ground state is the answer</a:t>
            </a:r>
            <a:endParaRPr lang="en-US" sz="1700" dirty="0"/>
          </a:p>
        </p:txBody>
      </p:sp>
      <p:sp>
        <p:nvSpPr>
          <p:cNvPr id="4" name="ladder-card"/>
          <p:cNvSpPr/>
          <p:nvPr/>
        </p:nvSpPr>
        <p:spPr>
          <a:xfrm>
            <a:off x="6217920" y="1463040"/>
            <a:ext cx="539496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400800" y="1600200"/>
            <a:ext cx="5029200" cy="365760"/>
          </a:xfrm>
          <a:prstGeom prst="rect">
            <a:avLst/>
          </a:prstGeom>
          <a:noFill/>
          <a:ln/>
        </p:spPr>
        <p:txBody>
          <a:bodyPr wrap="square" lIns="0" tIns="0" rIns="0" bIns="0" rtlCol="0" anchor="t"/>
          <a:lstStyle/>
          <a:p>
            <a:pPr marL="0" indent="0">
              <a:buNone/>
            </a:pPr>
            <a:r>
              <a:rPr lang="en-US" sz="1400" b="1" dirty="0">
                <a:solidFill>
                  <a:schemeClr val="tx1"/>
                </a:solidFill>
              </a:rPr>
              <a:t>Energy of some 5-node bitstrings (E = sum of ZᵢZⱼ)</a:t>
            </a:r>
            <a:endParaRPr lang="en-US" sz="1400" dirty="0"/>
          </a:p>
        </p:txBody>
      </p:sp>
      <p:sp>
        <p:nvSpPr>
          <p:cNvPr id="6" name="energy-axis"/>
          <p:cNvSpPr/>
          <p:nvPr/>
        </p:nvSpPr>
        <p:spPr>
          <a:xfrm>
            <a:off x="6720840" y="2194560"/>
            <a:ext cx="0" cy="3383280"/>
          </a:xfrm>
          <a:prstGeom prst="line">
            <a:avLst/>
          </a:prstGeom>
          <a:noFill/>
          <a:ln w="25400">
            <a:solidFill>
              <a:schemeClr val="tx1"/>
            </a:solidFill>
            <a:prstDash val="solid"/>
            <a:tailEnd type="triangle"/>
          </a:ln>
        </p:spPr>
        <p:txBody>
          <a:bodyPr/>
          <a:lstStyle/>
          <a:p>
            <a:endParaRPr lang="en-US"/>
          </a:p>
        </p:txBody>
      </p:sp>
      <p:sp>
        <p:nvSpPr>
          <p:cNvPr id="7" name="Text 5"/>
          <p:cNvSpPr txBox="1"/>
          <p:nvPr/>
        </p:nvSpPr>
        <p:spPr>
          <a:xfrm>
            <a:off x="6400800" y="5669280"/>
            <a:ext cx="914400" cy="274320"/>
          </a:xfrm>
          <a:prstGeom prst="rect">
            <a:avLst/>
          </a:prstGeom>
          <a:noFill/>
          <a:ln/>
        </p:spPr>
        <p:txBody>
          <a:bodyPr wrap="square" lIns="0" tIns="0" rIns="0" bIns="0" rtlCol="0" anchor="t"/>
          <a:lstStyle/>
          <a:p>
            <a:pPr marL="0" indent="0">
              <a:buNone/>
            </a:pPr>
            <a:r>
              <a:rPr lang="en-US" sz="1200" dirty="0">
                <a:solidFill>
                  <a:srgbClr val="000000"/>
                </a:solidFill>
              </a:rPr>
              <a:t>energy</a:t>
            </a:r>
            <a:endParaRPr lang="en-US" sz="1200" dirty="0"/>
          </a:p>
        </p:txBody>
      </p:sp>
      <p:sp>
        <p:nvSpPr>
          <p:cNvPr id="8" name="level-0"/>
          <p:cNvSpPr/>
          <p:nvPr/>
        </p:nvSpPr>
        <p:spPr>
          <a:xfrm>
            <a:off x="6949440" y="2240280"/>
            <a:ext cx="1554480" cy="91440"/>
          </a:xfrm>
          <a:prstGeom prst="rect">
            <a:avLst/>
          </a:prstGeom>
          <a:solidFill>
            <a:schemeClr val="accent6"/>
          </a:solidFill>
          <a:ln w="12700">
            <a:solidFill>
              <a:schemeClr val="accent6"/>
            </a:solidFill>
            <a:prstDash val="solid"/>
          </a:ln>
        </p:spPr>
        <p:txBody>
          <a:bodyPr/>
          <a:lstStyle/>
          <a:p>
            <a:endParaRPr lang="en-US"/>
          </a:p>
        </p:txBody>
      </p:sp>
      <p:sp>
        <p:nvSpPr>
          <p:cNvPr id="9" name="Text 7"/>
          <p:cNvSpPr txBox="1"/>
          <p:nvPr/>
        </p:nvSpPr>
        <p:spPr>
          <a:xfrm>
            <a:off x="8641080" y="2103120"/>
            <a:ext cx="2926080" cy="32004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00000   E = +6</a:t>
            </a:r>
            <a:endParaRPr lang="en-US" sz="1400" dirty="0"/>
          </a:p>
        </p:txBody>
      </p:sp>
      <p:sp>
        <p:nvSpPr>
          <p:cNvPr id="10" name="Text 8"/>
          <p:cNvSpPr txBox="1"/>
          <p:nvPr/>
        </p:nvSpPr>
        <p:spPr>
          <a:xfrm>
            <a:off x="8641080" y="2395728"/>
            <a:ext cx="2926080" cy="274320"/>
          </a:xfrm>
          <a:prstGeom prst="rect">
            <a:avLst/>
          </a:prstGeom>
          <a:noFill/>
          <a:ln/>
        </p:spPr>
        <p:txBody>
          <a:bodyPr wrap="square" lIns="0" tIns="0" rIns="0" bIns="0" rtlCol="0" anchor="t"/>
          <a:lstStyle/>
          <a:p>
            <a:pPr marL="0" indent="0">
              <a:buNone/>
            </a:pPr>
            <a:r>
              <a:rPr lang="en-US" sz="1200" dirty="0">
                <a:solidFill>
                  <a:srgbClr val="000000"/>
                </a:solidFill>
              </a:rPr>
              <a:t>all in one group, no edge cut</a:t>
            </a:r>
            <a:endParaRPr lang="en-US" sz="1200" dirty="0"/>
          </a:p>
        </p:txBody>
      </p:sp>
      <p:sp>
        <p:nvSpPr>
          <p:cNvPr id="11" name="level-1"/>
          <p:cNvSpPr/>
          <p:nvPr/>
        </p:nvSpPr>
        <p:spPr>
          <a:xfrm>
            <a:off x="6949440" y="4050792"/>
            <a:ext cx="1554480" cy="91440"/>
          </a:xfrm>
          <a:prstGeom prst="rect">
            <a:avLst/>
          </a:prstGeom>
          <a:solidFill>
            <a:schemeClr val="accent6"/>
          </a:solidFill>
          <a:ln w="12700">
            <a:solidFill>
              <a:schemeClr val="accent6"/>
            </a:solidFill>
            <a:prstDash val="solid"/>
          </a:ln>
        </p:spPr>
        <p:txBody>
          <a:bodyPr/>
          <a:lstStyle/>
          <a:p>
            <a:endParaRPr lang="en-US"/>
          </a:p>
        </p:txBody>
      </p:sp>
      <p:sp>
        <p:nvSpPr>
          <p:cNvPr id="12" name="Text 10"/>
          <p:cNvSpPr txBox="1"/>
          <p:nvPr/>
        </p:nvSpPr>
        <p:spPr>
          <a:xfrm>
            <a:off x="8641080" y="3913632"/>
            <a:ext cx="2926080" cy="32004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10000   E = 0</a:t>
            </a:r>
            <a:endParaRPr lang="en-US" sz="1400" dirty="0"/>
          </a:p>
        </p:txBody>
      </p:sp>
      <p:sp>
        <p:nvSpPr>
          <p:cNvPr id="13" name="Text 11"/>
          <p:cNvSpPr txBox="1"/>
          <p:nvPr/>
        </p:nvSpPr>
        <p:spPr>
          <a:xfrm>
            <a:off x="8641080" y="4206240"/>
            <a:ext cx="2926080" cy="274320"/>
          </a:xfrm>
          <a:prstGeom prst="rect">
            <a:avLst/>
          </a:prstGeom>
          <a:noFill/>
          <a:ln/>
        </p:spPr>
        <p:txBody>
          <a:bodyPr wrap="square" lIns="0" tIns="0" rIns="0" bIns="0" rtlCol="0" anchor="t"/>
          <a:lstStyle/>
          <a:p>
            <a:pPr marL="0" indent="0">
              <a:buNone/>
            </a:pPr>
            <a:r>
              <a:rPr lang="en-US" sz="1200" dirty="0">
                <a:solidFill>
                  <a:srgbClr val="000000"/>
                </a:solidFill>
              </a:rPr>
              <a:t>cut 3</a:t>
            </a:r>
            <a:endParaRPr lang="en-US" sz="1200" dirty="0"/>
          </a:p>
        </p:txBody>
      </p:sp>
      <p:sp>
        <p:nvSpPr>
          <p:cNvPr id="14" name="level-2"/>
          <p:cNvSpPr/>
          <p:nvPr/>
        </p:nvSpPr>
        <p:spPr>
          <a:xfrm>
            <a:off x="6949440" y="4654296"/>
            <a:ext cx="1554480" cy="91440"/>
          </a:xfrm>
          <a:prstGeom prst="rect">
            <a:avLst/>
          </a:prstGeom>
          <a:solidFill>
            <a:schemeClr val="accent5"/>
          </a:solidFill>
          <a:ln w="12700">
            <a:solidFill>
              <a:schemeClr val="accent5"/>
            </a:solidFill>
            <a:prstDash val="solid"/>
          </a:ln>
        </p:spPr>
        <p:txBody>
          <a:bodyPr/>
          <a:lstStyle/>
          <a:p>
            <a:endParaRPr lang="en-US"/>
          </a:p>
        </p:txBody>
      </p:sp>
      <p:sp>
        <p:nvSpPr>
          <p:cNvPr id="15" name="Text 13"/>
          <p:cNvSpPr txBox="1"/>
          <p:nvPr/>
        </p:nvSpPr>
        <p:spPr>
          <a:xfrm>
            <a:off x="8641080" y="4517136"/>
            <a:ext cx="2926080" cy="32004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01010   E = -2</a:t>
            </a:r>
            <a:endParaRPr lang="en-US" sz="1400" dirty="0"/>
          </a:p>
        </p:txBody>
      </p:sp>
      <p:sp>
        <p:nvSpPr>
          <p:cNvPr id="16" name="Text 14"/>
          <p:cNvSpPr txBox="1"/>
          <p:nvPr/>
        </p:nvSpPr>
        <p:spPr>
          <a:xfrm>
            <a:off x="8641080" y="4809744"/>
            <a:ext cx="2926080" cy="274320"/>
          </a:xfrm>
          <a:prstGeom prst="rect">
            <a:avLst/>
          </a:prstGeom>
          <a:noFill/>
          <a:ln/>
        </p:spPr>
        <p:txBody>
          <a:bodyPr wrap="square" lIns="0" tIns="0" rIns="0" bIns="0" rtlCol="0" anchor="t"/>
          <a:lstStyle/>
          <a:p>
            <a:pPr marL="0" indent="0">
              <a:buNone/>
            </a:pPr>
            <a:r>
              <a:rPr lang="en-US" sz="1200" dirty="0">
                <a:solidFill>
                  <a:srgbClr val="000000"/>
                </a:solidFill>
              </a:rPr>
              <a:t>cut 4</a:t>
            </a:r>
            <a:endParaRPr lang="en-US" sz="1200" dirty="0"/>
          </a:p>
        </p:txBody>
      </p:sp>
      <p:sp>
        <p:nvSpPr>
          <p:cNvPr id="17" name="level-3"/>
          <p:cNvSpPr/>
          <p:nvPr/>
        </p:nvSpPr>
        <p:spPr>
          <a:xfrm>
            <a:off x="6949440" y="5257800"/>
            <a:ext cx="1554480" cy="91440"/>
          </a:xfrm>
          <a:prstGeom prst="rect">
            <a:avLst/>
          </a:prstGeom>
          <a:solidFill>
            <a:schemeClr val="accent3"/>
          </a:solidFill>
          <a:ln w="12700">
            <a:solidFill>
              <a:schemeClr val="accent3"/>
            </a:solidFill>
            <a:prstDash val="solid"/>
          </a:ln>
        </p:spPr>
        <p:txBody>
          <a:bodyPr/>
          <a:lstStyle/>
          <a:p>
            <a:endParaRPr lang="en-US"/>
          </a:p>
        </p:txBody>
      </p:sp>
      <p:sp>
        <p:nvSpPr>
          <p:cNvPr id="18" name="Text 16"/>
          <p:cNvSpPr txBox="1"/>
          <p:nvPr/>
        </p:nvSpPr>
        <p:spPr>
          <a:xfrm>
            <a:off x="8641080" y="5120640"/>
            <a:ext cx="2926080" cy="32004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00101   E = -4</a:t>
            </a:r>
            <a:endParaRPr lang="en-US" sz="1400" dirty="0"/>
          </a:p>
        </p:txBody>
      </p:sp>
      <p:sp>
        <p:nvSpPr>
          <p:cNvPr id="19" name="Text 17"/>
          <p:cNvSpPr txBox="1"/>
          <p:nvPr/>
        </p:nvSpPr>
        <p:spPr>
          <a:xfrm>
            <a:off x="8641080" y="5413248"/>
            <a:ext cx="2926080" cy="274320"/>
          </a:xfrm>
          <a:prstGeom prst="rect">
            <a:avLst/>
          </a:prstGeom>
          <a:noFill/>
          <a:ln/>
        </p:spPr>
        <p:txBody>
          <a:bodyPr wrap="square" lIns="0" tIns="0" rIns="0" bIns="0" rtlCol="0" anchor="t"/>
          <a:lstStyle/>
          <a:p>
            <a:pPr marL="0" indent="0">
              <a:buNone/>
            </a:pPr>
            <a:r>
              <a:rPr lang="en-US" sz="1200" dirty="0">
                <a:solidFill>
                  <a:srgbClr val="000000"/>
                </a:solidFill>
              </a:rPr>
              <a:t>cut 5: ground state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Expectation values</a:t>
            </a:r>
            <a:endParaRPr lang="en-US" sz="3400" dirty="0"/>
          </a:p>
        </p:txBody>
      </p:sp>
      <p:sp>
        <p:nvSpPr>
          <p:cNvPr id="3" name="expect-formula"/>
          <p:cNvSpPr/>
          <p:nvPr/>
        </p:nvSpPr>
        <p:spPr>
          <a:xfrm>
            <a:off x="548640" y="1463040"/>
            <a:ext cx="11064240" cy="1280160"/>
          </a:xfrm>
          <a:prstGeom prst="roundRect">
            <a:avLst>
              <a:gd name="adj" fmla="val 8571"/>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822960" y="1554480"/>
            <a:ext cx="10515600" cy="1097280"/>
          </a:xfrm>
          <a:prstGeom prst="rect">
            <a:avLst/>
          </a:prstGeom>
          <a:noFill/>
          <a:ln/>
        </p:spPr>
        <p:txBody>
          <a:bodyPr wrap="square" lIns="0" tIns="0" rIns="0" bIns="0" rtlCol="0" anchor="ctr"/>
          <a:lstStyle/>
          <a:p>
            <a:pPr marL="0" indent="0">
              <a:buNone/>
            </a:pPr>
            <a:r>
              <a:rPr lang="en-US" sz="2400" b="1" dirty="0">
                <a:solidFill>
                  <a:schemeClr val="tx1"/>
                </a:solidFill>
              </a:rPr>
              <a:t>⟨H⟩ = Σ over bitstrings x of  p(x) · E(x)</a:t>
            </a:r>
            <a:endParaRPr lang="en-US" sz="1600" dirty="0"/>
          </a:p>
          <a:p>
            <a:pPr marL="0" indent="0">
              <a:buNone/>
            </a:pPr>
            <a:r>
              <a:rPr lang="en-US" sz="1400" dirty="0">
                <a:solidFill>
                  <a:schemeClr val="tx1"/>
                </a:solidFill>
              </a:rPr>
              <a:t>the average energy you would see over many measurements</a:t>
            </a:r>
            <a:endParaRPr lang="en-US" sz="1600" dirty="0"/>
          </a:p>
        </p:txBody>
      </p:sp>
      <p:sp>
        <p:nvSpPr>
          <p:cNvPr id="5" name="Text 3"/>
          <p:cNvSpPr txBox="1"/>
          <p:nvPr/>
        </p:nvSpPr>
        <p:spPr>
          <a:xfrm>
            <a:off x="548640" y="3017520"/>
            <a:ext cx="5669280"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We cannot read ⟨H⟩ in one shot; we estimate it from many shots</a:t>
            </a:r>
            <a:endParaRPr lang="en-US" sz="1700" dirty="0"/>
          </a:p>
          <a:p>
            <a:pPr marL="342900" indent="-342900">
              <a:spcAft>
                <a:spcPts val="800"/>
              </a:spcAft>
              <a:buSzPct val="100000"/>
              <a:buChar char="•"/>
            </a:pPr>
            <a:r>
              <a:rPr lang="en-US" sz="1700" dirty="0">
                <a:solidFill>
                  <a:schemeClr val="tx1"/>
                </a:solidFill>
              </a:rPr>
              <a:t>The cost QAOA tries to minimize is exactly ⟨H_C⟩</a:t>
            </a:r>
            <a:endParaRPr lang="en-US" sz="1700" dirty="0"/>
          </a:p>
          <a:p>
            <a:pPr marL="342900" indent="-342900">
              <a:spcAft>
                <a:spcPts val="800"/>
              </a:spcAft>
              <a:buSzPct val="100000"/>
              <a:buChar char="•"/>
            </a:pPr>
            <a:r>
              <a:rPr lang="en-US" sz="1700" dirty="0">
                <a:solidFill>
                  <a:schemeClr val="tx1"/>
                </a:solidFill>
              </a:rPr>
              <a:t>Lower ⟨H_C⟩ means the typical measured bitstring cuts more edges</a:t>
            </a:r>
            <a:endParaRPr lang="en-US" sz="1700" dirty="0"/>
          </a:p>
          <a:p>
            <a:pPr marL="342900" indent="-342900">
              <a:spcAft>
                <a:spcPts val="800"/>
              </a:spcAft>
              <a:buSzPct val="100000"/>
              <a:buChar char="•"/>
            </a:pPr>
            <a:r>
              <a:rPr lang="en-US" sz="1700" dirty="0">
                <a:solidFill>
                  <a:schemeClr val="tx1"/>
                </a:solidFill>
              </a:rPr>
              <a:t>Qiskit's Estimator primitive computes this for us</a:t>
            </a:r>
            <a:endParaRPr lang="en-US" sz="1700" dirty="0"/>
          </a:p>
        </p:txBody>
      </p:sp>
      <p:sp>
        <p:nvSpPr>
          <p:cNvPr id="6" name="expect-example"/>
          <p:cNvSpPr/>
          <p:nvPr/>
        </p:nvSpPr>
        <p:spPr>
          <a:xfrm>
            <a:off x="6492240" y="3017520"/>
            <a:ext cx="5120640" cy="3108960"/>
          </a:xfrm>
          <a:prstGeom prst="roundRect">
            <a:avLst>
              <a:gd name="adj" fmla="val 3529"/>
            </a:avLst>
          </a:prstGeom>
          <a:solidFill>
            <a:schemeClr val="bg2"/>
          </a:solidFill>
          <a:ln w="12700">
            <a:solidFill>
              <a:schemeClr val="bg2"/>
            </a:solidFill>
            <a:prstDash val="solid"/>
          </a:ln>
        </p:spPr>
        <p:txBody>
          <a:bodyPr/>
          <a:lstStyle/>
          <a:p>
            <a:endParaRPr lang="en-US"/>
          </a:p>
        </p:txBody>
      </p:sp>
      <p:sp>
        <p:nvSpPr>
          <p:cNvPr id="7" name="Text 5"/>
          <p:cNvSpPr txBox="1"/>
          <p:nvPr/>
        </p:nvSpPr>
        <p:spPr>
          <a:xfrm>
            <a:off x="6720840" y="3154680"/>
            <a:ext cx="466344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Mini example: one edge, ZZ</a:t>
            </a:r>
            <a:endParaRPr lang="en-US" sz="1800" dirty="0"/>
          </a:p>
        </p:txBody>
      </p:sp>
      <p:sp>
        <p:nvSpPr>
          <p:cNvPr id="8" name="Text 6"/>
          <p:cNvSpPr txBox="1"/>
          <p:nvPr/>
        </p:nvSpPr>
        <p:spPr>
          <a:xfrm>
            <a:off x="6720840" y="3657600"/>
            <a:ext cx="4663440" cy="2286000"/>
          </a:xfrm>
          <a:prstGeom prst="rect">
            <a:avLst/>
          </a:prstGeom>
          <a:noFill/>
          <a:ln/>
        </p:spPr>
        <p:txBody>
          <a:bodyPr wrap="square" lIns="0" tIns="0" rIns="0" bIns="0" rtlCol="0" anchor="t"/>
          <a:lstStyle/>
          <a:p>
            <a:pPr marL="0" indent="0">
              <a:spcAft>
                <a:spcPts val="800"/>
              </a:spcAft>
              <a:buNone/>
            </a:pPr>
            <a:r>
              <a:rPr lang="en-US" sz="1600" dirty="0">
                <a:solidFill>
                  <a:schemeClr val="tx1"/>
                </a:solidFill>
              </a:rPr>
              <a:t>Shots: 70% give bits 01, 30% give bits 00</a:t>
            </a:r>
            <a:endParaRPr lang="en-US" sz="1600" dirty="0"/>
          </a:p>
          <a:p>
            <a:pPr marL="0" indent="0">
              <a:spcAft>
                <a:spcPts val="800"/>
              </a:spcAft>
              <a:buNone/>
            </a:pPr>
            <a:r>
              <a:rPr lang="en-US" sz="1600" b="1" dirty="0">
                <a:solidFill>
                  <a:schemeClr val="tx1"/>
                </a:solidFill>
              </a:rPr>
              <a:t>⟨ZZ⟩ = 0.7 × (−1) + 0.3 × (+1) = −0.4</a:t>
            </a:r>
            <a:endParaRPr lang="en-US" sz="1600" dirty="0"/>
          </a:p>
          <a:p>
            <a:pPr marL="0" indent="0">
              <a:spcAft>
                <a:spcPts val="800"/>
              </a:spcAft>
              <a:buNone/>
            </a:pPr>
            <a:r>
              <a:rPr lang="en-US" sz="1600" dirty="0">
                <a:solidFill>
                  <a:schemeClr val="tx1"/>
                </a:solidFill>
              </a:rPr>
              <a:t>Uniform superposition on our graph: ⟨H_C⟩ = 0, an average cut of 3</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Why minimize the average energy?</a:t>
            </a:r>
            <a:endParaRPr lang="en-US" sz="3400" dirty="0"/>
          </a:p>
        </p:txBody>
      </p:sp>
      <p:sp>
        <p:nvSpPr>
          <p:cNvPr id="3" name="Shape 1"/>
          <p:cNvSpPr/>
          <p:nvPr/>
        </p:nvSpPr>
        <p:spPr>
          <a:xfrm>
            <a:off x="1737360" y="1554480"/>
            <a:ext cx="0" cy="4206240"/>
          </a:xfrm>
          <a:prstGeom prst="line">
            <a:avLst/>
          </a:prstGeom>
          <a:noFill/>
          <a:ln w="25400">
            <a:solidFill>
              <a:schemeClr val="tx1"/>
            </a:solidFill>
            <a:prstDash val="solid"/>
          </a:ln>
        </p:spPr>
        <p:txBody>
          <a:bodyPr/>
          <a:lstStyle/>
          <a:p>
            <a:endParaRPr lang="en-US"/>
          </a:p>
        </p:txBody>
      </p:sp>
      <p:sp>
        <p:nvSpPr>
          <p:cNvPr id="4" name="Shape 2"/>
          <p:cNvSpPr/>
          <p:nvPr/>
        </p:nvSpPr>
        <p:spPr>
          <a:xfrm>
            <a:off x="1371600" y="1554480"/>
            <a:ext cx="731520" cy="0"/>
          </a:xfrm>
          <a:prstGeom prst="line">
            <a:avLst/>
          </a:prstGeom>
          <a:noFill/>
          <a:ln w="50800">
            <a:solidFill>
              <a:schemeClr val="accent4"/>
            </a:solidFill>
            <a:prstDash val="solid"/>
          </a:ln>
        </p:spPr>
        <p:txBody>
          <a:bodyPr/>
          <a:lstStyle/>
          <a:p>
            <a:endParaRPr lang="en-US"/>
          </a:p>
        </p:txBody>
      </p:sp>
      <p:sp>
        <p:nvSpPr>
          <p:cNvPr id="5" name="Text 3"/>
          <p:cNvSpPr txBox="1"/>
          <p:nvPr/>
        </p:nvSpPr>
        <p:spPr>
          <a:xfrm>
            <a:off x="457200" y="1399032"/>
            <a:ext cx="822960" cy="310896"/>
          </a:xfrm>
          <a:prstGeom prst="rect">
            <a:avLst/>
          </a:prstGeom>
          <a:noFill/>
          <a:ln/>
        </p:spPr>
        <p:txBody>
          <a:bodyPr wrap="square" lIns="0" tIns="0" rIns="0" bIns="0" rtlCol="0" anchor="ctr"/>
          <a:lstStyle/>
          <a:p>
            <a:pPr marL="0" indent="0" algn="r">
              <a:buNone/>
            </a:pPr>
            <a:r>
              <a:rPr lang="en-US" sz="1400" b="1" dirty="0">
                <a:solidFill>
                  <a:schemeClr val="tx1"/>
                </a:solidFill>
              </a:rPr>
              <a:t>+6</a:t>
            </a:r>
            <a:endParaRPr lang="en-US" sz="1400" dirty="0"/>
          </a:p>
        </p:txBody>
      </p:sp>
      <p:sp>
        <p:nvSpPr>
          <p:cNvPr id="6" name="Text 4"/>
          <p:cNvSpPr txBox="1"/>
          <p:nvPr/>
        </p:nvSpPr>
        <p:spPr>
          <a:xfrm>
            <a:off x="2286000" y="1371600"/>
            <a:ext cx="3840480" cy="365760"/>
          </a:xfrm>
          <a:prstGeom prst="rect">
            <a:avLst/>
          </a:prstGeom>
          <a:noFill/>
          <a:ln/>
        </p:spPr>
        <p:txBody>
          <a:bodyPr wrap="square" lIns="0" tIns="0" rIns="0" bIns="0" rtlCol="0" anchor="ctr"/>
          <a:lstStyle/>
          <a:p>
            <a:pPr marL="0" indent="0">
              <a:buNone/>
            </a:pPr>
            <a:r>
              <a:rPr lang="en-US" sz="1400" dirty="0">
                <a:solidFill>
                  <a:schemeClr val="tx1"/>
                </a:solidFill>
              </a:rPr>
              <a:t>Highest energy: every edge uncut</a:t>
            </a:r>
            <a:endParaRPr lang="en-US" sz="1400" dirty="0"/>
          </a:p>
        </p:txBody>
      </p:sp>
      <p:sp>
        <p:nvSpPr>
          <p:cNvPr id="7" name="Shape 5"/>
          <p:cNvSpPr/>
          <p:nvPr/>
        </p:nvSpPr>
        <p:spPr>
          <a:xfrm>
            <a:off x="1371600" y="4078224"/>
            <a:ext cx="731520" cy="0"/>
          </a:xfrm>
          <a:prstGeom prst="line">
            <a:avLst/>
          </a:prstGeom>
          <a:noFill/>
          <a:ln w="50800">
            <a:solidFill>
              <a:schemeClr val="accent6"/>
            </a:solidFill>
            <a:prstDash val="solid"/>
          </a:ln>
        </p:spPr>
        <p:txBody>
          <a:bodyPr/>
          <a:lstStyle/>
          <a:p>
            <a:endParaRPr lang="en-US"/>
          </a:p>
        </p:txBody>
      </p:sp>
      <p:sp>
        <p:nvSpPr>
          <p:cNvPr id="8" name="Text 6"/>
          <p:cNvSpPr txBox="1"/>
          <p:nvPr/>
        </p:nvSpPr>
        <p:spPr>
          <a:xfrm>
            <a:off x="457200" y="3922776"/>
            <a:ext cx="822960" cy="310896"/>
          </a:xfrm>
          <a:prstGeom prst="rect">
            <a:avLst/>
          </a:prstGeom>
          <a:noFill/>
          <a:ln/>
        </p:spPr>
        <p:txBody>
          <a:bodyPr wrap="square" lIns="0" tIns="0" rIns="0" bIns="0" rtlCol="0" anchor="ctr"/>
          <a:lstStyle/>
          <a:p>
            <a:pPr marL="0" indent="0" algn="r">
              <a:buNone/>
            </a:pPr>
            <a:r>
              <a:rPr lang="en-US" sz="1400" b="1" dirty="0">
                <a:solidFill>
                  <a:schemeClr val="tx1"/>
                </a:solidFill>
              </a:rPr>
              <a:t>0</a:t>
            </a:r>
            <a:endParaRPr lang="en-US" sz="1400" dirty="0"/>
          </a:p>
        </p:txBody>
      </p:sp>
      <p:sp>
        <p:nvSpPr>
          <p:cNvPr id="9" name="Text 7"/>
          <p:cNvSpPr txBox="1"/>
          <p:nvPr/>
        </p:nvSpPr>
        <p:spPr>
          <a:xfrm>
            <a:off x="2286000" y="3895344"/>
            <a:ext cx="3840480" cy="365760"/>
          </a:xfrm>
          <a:prstGeom prst="rect">
            <a:avLst/>
          </a:prstGeom>
          <a:noFill/>
          <a:ln/>
        </p:spPr>
        <p:txBody>
          <a:bodyPr wrap="square" lIns="0" tIns="0" rIns="0" bIns="0" rtlCol="0" anchor="ctr"/>
          <a:lstStyle/>
          <a:p>
            <a:pPr marL="0" indent="0">
              <a:buNone/>
            </a:pPr>
            <a:r>
              <a:rPr lang="en-US" sz="1400" dirty="0">
                <a:solidFill>
                  <a:schemeClr val="tx1"/>
                </a:solidFill>
              </a:rPr>
              <a:t>Random guessing: average energy 0</a:t>
            </a:r>
            <a:endParaRPr lang="en-US" sz="1400" dirty="0"/>
          </a:p>
        </p:txBody>
      </p:sp>
      <p:sp>
        <p:nvSpPr>
          <p:cNvPr id="10" name="Shape 8"/>
          <p:cNvSpPr/>
          <p:nvPr/>
        </p:nvSpPr>
        <p:spPr>
          <a:xfrm>
            <a:off x="1371600" y="4936297"/>
            <a:ext cx="731520" cy="0"/>
          </a:xfrm>
          <a:prstGeom prst="line">
            <a:avLst/>
          </a:prstGeom>
          <a:noFill/>
          <a:ln w="50800">
            <a:solidFill>
              <a:schemeClr val="accent3"/>
            </a:solidFill>
            <a:prstDash val="solid"/>
          </a:ln>
        </p:spPr>
        <p:txBody>
          <a:bodyPr/>
          <a:lstStyle/>
          <a:p>
            <a:endParaRPr lang="en-US"/>
          </a:p>
        </p:txBody>
      </p:sp>
      <p:sp>
        <p:nvSpPr>
          <p:cNvPr id="11" name="Text 9"/>
          <p:cNvSpPr txBox="1"/>
          <p:nvPr/>
        </p:nvSpPr>
        <p:spPr>
          <a:xfrm>
            <a:off x="457200" y="4780849"/>
            <a:ext cx="822960" cy="310896"/>
          </a:xfrm>
          <a:prstGeom prst="rect">
            <a:avLst/>
          </a:prstGeom>
          <a:noFill/>
          <a:ln/>
        </p:spPr>
        <p:txBody>
          <a:bodyPr wrap="square" lIns="0" tIns="0" rIns="0" bIns="0" rtlCol="0" anchor="ctr"/>
          <a:lstStyle/>
          <a:p>
            <a:pPr marL="0" indent="0" algn="r">
              <a:buNone/>
            </a:pPr>
            <a:r>
              <a:rPr lang="en-US" sz="1400" b="1" dirty="0">
                <a:solidFill>
                  <a:schemeClr val="tx1"/>
                </a:solidFill>
              </a:rPr>
              <a:t>−2.04</a:t>
            </a:r>
            <a:endParaRPr lang="en-US" sz="1400" dirty="0"/>
          </a:p>
        </p:txBody>
      </p:sp>
      <p:sp>
        <p:nvSpPr>
          <p:cNvPr id="12" name="Text 10"/>
          <p:cNvSpPr txBox="1"/>
          <p:nvPr/>
        </p:nvSpPr>
        <p:spPr>
          <a:xfrm>
            <a:off x="2286000" y="4753417"/>
            <a:ext cx="3840480" cy="365760"/>
          </a:xfrm>
          <a:prstGeom prst="rect">
            <a:avLst/>
          </a:prstGeom>
          <a:noFill/>
          <a:ln/>
        </p:spPr>
        <p:txBody>
          <a:bodyPr wrap="square" lIns="0" tIns="0" rIns="0" bIns="0" rtlCol="0" anchor="ctr"/>
          <a:lstStyle/>
          <a:p>
            <a:pPr marL="0" indent="0">
              <a:buNone/>
            </a:pPr>
            <a:r>
              <a:rPr lang="en-US" sz="1400" dirty="0">
                <a:solidFill>
                  <a:schemeClr val="tx1"/>
                </a:solidFill>
              </a:rPr>
              <a:t>QAOA on hardware (the notebook run)</a:t>
            </a:r>
            <a:endParaRPr lang="en-US" sz="1400" dirty="0"/>
          </a:p>
        </p:txBody>
      </p:sp>
      <p:sp>
        <p:nvSpPr>
          <p:cNvPr id="13" name="Shape 11"/>
          <p:cNvSpPr/>
          <p:nvPr/>
        </p:nvSpPr>
        <p:spPr>
          <a:xfrm>
            <a:off x="1371600" y="5760720"/>
            <a:ext cx="731520" cy="0"/>
          </a:xfrm>
          <a:prstGeom prst="line">
            <a:avLst/>
          </a:prstGeom>
          <a:noFill/>
          <a:ln w="50800">
            <a:solidFill>
              <a:schemeClr val="accent1"/>
            </a:solidFill>
            <a:prstDash val="solid"/>
          </a:ln>
        </p:spPr>
        <p:txBody>
          <a:bodyPr/>
          <a:lstStyle/>
          <a:p>
            <a:endParaRPr lang="en-US"/>
          </a:p>
        </p:txBody>
      </p:sp>
      <p:sp>
        <p:nvSpPr>
          <p:cNvPr id="14" name="Text 12"/>
          <p:cNvSpPr txBox="1"/>
          <p:nvPr/>
        </p:nvSpPr>
        <p:spPr>
          <a:xfrm>
            <a:off x="457200" y="5605272"/>
            <a:ext cx="822960" cy="310896"/>
          </a:xfrm>
          <a:prstGeom prst="rect">
            <a:avLst/>
          </a:prstGeom>
          <a:noFill/>
          <a:ln/>
        </p:spPr>
        <p:txBody>
          <a:bodyPr wrap="square" lIns="0" tIns="0" rIns="0" bIns="0" rtlCol="0" anchor="ctr"/>
          <a:lstStyle/>
          <a:p>
            <a:pPr marL="0" indent="0" algn="r">
              <a:buNone/>
            </a:pPr>
            <a:r>
              <a:rPr lang="en-US" sz="1400" b="1" dirty="0">
                <a:solidFill>
                  <a:schemeClr val="tx1"/>
                </a:solidFill>
              </a:rPr>
              <a:t>−4</a:t>
            </a:r>
            <a:endParaRPr lang="en-US" sz="1400" dirty="0"/>
          </a:p>
        </p:txBody>
      </p:sp>
      <p:sp>
        <p:nvSpPr>
          <p:cNvPr id="15" name="Text 13"/>
          <p:cNvSpPr txBox="1"/>
          <p:nvPr/>
        </p:nvSpPr>
        <p:spPr>
          <a:xfrm>
            <a:off x="2286000" y="5577840"/>
            <a:ext cx="3840480" cy="365760"/>
          </a:xfrm>
          <a:prstGeom prst="rect">
            <a:avLst/>
          </a:prstGeom>
          <a:noFill/>
          <a:ln/>
        </p:spPr>
        <p:txBody>
          <a:bodyPr wrap="square" lIns="0" tIns="0" rIns="0" bIns="0" rtlCol="0" anchor="ctr"/>
          <a:lstStyle/>
          <a:p>
            <a:pPr marL="0" indent="0">
              <a:buNone/>
            </a:pPr>
            <a:r>
              <a:rPr lang="en-US" sz="1400" dirty="0">
                <a:solidFill>
                  <a:schemeClr val="tx1"/>
                </a:solidFill>
              </a:rPr>
              <a:t>Ground state: a best cut</a:t>
            </a:r>
            <a:endParaRPr lang="en-US" sz="1400" dirty="0"/>
          </a:p>
        </p:txBody>
      </p:sp>
      <p:sp>
        <p:nvSpPr>
          <p:cNvPr id="16" name="Text 14"/>
          <p:cNvSpPr txBox="1"/>
          <p:nvPr/>
        </p:nvSpPr>
        <p:spPr>
          <a:xfrm>
            <a:off x="457200" y="1188720"/>
            <a:ext cx="2743200" cy="274320"/>
          </a:xfrm>
          <a:prstGeom prst="rect">
            <a:avLst/>
          </a:prstGeom>
          <a:noFill/>
          <a:ln/>
        </p:spPr>
        <p:txBody>
          <a:bodyPr wrap="square" lIns="0" tIns="0" rIns="0" bIns="0" rtlCol="0" anchor="t"/>
          <a:lstStyle/>
          <a:p>
            <a:pPr marL="0" indent="0">
              <a:buNone/>
            </a:pPr>
            <a:r>
              <a:rPr lang="en-US" sz="1200" dirty="0">
                <a:solidFill>
                  <a:srgbClr val="000000"/>
                </a:solidFill>
              </a:rPr>
              <a:t>energy of H_C</a:t>
            </a:r>
            <a:endParaRPr lang="en-US" sz="1200" dirty="0"/>
          </a:p>
        </p:txBody>
      </p:sp>
      <p:sp>
        <p:nvSpPr>
          <p:cNvPr id="17" name="Text 15"/>
          <p:cNvSpPr txBox="1"/>
          <p:nvPr/>
        </p:nvSpPr>
        <p:spPr>
          <a:xfrm>
            <a:off x="6492240" y="1554480"/>
            <a:ext cx="5120640" cy="4572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The average energy of any state lies between the lowest and highest energy of H_C</a:t>
            </a:r>
            <a:endParaRPr lang="en-US" sz="1600" dirty="0"/>
          </a:p>
          <a:p>
            <a:pPr marL="342900" indent="-342900">
              <a:spcAft>
                <a:spcPts val="800"/>
              </a:spcAft>
              <a:buSzPct val="100000"/>
              <a:buChar char="•"/>
            </a:pPr>
            <a:r>
              <a:rPr lang="en-US" sz="1600" dirty="0">
                <a:solidFill>
                  <a:schemeClr val="tx1"/>
                </a:solidFill>
              </a:rPr>
              <a:t>The lowest possible average is the ground energy, reached only by ground states</a:t>
            </a:r>
            <a:endParaRPr lang="en-US" sz="1600" dirty="0"/>
          </a:p>
          <a:p>
            <a:pPr marL="342900" indent="-342900">
              <a:spcAft>
                <a:spcPts val="800"/>
              </a:spcAft>
              <a:buSzPct val="100000"/>
              <a:buChar char="•"/>
            </a:pPr>
            <a:r>
              <a:rPr lang="en-US" sz="1600" dirty="0">
                <a:solidFill>
                  <a:schemeClr val="tx1"/>
                </a:solidFill>
              </a:rPr>
              <a:t>So pushing the average ⟨H_C⟩ down pushes the state toward the best cuts</a:t>
            </a:r>
            <a:endParaRPr lang="en-US" sz="1600" dirty="0"/>
          </a:p>
          <a:p>
            <a:pPr marL="342900" indent="-342900">
              <a:spcAft>
                <a:spcPts val="800"/>
              </a:spcAft>
              <a:buSzPct val="100000"/>
              <a:buChar char="•"/>
            </a:pPr>
            <a:r>
              <a:rPr lang="en-US" sz="1600" dirty="0">
                <a:solidFill>
                  <a:schemeClr val="tx1"/>
                </a:solidFill>
              </a:rPr>
              <a:t>This is the variational principle. It is why the optimizer's whole job is: minimize the expectation value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Gates as rotations: the angles γ and β</a:t>
            </a:r>
            <a:endParaRPr lang="en-US" sz="3400" dirty="0"/>
          </a:p>
        </p:txBody>
      </p:sp>
      <p:sp>
        <p:nvSpPr>
          <p:cNvPr id="3" name="Text 1"/>
          <p:cNvSpPr txBox="1"/>
          <p:nvPr/>
        </p:nvSpPr>
        <p:spPr>
          <a:xfrm>
            <a:off x="548640" y="1417320"/>
            <a:ext cx="11064240" cy="548640"/>
          </a:xfrm>
          <a:prstGeom prst="rect">
            <a:avLst/>
          </a:prstGeom>
          <a:noFill/>
          <a:ln/>
        </p:spPr>
        <p:txBody>
          <a:bodyPr wrap="square" lIns="0" tIns="0" rIns="0" bIns="0" rtlCol="0" anchor="t"/>
          <a:lstStyle/>
          <a:p>
            <a:pPr marL="0" indent="0">
              <a:buNone/>
            </a:pPr>
            <a:r>
              <a:rPr lang="en-US" sz="1800" dirty="0">
                <a:solidFill>
                  <a:schemeClr val="tx1"/>
                </a:solidFill>
              </a:rPr>
              <a:t>Running a Hamiltonian for a while is a rotation: e^(−iθ·P) for a Pauli operator P.</a:t>
            </a:r>
            <a:endParaRPr lang="en-US" sz="1800" dirty="0"/>
          </a:p>
        </p:txBody>
      </p:sp>
      <p:sp>
        <p:nvSpPr>
          <p:cNvPr id="4" name="rot-mixer"/>
          <p:cNvSpPr/>
          <p:nvPr/>
        </p:nvSpPr>
        <p:spPr>
          <a:xfrm>
            <a:off x="548640" y="2194560"/>
            <a:ext cx="5394960" cy="274320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777240" y="2331720"/>
            <a:ext cx="493776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Mixer: X on each qubit</a:t>
            </a:r>
            <a:endParaRPr lang="en-US" sz="2000" dirty="0"/>
          </a:p>
        </p:txBody>
      </p:sp>
      <p:sp>
        <p:nvSpPr>
          <p:cNvPr id="6" name="Text 4"/>
          <p:cNvSpPr txBox="1"/>
          <p:nvPr/>
        </p:nvSpPr>
        <p:spPr>
          <a:xfrm>
            <a:off x="777240" y="2880360"/>
            <a:ext cx="4937760" cy="19202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RX(θ) = e^(−iθX/2)</a:t>
            </a:r>
            <a:endParaRPr lang="en-US" sz="1800" dirty="0"/>
          </a:p>
          <a:p>
            <a:pPr marL="0" indent="0">
              <a:spcAft>
                <a:spcPts val="800"/>
              </a:spcAft>
              <a:buNone/>
            </a:pPr>
            <a:r>
              <a:rPr lang="en-US" sz="1800" b="1" dirty="0">
                <a:solidFill>
                  <a:schemeClr val="accent3"/>
                </a:solidFill>
              </a:rPr>
              <a:t>so  e^(−iβ·X) = RX(2β)</a:t>
            </a:r>
            <a:endParaRPr lang="en-US" sz="1800" dirty="0"/>
          </a:p>
          <a:p>
            <a:pPr marL="0" indent="0">
              <a:spcAft>
                <a:spcPts val="800"/>
              </a:spcAft>
              <a:buNone/>
            </a:pPr>
            <a:r>
              <a:rPr lang="en-US" sz="1800" dirty="0">
                <a:solidFill>
                  <a:schemeClr val="tx1"/>
                </a:solidFill>
              </a:rPr>
              <a:t>one RX gate per qubit</a:t>
            </a:r>
            <a:endParaRPr lang="en-US" sz="1800" dirty="0"/>
          </a:p>
        </p:txBody>
      </p:sp>
      <p:sp>
        <p:nvSpPr>
          <p:cNvPr id="7" name="rot-cost"/>
          <p:cNvSpPr/>
          <p:nvPr/>
        </p:nvSpPr>
        <p:spPr>
          <a:xfrm>
            <a:off x="6217920" y="2194560"/>
            <a:ext cx="5394960" cy="274320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6446520" y="2331720"/>
            <a:ext cx="493776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Cost: ZZ on each edge</a:t>
            </a:r>
            <a:endParaRPr lang="en-US" sz="2000" dirty="0"/>
          </a:p>
        </p:txBody>
      </p:sp>
      <p:sp>
        <p:nvSpPr>
          <p:cNvPr id="9" name="Text 7"/>
          <p:cNvSpPr txBox="1"/>
          <p:nvPr/>
        </p:nvSpPr>
        <p:spPr>
          <a:xfrm>
            <a:off x="6446520" y="2880360"/>
            <a:ext cx="4937760" cy="19202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RZZ(θ) = e^(−iθ ZZ/2)</a:t>
            </a:r>
            <a:endParaRPr lang="en-US" sz="1800" dirty="0"/>
          </a:p>
          <a:p>
            <a:pPr marL="0" indent="0">
              <a:spcAft>
                <a:spcPts val="800"/>
              </a:spcAft>
              <a:buNone/>
            </a:pPr>
            <a:r>
              <a:rPr lang="en-US" sz="1800" b="1" dirty="0">
                <a:solidFill>
                  <a:schemeClr val="accent3"/>
                </a:solidFill>
              </a:rPr>
              <a:t>so  e^(−iγ·ZZ) = RZZ(2γ)</a:t>
            </a:r>
            <a:endParaRPr lang="en-US" sz="1800" dirty="0"/>
          </a:p>
          <a:p>
            <a:pPr marL="0" indent="0">
              <a:spcAft>
                <a:spcPts val="800"/>
              </a:spcAft>
              <a:buNone/>
            </a:pPr>
            <a:r>
              <a:rPr lang="en-US" sz="1800" dirty="0">
                <a:solidFill>
                  <a:schemeClr val="tx1"/>
                </a:solidFill>
              </a:rPr>
              <a:t>one RZZ gate per edge</a:t>
            </a:r>
            <a:endParaRPr lang="en-US" sz="1800" dirty="0"/>
          </a:p>
        </p:txBody>
      </p:sp>
      <p:sp>
        <p:nvSpPr>
          <p:cNvPr id="10" name="Text 8"/>
          <p:cNvSpPr txBox="1"/>
          <p:nvPr/>
        </p:nvSpPr>
        <p:spPr>
          <a:xfrm>
            <a:off x="548640" y="5212080"/>
            <a:ext cx="11064240" cy="822960"/>
          </a:xfrm>
          <a:prstGeom prst="rect">
            <a:avLst/>
          </a:prstGeom>
          <a:noFill/>
          <a:ln/>
        </p:spPr>
        <p:txBody>
          <a:bodyPr wrap="square" lIns="0" tIns="0" rIns="0" bIns="0" rtlCol="0" anchor="t"/>
          <a:lstStyle/>
          <a:p>
            <a:pPr marL="0" indent="0">
              <a:buNone/>
            </a:pPr>
            <a:r>
              <a:rPr lang="en-US" sz="1600" dirty="0">
                <a:solidFill>
                  <a:schemeClr val="tx1"/>
                </a:solidFill>
              </a:rPr>
              <a:t>The angles γ and β are the knobs the classical optimizer turns. The factor of 2 is only a gate-naming convention.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hybrid quantum-classical loop</a:t>
            </a:r>
            <a:endParaRPr lang="en-US" sz="3400" dirty="0"/>
          </a:p>
        </p:txBody>
      </p:sp>
      <p:sp>
        <p:nvSpPr>
          <p:cNvPr id="3" name="Text 1"/>
          <p:cNvSpPr txBox="1"/>
          <p:nvPr/>
        </p:nvSpPr>
        <p:spPr>
          <a:xfrm>
            <a:off x="548640" y="1554480"/>
            <a:ext cx="5303520" cy="4480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A parameterized circuit has adjustable angles θ</a:t>
            </a:r>
            <a:endParaRPr lang="en-US" sz="1700" dirty="0"/>
          </a:p>
          <a:p>
            <a:pPr marL="342900" indent="-342900">
              <a:spcAft>
                <a:spcPts val="800"/>
              </a:spcAft>
              <a:buSzPct val="100000"/>
              <a:buChar char="•"/>
            </a:pPr>
            <a:r>
              <a:rPr lang="en-US" sz="1700" dirty="0">
                <a:solidFill>
                  <a:schemeClr val="tx1"/>
                </a:solidFill>
              </a:rPr>
              <a:t>The quantum computer runs it and estimates the cost ⟨H_C⟩</a:t>
            </a:r>
            <a:endParaRPr lang="en-US" sz="1700" dirty="0"/>
          </a:p>
          <a:p>
            <a:pPr marL="342900" indent="-342900">
              <a:spcAft>
                <a:spcPts val="800"/>
              </a:spcAft>
              <a:buSzPct val="100000"/>
              <a:buChar char="•"/>
            </a:pPr>
            <a:r>
              <a:rPr lang="en-US" sz="1700" dirty="0">
                <a:solidFill>
                  <a:schemeClr val="tx1"/>
                </a:solidFill>
              </a:rPr>
              <a:t>A classical optimizer proposes better angles</a:t>
            </a:r>
            <a:endParaRPr lang="en-US" sz="1700" dirty="0"/>
          </a:p>
          <a:p>
            <a:pPr marL="342900" indent="-342900">
              <a:spcAft>
                <a:spcPts val="800"/>
              </a:spcAft>
              <a:buSzPct val="100000"/>
              <a:buChar char="•"/>
            </a:pPr>
            <a:r>
              <a:rPr lang="en-US" sz="1700" dirty="0">
                <a:solidFill>
                  <a:schemeClr val="tx1"/>
                </a:solidFill>
              </a:rPr>
              <a:t>Repeat until the cost stops improving</a:t>
            </a:r>
            <a:endParaRPr lang="en-US" sz="1700" dirty="0"/>
          </a:p>
          <a:p>
            <a:pPr marL="342900" indent="-342900">
              <a:spcAft>
                <a:spcPts val="800"/>
              </a:spcAft>
              <a:buSzPct val="100000"/>
              <a:buChar char="•"/>
            </a:pPr>
            <a:r>
              <a:rPr lang="en-US" sz="1700" dirty="0">
                <a:solidFill>
                  <a:schemeClr val="tx1"/>
                </a:solidFill>
              </a:rPr>
              <a:t>The notebook uses COBYLA: derivative-free and fairly robust to moderate noise</a:t>
            </a:r>
            <a:endParaRPr lang="en-US" sz="1700" dirty="0"/>
          </a:p>
        </p:txBody>
      </p:sp>
      <p:sp>
        <p:nvSpPr>
          <p:cNvPr id="4" name="loop-card"/>
          <p:cNvSpPr/>
          <p:nvPr/>
        </p:nvSpPr>
        <p:spPr>
          <a:xfrm>
            <a:off x="6217920" y="1463040"/>
            <a:ext cx="539496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p:nvPr/>
        </p:nvSpPr>
        <p:spPr>
          <a:xfrm>
            <a:off x="6492240" y="1828800"/>
            <a:ext cx="2103120" cy="914400"/>
          </a:xfrm>
          <a:prstGeom prst="roundRect">
            <a:avLst>
              <a:gd name="adj" fmla="val 6000"/>
            </a:avLst>
          </a:prstGeom>
          <a:solidFill>
            <a:schemeClr val="accent5"/>
          </a:solidFill>
          <a:ln>
            <a:solidFill>
              <a:schemeClr val="accent5"/>
            </a:solidFill>
          </a:ln>
        </p:spPr>
        <p:txBody>
          <a:bodyPr wrap="square" lIns="0" tIns="0" rIns="0" bIns="0" rtlCol="0" anchor="ctr"/>
          <a:lstStyle/>
          <a:p>
            <a:pPr marL="0" indent="0" algn="ctr">
              <a:buNone/>
            </a:pPr>
            <a:r>
              <a:rPr lang="en-US" sz="1600" b="1" dirty="0">
                <a:solidFill>
                  <a:schemeClr val="bg1"/>
                </a:solidFill>
              </a:rPr>
              <a:t>Angles θ</a:t>
            </a:r>
            <a:endParaRPr lang="en-US" sz="1600" dirty="0"/>
          </a:p>
        </p:txBody>
      </p:sp>
      <p:sp>
        <p:nvSpPr>
          <p:cNvPr id="6" name="Text 4"/>
          <p:cNvSpPr/>
          <p:nvPr/>
        </p:nvSpPr>
        <p:spPr>
          <a:xfrm>
            <a:off x="9144000" y="1828800"/>
            <a:ext cx="2194560" cy="914400"/>
          </a:xfrm>
          <a:prstGeom prst="roundRect">
            <a:avLst>
              <a:gd name="adj" fmla="val 6000"/>
            </a:avLst>
          </a:prstGeom>
          <a:solidFill>
            <a:schemeClr val="accent3"/>
          </a:solidFill>
          <a:ln>
            <a:solidFill>
              <a:schemeClr val="accent3"/>
            </a:solidFill>
          </a:ln>
        </p:spPr>
        <p:txBody>
          <a:bodyPr wrap="square" lIns="0" tIns="0" rIns="0" bIns="0" rtlCol="0" anchor="ctr"/>
          <a:lstStyle/>
          <a:p>
            <a:pPr marL="0" indent="0" algn="ctr">
              <a:buNone/>
            </a:pPr>
            <a:r>
              <a:rPr lang="en-US" sz="1400" b="1" dirty="0">
                <a:solidFill>
                  <a:schemeClr val="bg1"/>
                </a:solidFill>
              </a:rPr>
              <a:t>Quantum: run circuit, estimate cost</a:t>
            </a:r>
            <a:endParaRPr lang="en-US" sz="1400" dirty="0"/>
          </a:p>
        </p:txBody>
      </p:sp>
      <p:sp>
        <p:nvSpPr>
          <p:cNvPr id="7" name="Text 5"/>
          <p:cNvSpPr/>
          <p:nvPr/>
        </p:nvSpPr>
        <p:spPr>
          <a:xfrm>
            <a:off x="9144000" y="4480560"/>
            <a:ext cx="2194560" cy="914400"/>
          </a:xfrm>
          <a:prstGeom prst="roundRect">
            <a:avLst>
              <a:gd name="adj" fmla="val 6000"/>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tx1"/>
                </a:solidFill>
              </a:rPr>
              <a:t>Classical optimizer picks new θ</a:t>
            </a:r>
            <a:endParaRPr lang="en-US" sz="1400" dirty="0"/>
          </a:p>
        </p:txBody>
      </p:sp>
      <p:sp>
        <p:nvSpPr>
          <p:cNvPr id="8" name="Text 6"/>
          <p:cNvSpPr/>
          <p:nvPr/>
        </p:nvSpPr>
        <p:spPr>
          <a:xfrm>
            <a:off x="6492240" y="4480560"/>
            <a:ext cx="2103120" cy="914400"/>
          </a:xfrm>
          <a:prstGeom prst="roundRect">
            <a:avLst>
              <a:gd name="adj" fmla="val 6000"/>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Converged? Then stop</a:t>
            </a:r>
            <a:endParaRPr lang="en-US" sz="1400" dirty="0"/>
          </a:p>
        </p:txBody>
      </p:sp>
      <p:sp>
        <p:nvSpPr>
          <p:cNvPr id="9" name="Shape 7"/>
          <p:cNvSpPr/>
          <p:nvPr/>
        </p:nvSpPr>
        <p:spPr>
          <a:xfrm>
            <a:off x="8686800" y="2103120"/>
            <a:ext cx="365760" cy="365760"/>
          </a:xfrm>
          <a:prstGeom prst="rightArrow">
            <a:avLst/>
          </a:prstGeom>
          <a:solidFill>
            <a:schemeClr val="accent6"/>
          </a:solidFill>
          <a:ln w="12700">
            <a:solidFill>
              <a:schemeClr val="accent6"/>
            </a:solidFill>
            <a:prstDash val="solid"/>
          </a:ln>
        </p:spPr>
        <p:txBody>
          <a:bodyPr/>
          <a:lstStyle/>
          <a:p>
            <a:endParaRPr lang="en-US"/>
          </a:p>
        </p:txBody>
      </p:sp>
      <p:sp>
        <p:nvSpPr>
          <p:cNvPr id="10" name="Shape 8"/>
          <p:cNvSpPr/>
          <p:nvPr/>
        </p:nvSpPr>
        <p:spPr>
          <a:xfrm>
            <a:off x="10058400" y="3017520"/>
            <a:ext cx="365760" cy="1188720"/>
          </a:xfrm>
          <a:prstGeom prst="downArrow">
            <a:avLst/>
          </a:prstGeom>
          <a:solidFill>
            <a:schemeClr val="accent6"/>
          </a:solidFill>
          <a:ln w="12700">
            <a:solidFill>
              <a:schemeClr val="accent6"/>
            </a:solidFill>
            <a:prstDash val="solid"/>
          </a:ln>
        </p:spPr>
        <p:txBody>
          <a:bodyPr/>
          <a:lstStyle/>
          <a:p>
            <a:endParaRPr lang="en-US"/>
          </a:p>
        </p:txBody>
      </p:sp>
      <p:sp>
        <p:nvSpPr>
          <p:cNvPr id="11" name="Shape 9"/>
          <p:cNvSpPr/>
          <p:nvPr/>
        </p:nvSpPr>
        <p:spPr>
          <a:xfrm>
            <a:off x="8686800" y="4754880"/>
            <a:ext cx="365760" cy="365760"/>
          </a:xfrm>
          <a:prstGeom prst="leftArrow">
            <a:avLst/>
          </a:prstGeom>
          <a:solidFill>
            <a:schemeClr val="accent6"/>
          </a:solidFill>
          <a:ln w="12700">
            <a:solidFill>
              <a:schemeClr val="accent6"/>
            </a:solidFill>
            <a:prstDash val="solid"/>
          </a:ln>
        </p:spPr>
        <p:txBody>
          <a:bodyPr/>
          <a:lstStyle/>
          <a:p>
            <a:endParaRPr lang="en-US"/>
          </a:p>
        </p:txBody>
      </p:sp>
      <p:sp>
        <p:nvSpPr>
          <p:cNvPr id="12" name="Shape 10"/>
          <p:cNvSpPr/>
          <p:nvPr/>
        </p:nvSpPr>
        <p:spPr>
          <a:xfrm>
            <a:off x="7315200" y="3017520"/>
            <a:ext cx="365760" cy="1188720"/>
          </a:xfrm>
          <a:prstGeom prst="upArrow">
            <a:avLst/>
          </a:prstGeom>
          <a:solidFill>
            <a:schemeClr val="accent6"/>
          </a:solidFill>
          <a:ln w="12700">
            <a:solidFill>
              <a:schemeClr val="accent6"/>
            </a:solidFill>
            <a:prstDash val="solid"/>
          </a:ln>
        </p:spPr>
        <p:txBody>
          <a:bodyPr/>
          <a:lstStyle/>
          <a:p>
            <a:endParaRPr lang="en-US"/>
          </a:p>
        </p:txBody>
      </p:sp>
      <p:sp>
        <p:nvSpPr>
          <p:cNvPr id="13" name="Text 11"/>
          <p:cNvSpPr txBox="1"/>
          <p:nvPr/>
        </p:nvSpPr>
        <p:spPr>
          <a:xfrm>
            <a:off x="6400800" y="5577840"/>
            <a:ext cx="5029200" cy="365760"/>
          </a:xfrm>
          <a:prstGeom prst="rect">
            <a:avLst/>
          </a:prstGeom>
          <a:noFill/>
          <a:ln/>
        </p:spPr>
        <p:txBody>
          <a:bodyPr wrap="square" lIns="0" tIns="0" rIns="0" bIns="0" rtlCol="0" anchor="t"/>
          <a:lstStyle/>
          <a:p>
            <a:pPr marL="0" indent="0" algn="ctr">
              <a:buNone/>
            </a:pPr>
            <a:r>
              <a:rPr lang="en-US" sz="1400" dirty="0">
                <a:solidFill>
                  <a:srgbClr val="000000"/>
                </a:solidFill>
              </a:rPr>
              <a:t>If not converged, go around again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Check your understanding: Part B</a:t>
            </a:r>
            <a:endParaRPr lang="en-US" sz="3400" dirty="0"/>
          </a:p>
        </p:txBody>
      </p:sp>
      <p:sp>
        <p:nvSpPr>
          <p:cNvPr id="3" name="q-card-0"/>
          <p:cNvSpPr/>
          <p:nvPr/>
        </p:nvSpPr>
        <p:spPr>
          <a:xfrm>
            <a:off x="548640" y="1463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4" name="badge-1"/>
          <p:cNvSpPr/>
          <p:nvPr/>
        </p:nvSpPr>
        <p:spPr>
          <a:xfrm>
            <a:off x="777240" y="1668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1554480" y="1554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What number does the Z operator give for a qubit that is in state |1⟩?</a:t>
            </a:r>
            <a:endParaRPr lang="en-US" sz="1900" dirty="0"/>
          </a:p>
        </p:txBody>
      </p:sp>
      <p:sp>
        <p:nvSpPr>
          <p:cNvPr id="6" name="q-card-1"/>
          <p:cNvSpPr/>
          <p:nvPr/>
        </p:nvSpPr>
        <p:spPr>
          <a:xfrm>
            <a:off x="548640" y="2606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7" name="badge-2"/>
          <p:cNvSpPr/>
          <p:nvPr/>
        </p:nvSpPr>
        <p:spPr>
          <a:xfrm>
            <a:off x="777240" y="2811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8" name="Text 6"/>
          <p:cNvSpPr txBox="1"/>
          <p:nvPr/>
        </p:nvSpPr>
        <p:spPr>
          <a:xfrm>
            <a:off x="1554480" y="2697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Qiskit prints the bitstring 10100 for five qubits. What are the node values x0, x1, x2, x3, x4?</a:t>
            </a:r>
            <a:endParaRPr lang="en-US" sz="1900" dirty="0"/>
          </a:p>
        </p:txBody>
      </p:sp>
      <p:sp>
        <p:nvSpPr>
          <p:cNvPr id="9" name="q-card-2"/>
          <p:cNvSpPr/>
          <p:nvPr/>
        </p:nvSpPr>
        <p:spPr>
          <a:xfrm>
            <a:off x="548640" y="3749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10" name="badge-3"/>
          <p:cNvSpPr/>
          <p:nvPr/>
        </p:nvSpPr>
        <p:spPr>
          <a:xfrm>
            <a:off x="777240" y="3954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1" name="Text 9"/>
          <p:cNvSpPr txBox="1"/>
          <p:nvPr/>
        </p:nvSpPr>
        <p:spPr>
          <a:xfrm>
            <a:off x="1554480" y="3840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Two routes reach the same bitstring with amplitudes +0.3 and −0.3. What is that bitstring's probability?</a:t>
            </a:r>
            <a:endParaRPr lang="en-US" sz="1900" dirty="0"/>
          </a:p>
        </p:txBody>
      </p:sp>
      <p:sp>
        <p:nvSpPr>
          <p:cNvPr id="12" name="q-card-3"/>
          <p:cNvSpPr/>
          <p:nvPr/>
        </p:nvSpPr>
        <p:spPr>
          <a:xfrm>
            <a:off x="548640" y="4892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13" name="badge-4"/>
          <p:cNvSpPr/>
          <p:nvPr/>
        </p:nvSpPr>
        <p:spPr>
          <a:xfrm>
            <a:off x="777240" y="5097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4" name="Text 12"/>
          <p:cNvSpPr txBox="1"/>
          <p:nvPr/>
        </p:nvSpPr>
        <p:spPr>
          <a:xfrm>
            <a:off x="1554480" y="4983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Why does the optimizer only need to make the average energy ⟨H_C⟩ smaller?</a:t>
            </a:r>
            <a:endParaRPr lang="en-US" sz="1900" dirty="0"/>
          </a:p>
        </p:txBody>
      </p:sp>
      <p:sp>
        <p:nvSpPr>
          <p:cNvPr id="15" name="Text 13"/>
          <p:cNvSpPr txBox="1"/>
          <p:nvPr/>
        </p:nvSpPr>
        <p:spPr>
          <a:xfrm>
            <a:off x="548640" y="5989320"/>
            <a:ext cx="11064240" cy="320040"/>
          </a:xfrm>
          <a:prstGeom prst="rect">
            <a:avLst/>
          </a:prstGeom>
          <a:noFill/>
          <a:ln/>
        </p:spPr>
        <p:txBody>
          <a:bodyPr wrap="square" lIns="0" tIns="0" rIns="0" bIns="0" rtlCol="0" anchor="t"/>
          <a:lstStyle/>
          <a:p>
            <a:pPr marL="0" indent="0">
              <a:buNone/>
            </a:pPr>
            <a:r>
              <a:rPr lang="en-US" sz="1300" dirty="0">
                <a:solidFill>
                  <a:srgbClr val="000000"/>
                </a:solidFill>
              </a:rPr>
              <a:t>Think for a minute, discuss with a neighbour, then compare. Answers are in the speaker notes.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31520" y="1691640"/>
            <a:ext cx="7315200" cy="548640"/>
          </a:xfrm>
          <a:prstGeom prst="rect">
            <a:avLst/>
          </a:prstGeom>
          <a:noFill/>
          <a:ln/>
        </p:spPr>
        <p:txBody>
          <a:bodyPr wrap="square" lIns="0" tIns="0" rIns="0" bIns="0" rtlCol="0" anchor="t"/>
          <a:lstStyle/>
          <a:p>
            <a:pPr marL="0" indent="0">
              <a:buNone/>
            </a:pPr>
            <a:r>
              <a:rPr lang="en-US" sz="2400" b="1" dirty="0">
                <a:solidFill>
                  <a:schemeClr val="accent1"/>
                </a:solidFill>
                <a:latin typeface="Cambria" pitchFamily="34" charset="0"/>
                <a:ea typeface="Cambria" pitchFamily="34" charset="-122"/>
                <a:cs typeface="Cambria" pitchFamily="34" charset="-120"/>
              </a:rPr>
              <a:t>Part C</a:t>
            </a:r>
            <a:endParaRPr lang="en-US" sz="2400" dirty="0"/>
          </a:p>
        </p:txBody>
      </p:sp>
      <p:sp>
        <p:nvSpPr>
          <p:cNvPr id="3" name="Text 1"/>
          <p:cNvSpPr>
            <a:spLocks noGrp="1"/>
          </p:cNvSpPr>
          <p:nvPr>
            <p:ph type="title" idx="101" hasCustomPrompt="1"/>
          </p:nvPr>
        </p:nvSpPr>
        <p:spPr>
          <a:xfrm>
            <a:off x="731520" y="2331720"/>
            <a:ext cx="10698480" cy="1188720"/>
          </a:xfrm>
          <a:prstGeom prst="rect">
            <a:avLst/>
          </a:prstGeom>
          <a:noFill/>
          <a:ln/>
        </p:spPr>
        <p:txBody>
          <a:bodyPr wrap="square" lIns="0" tIns="0" rIns="0" bIns="0" rtlCol="0" anchor="ctr"/>
          <a:lstStyle/>
          <a:p>
            <a:pPr marL="0" indent="0" algn="l">
              <a:buNone/>
            </a:pPr>
            <a:r>
              <a:rPr lang="en-US" sz="4400" b="1" dirty="0">
                <a:solidFill>
                  <a:schemeClr val="bg1"/>
                </a:solidFill>
              </a:rPr>
              <a:t>QAOA</a:t>
            </a:r>
            <a:endParaRPr lang="en-US" sz="4400" dirty="0"/>
          </a:p>
        </p:txBody>
      </p:sp>
      <p:sp>
        <p:nvSpPr>
          <p:cNvPr id="4" name="Text 2"/>
          <p:cNvSpPr txBox="1"/>
          <p:nvPr/>
        </p:nvSpPr>
        <p:spPr>
          <a:xfrm>
            <a:off x="731520" y="3749040"/>
            <a:ext cx="8686800" cy="1097280"/>
          </a:xfrm>
          <a:prstGeom prst="rect">
            <a:avLst/>
          </a:prstGeom>
          <a:noFill/>
          <a:ln/>
        </p:spPr>
        <p:txBody>
          <a:bodyPr wrap="square" lIns="0" tIns="0" rIns="0" bIns="0" rtlCol="0" anchor="t"/>
          <a:lstStyle/>
          <a:p>
            <a:pPr marL="0" indent="0">
              <a:buNone/>
            </a:pPr>
            <a:r>
              <a:rPr lang="en-US" sz="2000" dirty="0">
                <a:solidFill>
                  <a:schemeClr val="bg2"/>
                </a:solidFill>
              </a:rPr>
              <a:t>From Max-Cut to the cost Hamiltonian, the five steps, and a worked example by hand</a:t>
            </a:r>
            <a:endParaRPr lang="en-US" sz="2000" dirty="0"/>
          </a:p>
        </p:txBody>
      </p:sp>
      <p:sp>
        <p:nvSpPr>
          <p:cNvPr id="5" name="Text 3"/>
          <p:cNvSpPr txBox="1"/>
          <p:nvPr/>
        </p:nvSpPr>
        <p:spPr>
          <a:xfrm>
            <a:off x="731520" y="5120640"/>
            <a:ext cx="5486400" cy="457200"/>
          </a:xfrm>
          <a:prstGeom prst="rect">
            <a:avLst/>
          </a:prstGeom>
          <a:noFill/>
          <a:ln/>
        </p:spPr>
        <p:txBody>
          <a:bodyPr wrap="square" lIns="0" tIns="0" rIns="0" bIns="0" rtlCol="0" anchor="t"/>
          <a:lstStyle/>
          <a:p>
            <a:pPr marL="0" indent="0">
              <a:buNone/>
            </a:pPr>
            <a:r>
              <a:rPr lang="en-US" sz="1600" dirty="0">
                <a:solidFill>
                  <a:schemeClr val="accent2"/>
                </a:solidFill>
              </a:rPr>
              <a:t>about 45 minutes</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From Max-Cut to the cost Hamiltonian</a:t>
            </a:r>
            <a:endParaRPr lang="en-US" sz="3400" dirty="0"/>
          </a:p>
        </p:txBody>
      </p:sp>
      <p:sp>
        <p:nvSpPr>
          <p:cNvPr id="3" name="derive-card-0"/>
          <p:cNvSpPr/>
          <p:nvPr/>
        </p:nvSpPr>
        <p:spPr>
          <a:xfrm>
            <a:off x="548640" y="1371600"/>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4" name="badge-1"/>
          <p:cNvSpPr/>
          <p:nvPr/>
        </p:nvSpPr>
        <p:spPr>
          <a:xfrm>
            <a:off x="777240" y="155448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1508760" y="1444752"/>
            <a:ext cx="2743200" cy="777240"/>
          </a:xfrm>
          <a:prstGeom prst="rect">
            <a:avLst/>
          </a:prstGeom>
          <a:noFill/>
          <a:ln/>
        </p:spPr>
        <p:txBody>
          <a:bodyPr wrap="square" lIns="0" tIns="0" rIns="0" bIns="0" rtlCol="0" anchor="ctr"/>
          <a:lstStyle/>
          <a:p>
            <a:pPr marL="0" indent="0">
              <a:buNone/>
            </a:pPr>
            <a:r>
              <a:rPr lang="en-US" sz="1800" b="1" dirty="0">
                <a:solidFill>
                  <a:schemeClr val="tx1"/>
                </a:solidFill>
              </a:rPr>
              <a:t>Substitute spins</a:t>
            </a:r>
            <a:endParaRPr lang="en-US" sz="1800" dirty="0"/>
          </a:p>
        </p:txBody>
      </p:sp>
      <p:sp>
        <p:nvSpPr>
          <p:cNvPr id="6" name="Text 4"/>
          <p:cNvSpPr txBox="1"/>
          <p:nvPr/>
        </p:nvSpPr>
        <p:spPr>
          <a:xfrm>
            <a:off x="4297680" y="1444752"/>
            <a:ext cx="4206240" cy="777240"/>
          </a:xfrm>
          <a:prstGeom prst="rect">
            <a:avLst/>
          </a:prstGeom>
          <a:noFill/>
          <a:ln/>
        </p:spPr>
        <p:txBody>
          <a:bodyPr wrap="square" lIns="0" tIns="0" rIns="0" bIns="0" rtlCol="0" anchor="ctr"/>
          <a:lstStyle/>
          <a:p>
            <a:pPr marL="0" indent="0">
              <a:buNone/>
            </a:pPr>
            <a:r>
              <a:rPr lang="en-US" sz="1800" b="1" dirty="0">
                <a:solidFill>
                  <a:schemeClr val="accent3"/>
                </a:solidFill>
              </a:rPr>
              <a:t>xᵢ → (1 − Zᵢ) / 2</a:t>
            </a:r>
            <a:endParaRPr lang="en-US" sz="1800" dirty="0"/>
          </a:p>
        </p:txBody>
      </p:sp>
      <p:sp>
        <p:nvSpPr>
          <p:cNvPr id="7" name="Text 5"/>
          <p:cNvSpPr txBox="1"/>
          <p:nvPr/>
        </p:nvSpPr>
        <p:spPr>
          <a:xfrm>
            <a:off x="8595360" y="1444752"/>
            <a:ext cx="2926080" cy="777240"/>
          </a:xfrm>
          <a:prstGeom prst="rect">
            <a:avLst/>
          </a:prstGeom>
          <a:noFill/>
          <a:ln/>
        </p:spPr>
        <p:txBody>
          <a:bodyPr wrap="square" lIns="0" tIns="0" rIns="0" bIns="0" rtlCol="0" anchor="ctr"/>
          <a:lstStyle/>
          <a:p>
            <a:pPr marL="0" indent="0">
              <a:buNone/>
            </a:pPr>
            <a:r>
              <a:rPr lang="en-US" sz="1400" dirty="0">
                <a:solidFill>
                  <a:schemeClr val="tx1"/>
                </a:solidFill>
              </a:rPr>
              <a:t>Z = +1 stands for bit 0, Z = −1 for bit 1</a:t>
            </a:r>
            <a:endParaRPr lang="en-US" sz="1400" dirty="0"/>
          </a:p>
        </p:txBody>
      </p:sp>
      <p:sp>
        <p:nvSpPr>
          <p:cNvPr id="8" name="derive-card-1"/>
          <p:cNvSpPr/>
          <p:nvPr/>
        </p:nvSpPr>
        <p:spPr>
          <a:xfrm>
            <a:off x="548640" y="2395728"/>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9" name="badge-2"/>
          <p:cNvSpPr/>
          <p:nvPr/>
        </p:nvSpPr>
        <p:spPr>
          <a:xfrm>
            <a:off x="777240" y="2578608"/>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0" name="Text 8"/>
          <p:cNvSpPr txBox="1"/>
          <p:nvPr/>
        </p:nvSpPr>
        <p:spPr>
          <a:xfrm>
            <a:off x="1508760" y="2468880"/>
            <a:ext cx="2743200" cy="777240"/>
          </a:xfrm>
          <a:prstGeom prst="rect">
            <a:avLst/>
          </a:prstGeom>
          <a:noFill/>
          <a:ln/>
        </p:spPr>
        <p:txBody>
          <a:bodyPr wrap="square" lIns="0" tIns="0" rIns="0" bIns="0" rtlCol="0" anchor="ctr"/>
          <a:lstStyle/>
          <a:p>
            <a:pPr marL="0" indent="0">
              <a:buNone/>
            </a:pPr>
            <a:r>
              <a:rPr lang="en-US" sz="1800" b="1" dirty="0">
                <a:solidFill>
                  <a:schemeClr val="tx1"/>
                </a:solidFill>
              </a:rPr>
              <a:t>Rewrite the edge term</a:t>
            </a:r>
            <a:endParaRPr lang="en-US" sz="1800" dirty="0"/>
          </a:p>
        </p:txBody>
      </p:sp>
      <p:sp>
        <p:nvSpPr>
          <p:cNvPr id="11" name="Text 9"/>
          <p:cNvSpPr txBox="1"/>
          <p:nvPr/>
        </p:nvSpPr>
        <p:spPr>
          <a:xfrm>
            <a:off x="4297680" y="2468880"/>
            <a:ext cx="4206240" cy="777240"/>
          </a:xfrm>
          <a:prstGeom prst="rect">
            <a:avLst/>
          </a:prstGeom>
          <a:noFill/>
          <a:ln/>
        </p:spPr>
        <p:txBody>
          <a:bodyPr wrap="square" lIns="0" tIns="0" rIns="0" bIns="0" rtlCol="0" anchor="ctr"/>
          <a:lstStyle/>
          <a:p>
            <a:pPr marL="0" indent="0">
              <a:buNone/>
            </a:pPr>
            <a:r>
              <a:rPr lang="en-US" sz="1800" b="1" dirty="0">
                <a:solidFill>
                  <a:schemeClr val="accent3"/>
                </a:solidFill>
              </a:rPr>
              <a:t>xᵢ + xⱼ − 2xᵢxⱼ = (1 − ZᵢZⱼ) / 2</a:t>
            </a:r>
            <a:endParaRPr lang="en-US" sz="1800" dirty="0"/>
          </a:p>
        </p:txBody>
      </p:sp>
      <p:sp>
        <p:nvSpPr>
          <p:cNvPr id="12" name="Text 10"/>
          <p:cNvSpPr txBox="1"/>
          <p:nvPr/>
        </p:nvSpPr>
        <p:spPr>
          <a:xfrm>
            <a:off x="8595360" y="2468880"/>
            <a:ext cx="2926080" cy="777240"/>
          </a:xfrm>
          <a:prstGeom prst="rect">
            <a:avLst/>
          </a:prstGeom>
          <a:noFill/>
          <a:ln/>
        </p:spPr>
        <p:txBody>
          <a:bodyPr wrap="square" lIns="0" tIns="0" rIns="0" bIns="0" rtlCol="0" anchor="ctr"/>
          <a:lstStyle/>
          <a:p>
            <a:pPr marL="0" indent="0">
              <a:buNone/>
            </a:pPr>
            <a:r>
              <a:rPr lang="en-US" sz="1400" dirty="0">
                <a:solidFill>
                  <a:schemeClr val="tx1"/>
                </a:solidFill>
              </a:rPr>
              <a:t>Equals 1 exactly when the ends differ</a:t>
            </a:r>
            <a:endParaRPr lang="en-US" sz="1400" dirty="0"/>
          </a:p>
        </p:txBody>
      </p:sp>
      <p:sp>
        <p:nvSpPr>
          <p:cNvPr id="13" name="derive-card-2"/>
          <p:cNvSpPr/>
          <p:nvPr/>
        </p:nvSpPr>
        <p:spPr>
          <a:xfrm>
            <a:off x="548640" y="3419856"/>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14" name="badge-3"/>
          <p:cNvSpPr/>
          <p:nvPr/>
        </p:nvSpPr>
        <p:spPr>
          <a:xfrm>
            <a:off x="777240" y="3602736"/>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3"/>
          <p:cNvSpPr txBox="1"/>
          <p:nvPr/>
        </p:nvSpPr>
        <p:spPr>
          <a:xfrm>
            <a:off x="1508760" y="3493008"/>
            <a:ext cx="2743200" cy="777240"/>
          </a:xfrm>
          <a:prstGeom prst="rect">
            <a:avLst/>
          </a:prstGeom>
          <a:noFill/>
          <a:ln/>
        </p:spPr>
        <p:txBody>
          <a:bodyPr wrap="square" lIns="0" tIns="0" rIns="0" bIns="0" rtlCol="0" anchor="ctr"/>
          <a:lstStyle/>
          <a:p>
            <a:pPr marL="0" indent="0">
              <a:buNone/>
            </a:pPr>
            <a:r>
              <a:rPr lang="en-US" sz="1800" b="1" dirty="0">
                <a:solidFill>
                  <a:schemeClr val="tx1"/>
                </a:solidFill>
              </a:rPr>
              <a:t>Sum over edges</a:t>
            </a:r>
            <a:endParaRPr lang="en-US" sz="1800" dirty="0"/>
          </a:p>
        </p:txBody>
      </p:sp>
      <p:sp>
        <p:nvSpPr>
          <p:cNvPr id="16" name="Text 14"/>
          <p:cNvSpPr txBox="1"/>
          <p:nvPr/>
        </p:nvSpPr>
        <p:spPr>
          <a:xfrm>
            <a:off x="4297680" y="3493008"/>
            <a:ext cx="4206240" cy="777240"/>
          </a:xfrm>
          <a:prstGeom prst="rect">
            <a:avLst/>
          </a:prstGeom>
          <a:noFill/>
          <a:ln/>
        </p:spPr>
        <p:txBody>
          <a:bodyPr wrap="square" lIns="0" tIns="0" rIns="0" bIns="0" rtlCol="0" anchor="ctr"/>
          <a:lstStyle/>
          <a:p>
            <a:pPr marL="0" indent="0">
              <a:buNone/>
            </a:pPr>
            <a:r>
              <a:rPr lang="en-US" sz="1800" b="1" dirty="0">
                <a:solidFill>
                  <a:schemeClr val="accent3"/>
                </a:solidFill>
              </a:rPr>
              <a:t>C = |E|/2 − ½ Σ ZᵢZⱼ</a:t>
            </a:r>
            <a:endParaRPr lang="en-US" sz="1800" dirty="0"/>
          </a:p>
        </p:txBody>
      </p:sp>
      <p:sp>
        <p:nvSpPr>
          <p:cNvPr id="17" name="Text 15"/>
          <p:cNvSpPr txBox="1"/>
          <p:nvPr/>
        </p:nvSpPr>
        <p:spPr>
          <a:xfrm>
            <a:off x="8595360" y="3493008"/>
            <a:ext cx="2926080" cy="777240"/>
          </a:xfrm>
          <a:prstGeom prst="rect">
            <a:avLst/>
          </a:prstGeom>
          <a:noFill/>
          <a:ln/>
        </p:spPr>
        <p:txBody>
          <a:bodyPr wrap="square" lIns="0" tIns="0" rIns="0" bIns="0" rtlCol="0" anchor="ctr"/>
          <a:lstStyle/>
          <a:p>
            <a:pPr marL="0" indent="0">
              <a:buNone/>
            </a:pPr>
            <a:r>
              <a:rPr lang="en-US" sz="1400" dirty="0">
                <a:solidFill>
                  <a:schemeClr val="tx1"/>
                </a:solidFill>
              </a:rPr>
              <a:t>Maximizing C means minimizing Σ ZᵢZⱼ</a:t>
            </a:r>
            <a:endParaRPr lang="en-US" sz="1400" dirty="0"/>
          </a:p>
        </p:txBody>
      </p:sp>
      <p:sp>
        <p:nvSpPr>
          <p:cNvPr id="18" name="derive-card-3"/>
          <p:cNvSpPr/>
          <p:nvPr/>
        </p:nvSpPr>
        <p:spPr>
          <a:xfrm>
            <a:off x="548640" y="4443984"/>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19" name="badge-4"/>
          <p:cNvSpPr/>
          <p:nvPr/>
        </p:nvSpPr>
        <p:spPr>
          <a:xfrm>
            <a:off x="777240" y="4626864"/>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20" name="Text 18"/>
          <p:cNvSpPr txBox="1"/>
          <p:nvPr/>
        </p:nvSpPr>
        <p:spPr>
          <a:xfrm>
            <a:off x="1508760" y="4517136"/>
            <a:ext cx="2743200" cy="777240"/>
          </a:xfrm>
          <a:prstGeom prst="rect">
            <a:avLst/>
          </a:prstGeom>
          <a:noFill/>
          <a:ln/>
        </p:spPr>
        <p:txBody>
          <a:bodyPr wrap="square" lIns="0" tIns="0" rIns="0" bIns="0" rtlCol="0" anchor="ctr"/>
          <a:lstStyle/>
          <a:p>
            <a:pPr marL="0" indent="0">
              <a:buNone/>
            </a:pPr>
            <a:r>
              <a:rPr lang="en-US" sz="1800" b="1" dirty="0">
                <a:solidFill>
                  <a:schemeClr val="tx1"/>
                </a:solidFill>
              </a:rPr>
              <a:t>Name the result</a:t>
            </a:r>
            <a:endParaRPr lang="en-US" sz="1800" dirty="0"/>
          </a:p>
        </p:txBody>
      </p:sp>
      <p:sp>
        <p:nvSpPr>
          <p:cNvPr id="21" name="Text 19"/>
          <p:cNvSpPr txBox="1"/>
          <p:nvPr/>
        </p:nvSpPr>
        <p:spPr>
          <a:xfrm>
            <a:off x="4297680" y="4517136"/>
            <a:ext cx="4206240" cy="777240"/>
          </a:xfrm>
          <a:prstGeom prst="rect">
            <a:avLst/>
          </a:prstGeom>
          <a:noFill/>
          <a:ln/>
        </p:spPr>
        <p:txBody>
          <a:bodyPr wrap="square" lIns="0" tIns="0" rIns="0" bIns="0" rtlCol="0" anchor="ctr"/>
          <a:lstStyle/>
          <a:p>
            <a:pPr marL="0" indent="0">
              <a:buNone/>
            </a:pPr>
            <a:r>
              <a:rPr lang="en-US" sz="1800" b="1" dirty="0">
                <a:solidFill>
                  <a:schemeClr val="accent3"/>
                </a:solidFill>
              </a:rPr>
              <a:t>H_C = Σ over edges ZᵢZⱼ</a:t>
            </a:r>
            <a:endParaRPr lang="en-US" sz="1800" dirty="0"/>
          </a:p>
        </p:txBody>
      </p:sp>
      <p:sp>
        <p:nvSpPr>
          <p:cNvPr id="22" name="Text 20"/>
          <p:cNvSpPr txBox="1"/>
          <p:nvPr/>
        </p:nvSpPr>
        <p:spPr>
          <a:xfrm>
            <a:off x="8595360" y="4517136"/>
            <a:ext cx="2926080" cy="777240"/>
          </a:xfrm>
          <a:prstGeom prst="rect">
            <a:avLst/>
          </a:prstGeom>
          <a:noFill/>
          <a:ln/>
        </p:spPr>
        <p:txBody>
          <a:bodyPr wrap="square" lIns="0" tIns="0" rIns="0" bIns="0" rtlCol="0" anchor="ctr"/>
          <a:lstStyle/>
          <a:p>
            <a:pPr marL="0" indent="0">
              <a:buNone/>
            </a:pPr>
            <a:r>
              <a:rPr lang="en-US" sz="1400" dirty="0">
                <a:solidFill>
                  <a:schemeClr val="tx1"/>
                </a:solidFill>
              </a:rPr>
              <a:t>Ground state of H_C = a maximum cut</a:t>
            </a:r>
            <a:endParaRPr lang="en-US" sz="1400" dirty="0"/>
          </a:p>
        </p:txBody>
      </p:sp>
      <p:sp>
        <p:nvSpPr>
          <p:cNvPr id="23" name="Text 21"/>
          <p:cNvSpPr txBox="1"/>
          <p:nvPr/>
        </p:nvSpPr>
        <p:spPr>
          <a:xfrm>
            <a:off x="548640" y="5596128"/>
            <a:ext cx="11064240" cy="640080"/>
          </a:xfrm>
          <a:prstGeom prst="rect">
            <a:avLst/>
          </a:prstGeom>
          <a:noFill/>
          <a:ln/>
        </p:spPr>
        <p:txBody>
          <a:bodyPr wrap="square" lIns="0" tIns="0" rIns="0" bIns="0" rtlCol="0" anchor="t"/>
          <a:lstStyle/>
          <a:p>
            <a:pPr marL="0" indent="0">
              <a:buNone/>
            </a:pPr>
            <a:r>
              <a:rPr lang="en-US" sz="1400" b="1" dirty="0">
                <a:solidFill>
                  <a:schemeClr val="tx1"/>
                </a:solidFill>
              </a:rPr>
              <a:t>Cut size from energy:  cut = (|E| − ⟨H_C⟩) / 2.   </a:t>
            </a:r>
            <a:r>
              <a:rPr lang="en-US" sz="1400" dirty="0">
                <a:solidFill>
                  <a:schemeClr val="tx1"/>
                </a:solidFill>
              </a:rPr>
              <a:t>General form for weights or other QUBOs: H_C = Σ Qᵢⱼ ZᵢZⱼ + Σ bᵢ Zᵢ; for unweighted Max-Cut, Qᵢⱼ = 1 and bᵢ = 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cost Hamiltonian of our 5-node graph</a:t>
            </a:r>
            <a:endParaRPr lang="en-US" sz="3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852160" cy="3712464"/>
        </p:xfrm>
        <a:graphic>
          <a:graphicData uri="http://schemas.openxmlformats.org/drawingml/2006/table">
            <a:tbl>
              <a:tblPr/>
              <a:tblGrid>
                <a:gridCol w="1554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530352">
                <a:tc>
                  <a:txBody>
                    <a:bodyPr/>
                    <a:lstStyle/>
                    <a:p>
                      <a:pPr marL="0" indent="0" algn="l">
                        <a:buNone/>
                      </a:pPr>
                      <a:r>
                        <a:rPr lang="en-US" sz="1400" b="1" dirty="0">
                          <a:solidFill>
                            <a:schemeClr val="bg1"/>
                          </a:solidFill>
                        </a:rPr>
                        <a:t>Edge</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Term</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Qiskit label</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30352">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Z0Z1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IIIZZ</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30352">
                <a:tc>
                  <a:txBody>
                    <a:bodyPr/>
                    <a:lstStyle/>
                    <a:p>
                      <a:pPr marL="0" indent="0" algn="l">
                        <a:buNone/>
                      </a:pPr>
                      <a:r>
                        <a:rPr lang="en-US" sz="1400" dirty="0">
                          <a:solidFill>
                            <a:schemeClr val="tx1"/>
                          </a:solidFill>
                        </a:rPr>
                        <a:t>(0, 2)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Z0Z2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IIZIZ</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30352">
                <a:tc>
                  <a:txBody>
                    <a:bodyPr/>
                    <a:lstStyle/>
                    <a:p>
                      <a:pPr marL="0" indent="0" algn="l">
                        <a:buNone/>
                      </a:pPr>
                      <a:r>
                        <a:rPr lang="en-US" sz="1400" dirty="0">
                          <a:solidFill>
                            <a:schemeClr val="tx1"/>
                          </a:solidFill>
                        </a:rPr>
                        <a:t>(0, 4)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Z0Z4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ZIIIZ</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30352">
                <a:tc>
                  <a:txBody>
                    <a:bodyPr/>
                    <a:lstStyle/>
                    <a:p>
                      <a:pPr marL="0" indent="0" algn="l">
                        <a:buNone/>
                      </a:pPr>
                      <a:r>
                        <a:rPr lang="en-US" sz="1400" dirty="0">
                          <a:solidFill>
                            <a:schemeClr val="tx1"/>
                          </a:solidFill>
                        </a:rPr>
                        <a:t>(1, 2)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Z1Z2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IIZZI</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30352">
                <a:tc>
                  <a:txBody>
                    <a:bodyPr/>
                    <a:lstStyle/>
                    <a:p>
                      <a:pPr marL="0" indent="0" algn="l">
                        <a:buNone/>
                      </a:pPr>
                      <a:r>
                        <a:rPr lang="en-US" sz="1400" dirty="0">
                          <a:solidFill>
                            <a:schemeClr val="tx1"/>
                          </a:solidFill>
                        </a:rPr>
                        <a:t>(2, 3)</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Z2Z3</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IZZII</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30352">
                <a:tc>
                  <a:txBody>
                    <a:bodyPr/>
                    <a:lstStyle/>
                    <a:p>
                      <a:pPr marL="0" indent="0" algn="l">
                        <a:buNone/>
                      </a:pPr>
                      <a:r>
                        <a:rPr lang="en-US" sz="1400" dirty="0">
                          <a:solidFill>
                            <a:schemeClr val="tx1"/>
                          </a:solidFill>
                        </a:rPr>
                        <a:t>(3, 4)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Z3Z4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ZZIII</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4" name="ham-card"/>
          <p:cNvSpPr/>
          <p:nvPr/>
        </p:nvSpPr>
        <p:spPr>
          <a:xfrm>
            <a:off x="6766560" y="1463040"/>
            <a:ext cx="484632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6995160" y="1691640"/>
            <a:ext cx="4389120" cy="1097280"/>
          </a:xfrm>
          <a:prstGeom prst="rect">
            <a:avLst/>
          </a:prstGeom>
          <a:noFill/>
          <a:ln/>
        </p:spPr>
        <p:txBody>
          <a:bodyPr wrap="square" lIns="0" tIns="0" rIns="0" bIns="0" rtlCol="0" anchor="t"/>
          <a:lstStyle/>
          <a:p>
            <a:pPr marL="0" indent="0">
              <a:buNone/>
            </a:pPr>
            <a:r>
              <a:rPr lang="en-US" sz="2000" b="1" dirty="0">
                <a:solidFill>
                  <a:schemeClr val="accent3"/>
                </a:solidFill>
              </a:rPr>
              <a:t>H_C = Z₀Z₁ + Z₀Z₂ + Z₀Z₄ + Z₁Z₂ + Z₂Z₃ + Z₃Z₄</a:t>
            </a:r>
            <a:endParaRPr lang="en-US" sz="2000" dirty="0"/>
          </a:p>
        </p:txBody>
      </p:sp>
      <p:sp>
        <p:nvSpPr>
          <p:cNvPr id="6" name="Text 3"/>
          <p:cNvSpPr txBox="1"/>
          <p:nvPr/>
        </p:nvSpPr>
        <p:spPr>
          <a:xfrm>
            <a:off x="6995160" y="2926080"/>
            <a:ext cx="438912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6 terms (one per edge) acting on 5 qubits</a:t>
            </a:r>
            <a:endParaRPr lang="en-US" sz="1600" dirty="0"/>
          </a:p>
          <a:p>
            <a:pPr marL="342900" indent="-342900">
              <a:spcAft>
                <a:spcPts val="800"/>
              </a:spcAft>
              <a:buSzPct val="100000"/>
              <a:buChar char="•"/>
            </a:pPr>
            <a:r>
              <a:rPr lang="en-US" sz="1600" dirty="0">
                <a:solidFill>
                  <a:schemeClr val="tx1"/>
                </a:solidFill>
              </a:rPr>
              <a:t>Read each label right to left: IIIZZ puts Z on qubits 0 and 1</a:t>
            </a:r>
            <a:endParaRPr lang="en-US" sz="1600" dirty="0"/>
          </a:p>
          <a:p>
            <a:pPr marL="342900" indent="-342900">
              <a:spcAft>
                <a:spcPts val="800"/>
              </a:spcAft>
              <a:buSzPct val="100000"/>
              <a:buChar char="•"/>
            </a:pPr>
            <a:r>
              <a:rPr lang="en-US" sz="1600" dirty="0">
                <a:solidFill>
                  <a:schemeClr val="tx1"/>
                </a:solidFill>
              </a:rPr>
              <a:t>These six strings match the notebook's printed SparsePauliOp</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energy landscape of our 5-node graph</a:t>
            </a:r>
            <a:endParaRPr lang="en-US" sz="3400" dirty="0"/>
          </a:p>
        </p:txBody>
      </p:sp>
      <p:graphicFrame>
        <p:nvGraphicFramePr>
          <p:cNvPr id="3" name="Chart 0"/>
          <p:cNvGraphicFramePr/>
          <p:nvPr/>
        </p:nvGraphicFramePr>
        <p:xfrm>
          <a:off x="548640" y="1463040"/>
          <a:ext cx="63093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132320" y="1554480"/>
            <a:ext cx="4480560" cy="4572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Every bitstring has an energy, so the problem is a landscape with 32 points</a:t>
            </a:r>
            <a:endParaRPr lang="en-US" sz="1600" dirty="0"/>
          </a:p>
          <a:p>
            <a:pPr marL="342900" indent="-342900">
              <a:spcAft>
                <a:spcPts val="800"/>
              </a:spcAft>
              <a:buSzPct val="100000"/>
              <a:buChar char="•"/>
            </a:pPr>
            <a:r>
              <a:rPr lang="en-US" sz="1600" dirty="0">
                <a:solidFill>
                  <a:schemeClr val="tx1"/>
                </a:solidFill>
              </a:rPr>
              <a:t>Only 4 of the 32 sit at the bottom (energy −4, cut 5): the answers we want</a:t>
            </a:r>
            <a:endParaRPr lang="en-US" sz="1600" dirty="0"/>
          </a:p>
          <a:p>
            <a:pPr marL="342900" indent="-342900">
              <a:spcAft>
                <a:spcPts val="800"/>
              </a:spcAft>
              <a:buSzPct val="100000"/>
              <a:buChar char="•"/>
            </a:pPr>
            <a:r>
              <a:rPr lang="en-US" sz="1600" dirty="0">
                <a:solidFill>
                  <a:schemeClr val="tx1"/>
                </a:solidFill>
              </a:rPr>
              <a:t>Uniform random sampling lands there with probability 4/32 = 12.5%</a:t>
            </a:r>
            <a:endParaRPr lang="en-US" sz="1600" dirty="0"/>
          </a:p>
          <a:p>
            <a:pPr marL="342900" indent="-342900">
              <a:spcAft>
                <a:spcPts val="800"/>
              </a:spcAft>
              <a:buSzPct val="100000"/>
              <a:buChar char="•"/>
            </a:pPr>
            <a:r>
              <a:rPr lang="en-US" sz="1600" dirty="0">
                <a:solidFill>
                  <a:schemeClr val="tx1"/>
                </a:solidFill>
              </a:rPr>
              <a:t>QAOA's job is to shift probability toward the left of this chart</a:t>
            </a:r>
            <a:endParaRPr lang="en-US" sz="1600" dirty="0"/>
          </a:p>
          <a:p>
            <a:pPr marL="342900" indent="-342900">
              <a:spcAft>
                <a:spcPts val="800"/>
              </a:spcAft>
              <a:buSzPct val="100000"/>
              <a:buChar char="•"/>
            </a:pPr>
            <a:r>
              <a:rPr lang="en-US" sz="1600" dirty="0">
                <a:solidFill>
                  <a:schemeClr val="tx1"/>
                </a:solidFill>
              </a:rPr>
              <a:t>With five nodes the landscape has 2¹⁰⁰ points, so we can never draw it, only sample from it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QAOA at a glance: five steps</a:t>
            </a:r>
            <a:endParaRPr lang="en-US" sz="3400" dirty="0"/>
          </a:p>
        </p:txBody>
      </p:sp>
      <p:sp>
        <p:nvSpPr>
          <p:cNvPr id="3" name="step-card-0"/>
          <p:cNvSpPr/>
          <p:nvPr/>
        </p:nvSpPr>
        <p:spPr>
          <a:xfrm>
            <a:off x="548640" y="1554480"/>
            <a:ext cx="2011680" cy="2834640"/>
          </a:xfrm>
          <a:prstGeom prst="roundRect">
            <a:avLst>
              <a:gd name="adj" fmla="val 5455"/>
            </a:avLst>
          </a:prstGeom>
          <a:solidFill>
            <a:schemeClr val="bg2"/>
          </a:solidFill>
          <a:ln w="12700">
            <a:solidFill>
              <a:schemeClr val="bg2"/>
            </a:solidFill>
            <a:prstDash val="solid"/>
          </a:ln>
        </p:spPr>
        <p:txBody>
          <a:bodyPr/>
          <a:lstStyle/>
          <a:p>
            <a:endParaRPr lang="en-US"/>
          </a:p>
        </p:txBody>
      </p:sp>
      <p:sp>
        <p:nvSpPr>
          <p:cNvPr id="4" name="badge-1"/>
          <p:cNvSpPr/>
          <p:nvPr/>
        </p:nvSpPr>
        <p:spPr>
          <a:xfrm>
            <a:off x="73152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731520" y="2423160"/>
            <a:ext cx="1645920" cy="868680"/>
          </a:xfrm>
          <a:prstGeom prst="rect">
            <a:avLst/>
          </a:prstGeom>
          <a:noFill/>
          <a:ln/>
        </p:spPr>
        <p:txBody>
          <a:bodyPr wrap="square" lIns="0" tIns="0" rIns="0" bIns="0" rtlCol="0" anchor="t"/>
          <a:lstStyle/>
          <a:p>
            <a:pPr marL="0" indent="0">
              <a:buNone/>
            </a:pPr>
            <a:r>
              <a:rPr lang="en-US" sz="1600" b="1" dirty="0">
                <a:solidFill>
                  <a:schemeClr val="tx1"/>
                </a:solidFill>
              </a:rPr>
              <a:t>Encode the problem</a:t>
            </a:r>
            <a:endParaRPr lang="en-US" sz="1600" dirty="0"/>
          </a:p>
        </p:txBody>
      </p:sp>
      <p:sp>
        <p:nvSpPr>
          <p:cNvPr id="6" name="Text 4"/>
          <p:cNvSpPr txBox="1"/>
          <p:nvPr/>
        </p:nvSpPr>
        <p:spPr>
          <a:xfrm>
            <a:off x="731520" y="3337560"/>
            <a:ext cx="1645920" cy="365760"/>
          </a:xfrm>
          <a:prstGeom prst="rect">
            <a:avLst/>
          </a:prstGeom>
          <a:noFill/>
          <a:ln/>
        </p:spPr>
        <p:txBody>
          <a:bodyPr wrap="square" lIns="0" tIns="0" rIns="0" bIns="0" rtlCol="0" anchor="t"/>
          <a:lstStyle/>
          <a:p>
            <a:pPr marL="0" indent="0">
              <a:buNone/>
            </a:pPr>
            <a:r>
              <a:rPr lang="en-US" sz="1400" dirty="0">
                <a:solidFill>
                  <a:srgbClr val="000000"/>
                </a:solidFill>
              </a:rPr>
              <a:t>Cost Hamiltonian</a:t>
            </a:r>
            <a:endParaRPr lang="en-US" sz="1400" dirty="0"/>
          </a:p>
        </p:txBody>
      </p:sp>
      <p:sp>
        <p:nvSpPr>
          <p:cNvPr id="7" name="Text 5"/>
          <p:cNvSpPr txBox="1"/>
          <p:nvPr/>
        </p:nvSpPr>
        <p:spPr>
          <a:xfrm>
            <a:off x="731520" y="3794760"/>
            <a:ext cx="1645920" cy="411480"/>
          </a:xfrm>
          <a:prstGeom prst="rect">
            <a:avLst/>
          </a:prstGeom>
          <a:noFill/>
          <a:ln/>
        </p:spPr>
        <p:txBody>
          <a:bodyPr wrap="square" lIns="0" tIns="0" rIns="0" bIns="0" rtlCol="0" anchor="ctr"/>
          <a:lstStyle/>
          <a:p>
            <a:pPr marL="0" indent="0">
              <a:buNone/>
            </a:pPr>
            <a:r>
              <a:rPr lang="en-US" sz="1600" b="1" dirty="0">
                <a:solidFill>
                  <a:schemeClr val="accent3"/>
                </a:solidFill>
              </a:rPr>
              <a:t>H_C = Σ ZᵢZⱼ</a:t>
            </a:r>
            <a:endParaRPr lang="en-US" sz="1600" dirty="0"/>
          </a:p>
        </p:txBody>
      </p:sp>
      <p:sp>
        <p:nvSpPr>
          <p:cNvPr id="8" name="Shape 6"/>
          <p:cNvSpPr/>
          <p:nvPr/>
        </p:nvSpPr>
        <p:spPr>
          <a:xfrm>
            <a:off x="2587752" y="2788920"/>
            <a:ext cx="246888" cy="365760"/>
          </a:xfrm>
          <a:prstGeom prst="rightArrow">
            <a:avLst/>
          </a:prstGeom>
          <a:solidFill>
            <a:schemeClr val="accent1"/>
          </a:solidFill>
          <a:ln w="12700">
            <a:solidFill>
              <a:schemeClr val="accent1"/>
            </a:solidFill>
            <a:prstDash val="solid"/>
          </a:ln>
        </p:spPr>
        <p:txBody>
          <a:bodyPr/>
          <a:lstStyle/>
          <a:p>
            <a:endParaRPr lang="en-US"/>
          </a:p>
        </p:txBody>
      </p:sp>
      <p:sp>
        <p:nvSpPr>
          <p:cNvPr id="9" name="step-card-1"/>
          <p:cNvSpPr/>
          <p:nvPr/>
        </p:nvSpPr>
        <p:spPr>
          <a:xfrm>
            <a:off x="2864358" y="1554480"/>
            <a:ext cx="2011680" cy="2834640"/>
          </a:xfrm>
          <a:prstGeom prst="roundRect">
            <a:avLst>
              <a:gd name="adj" fmla="val 5455"/>
            </a:avLst>
          </a:prstGeom>
          <a:solidFill>
            <a:schemeClr val="bg2"/>
          </a:solidFill>
          <a:ln w="12700">
            <a:solidFill>
              <a:schemeClr val="bg2"/>
            </a:solidFill>
            <a:prstDash val="solid"/>
          </a:ln>
        </p:spPr>
        <p:txBody>
          <a:bodyPr/>
          <a:lstStyle/>
          <a:p>
            <a:endParaRPr lang="en-US"/>
          </a:p>
        </p:txBody>
      </p:sp>
      <p:sp>
        <p:nvSpPr>
          <p:cNvPr id="10" name="badge-2"/>
          <p:cNvSpPr/>
          <p:nvPr/>
        </p:nvSpPr>
        <p:spPr>
          <a:xfrm>
            <a:off x="3047238"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9"/>
          <p:cNvSpPr txBox="1"/>
          <p:nvPr/>
        </p:nvSpPr>
        <p:spPr>
          <a:xfrm>
            <a:off x="3047238" y="2423160"/>
            <a:ext cx="1645920" cy="868680"/>
          </a:xfrm>
          <a:prstGeom prst="rect">
            <a:avLst/>
          </a:prstGeom>
          <a:noFill/>
          <a:ln/>
        </p:spPr>
        <p:txBody>
          <a:bodyPr wrap="square" lIns="0" tIns="0" rIns="0" bIns="0" rtlCol="0" anchor="t"/>
          <a:lstStyle/>
          <a:p>
            <a:pPr marL="0" indent="0">
              <a:buNone/>
            </a:pPr>
            <a:r>
              <a:rPr lang="en-US" sz="1600" b="1" dirty="0">
                <a:solidFill>
                  <a:schemeClr val="tx1"/>
                </a:solidFill>
              </a:rPr>
              <a:t>Define the mixer</a:t>
            </a:r>
            <a:endParaRPr lang="en-US" sz="1600" dirty="0"/>
          </a:p>
        </p:txBody>
      </p:sp>
      <p:sp>
        <p:nvSpPr>
          <p:cNvPr id="12" name="Text 10"/>
          <p:cNvSpPr txBox="1"/>
          <p:nvPr/>
        </p:nvSpPr>
        <p:spPr>
          <a:xfrm>
            <a:off x="3047238" y="3337560"/>
            <a:ext cx="1645920" cy="365760"/>
          </a:xfrm>
          <a:prstGeom prst="rect">
            <a:avLst/>
          </a:prstGeom>
          <a:noFill/>
          <a:ln/>
        </p:spPr>
        <p:txBody>
          <a:bodyPr wrap="square" lIns="0" tIns="0" rIns="0" bIns="0" rtlCol="0" anchor="t"/>
          <a:lstStyle/>
          <a:p>
            <a:pPr marL="0" indent="0">
              <a:buNone/>
            </a:pPr>
            <a:r>
              <a:rPr lang="en-US" sz="1400" dirty="0">
                <a:solidFill>
                  <a:srgbClr val="000000"/>
                </a:solidFill>
              </a:rPr>
              <a:t>Mixer Hamiltonian</a:t>
            </a:r>
            <a:endParaRPr lang="en-US" sz="1400" dirty="0"/>
          </a:p>
        </p:txBody>
      </p:sp>
      <p:sp>
        <p:nvSpPr>
          <p:cNvPr id="13" name="Text 11"/>
          <p:cNvSpPr txBox="1"/>
          <p:nvPr/>
        </p:nvSpPr>
        <p:spPr>
          <a:xfrm>
            <a:off x="3047238" y="3794760"/>
            <a:ext cx="1645920" cy="411480"/>
          </a:xfrm>
          <a:prstGeom prst="rect">
            <a:avLst/>
          </a:prstGeom>
          <a:noFill/>
          <a:ln/>
        </p:spPr>
        <p:txBody>
          <a:bodyPr wrap="square" lIns="0" tIns="0" rIns="0" bIns="0" rtlCol="0" anchor="ctr"/>
          <a:lstStyle/>
          <a:p>
            <a:pPr marL="0" indent="0">
              <a:buNone/>
            </a:pPr>
            <a:r>
              <a:rPr lang="en-US" sz="1600" b="1" dirty="0">
                <a:solidFill>
                  <a:schemeClr val="accent3"/>
                </a:solidFill>
              </a:rPr>
              <a:t>H_M = Σ Xᵢ</a:t>
            </a:r>
            <a:endParaRPr lang="en-US" sz="1600" dirty="0"/>
          </a:p>
        </p:txBody>
      </p:sp>
      <p:sp>
        <p:nvSpPr>
          <p:cNvPr id="14" name="Shape 12"/>
          <p:cNvSpPr/>
          <p:nvPr/>
        </p:nvSpPr>
        <p:spPr>
          <a:xfrm>
            <a:off x="4903470" y="2788920"/>
            <a:ext cx="246888" cy="365760"/>
          </a:xfrm>
          <a:prstGeom prst="rightArrow">
            <a:avLst/>
          </a:prstGeom>
          <a:solidFill>
            <a:schemeClr val="accent1"/>
          </a:solidFill>
          <a:ln w="12700">
            <a:solidFill>
              <a:schemeClr val="accent1"/>
            </a:solidFill>
            <a:prstDash val="solid"/>
          </a:ln>
        </p:spPr>
        <p:txBody>
          <a:bodyPr/>
          <a:lstStyle/>
          <a:p>
            <a:endParaRPr lang="en-US"/>
          </a:p>
        </p:txBody>
      </p:sp>
      <p:sp>
        <p:nvSpPr>
          <p:cNvPr id="15" name="step-card-2"/>
          <p:cNvSpPr/>
          <p:nvPr/>
        </p:nvSpPr>
        <p:spPr>
          <a:xfrm>
            <a:off x="5180076" y="1554480"/>
            <a:ext cx="2011680" cy="2834640"/>
          </a:xfrm>
          <a:prstGeom prst="roundRect">
            <a:avLst>
              <a:gd name="adj" fmla="val 5455"/>
            </a:avLst>
          </a:prstGeom>
          <a:solidFill>
            <a:schemeClr val="bg2"/>
          </a:solidFill>
          <a:ln w="12700">
            <a:solidFill>
              <a:schemeClr val="bg2"/>
            </a:solidFill>
            <a:prstDash val="solid"/>
          </a:ln>
        </p:spPr>
        <p:txBody>
          <a:bodyPr/>
          <a:lstStyle/>
          <a:p>
            <a:endParaRPr lang="en-US"/>
          </a:p>
        </p:txBody>
      </p:sp>
      <p:sp>
        <p:nvSpPr>
          <p:cNvPr id="16" name="badge-3"/>
          <p:cNvSpPr/>
          <p:nvPr/>
        </p:nvSpPr>
        <p:spPr>
          <a:xfrm>
            <a:off x="5362956"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7" name="Text 15"/>
          <p:cNvSpPr txBox="1"/>
          <p:nvPr/>
        </p:nvSpPr>
        <p:spPr>
          <a:xfrm>
            <a:off x="5362956" y="2423160"/>
            <a:ext cx="1645920" cy="868680"/>
          </a:xfrm>
          <a:prstGeom prst="rect">
            <a:avLst/>
          </a:prstGeom>
          <a:noFill/>
          <a:ln/>
        </p:spPr>
        <p:txBody>
          <a:bodyPr wrap="square" lIns="0" tIns="0" rIns="0" bIns="0" rtlCol="0" anchor="t"/>
          <a:lstStyle/>
          <a:p>
            <a:pPr marL="0" indent="0">
              <a:buNone/>
            </a:pPr>
            <a:r>
              <a:rPr lang="en-US" sz="1600" b="1" dirty="0">
                <a:solidFill>
                  <a:schemeClr val="tx1"/>
                </a:solidFill>
              </a:rPr>
              <a:t>Prepare the initial state</a:t>
            </a:r>
            <a:endParaRPr lang="en-US" sz="1600" dirty="0"/>
          </a:p>
        </p:txBody>
      </p:sp>
      <p:sp>
        <p:nvSpPr>
          <p:cNvPr id="18" name="Text 16"/>
          <p:cNvSpPr txBox="1"/>
          <p:nvPr/>
        </p:nvSpPr>
        <p:spPr>
          <a:xfrm>
            <a:off x="5362956" y="3337560"/>
            <a:ext cx="1645920" cy="365760"/>
          </a:xfrm>
          <a:prstGeom prst="rect">
            <a:avLst/>
          </a:prstGeom>
          <a:noFill/>
          <a:ln/>
        </p:spPr>
        <p:txBody>
          <a:bodyPr wrap="square" lIns="0" tIns="0" rIns="0" bIns="0" rtlCol="0" anchor="t"/>
          <a:lstStyle/>
          <a:p>
            <a:pPr marL="0" indent="0">
              <a:buNone/>
            </a:pPr>
            <a:r>
              <a:rPr lang="en-US" sz="1400" dirty="0">
                <a:solidFill>
                  <a:srgbClr val="000000"/>
                </a:solidFill>
              </a:rPr>
              <a:t>Uniform superposition</a:t>
            </a:r>
            <a:endParaRPr lang="en-US" sz="1400" dirty="0"/>
          </a:p>
        </p:txBody>
      </p:sp>
      <p:sp>
        <p:nvSpPr>
          <p:cNvPr id="19" name="Text 17"/>
          <p:cNvSpPr txBox="1"/>
          <p:nvPr/>
        </p:nvSpPr>
        <p:spPr>
          <a:xfrm>
            <a:off x="5362956" y="3794760"/>
            <a:ext cx="1645920" cy="411480"/>
          </a:xfrm>
          <a:prstGeom prst="rect">
            <a:avLst/>
          </a:prstGeom>
          <a:noFill/>
          <a:ln/>
        </p:spPr>
        <p:txBody>
          <a:bodyPr wrap="square" lIns="0" tIns="0" rIns="0" bIns="0" rtlCol="0" anchor="ctr"/>
          <a:lstStyle/>
          <a:p>
            <a:pPr marL="0" indent="0">
              <a:buNone/>
            </a:pPr>
            <a:r>
              <a:rPr lang="en-US" sz="1600" b="1" dirty="0">
                <a:solidFill>
                  <a:schemeClr val="accent3"/>
                </a:solidFill>
              </a:rPr>
              <a:t>|+⟩⊗ⁿ</a:t>
            </a:r>
            <a:endParaRPr lang="en-US" sz="1600" dirty="0"/>
          </a:p>
        </p:txBody>
      </p:sp>
      <p:sp>
        <p:nvSpPr>
          <p:cNvPr id="20" name="Shape 18"/>
          <p:cNvSpPr/>
          <p:nvPr/>
        </p:nvSpPr>
        <p:spPr>
          <a:xfrm>
            <a:off x="7219188" y="2788920"/>
            <a:ext cx="246888" cy="365760"/>
          </a:xfrm>
          <a:prstGeom prst="rightArrow">
            <a:avLst/>
          </a:prstGeom>
          <a:solidFill>
            <a:schemeClr val="accent1"/>
          </a:solidFill>
          <a:ln w="12700">
            <a:solidFill>
              <a:schemeClr val="accent1"/>
            </a:solidFill>
            <a:prstDash val="solid"/>
          </a:ln>
        </p:spPr>
        <p:txBody>
          <a:bodyPr/>
          <a:lstStyle/>
          <a:p>
            <a:endParaRPr lang="en-US"/>
          </a:p>
        </p:txBody>
      </p:sp>
      <p:sp>
        <p:nvSpPr>
          <p:cNvPr id="21" name="step-card-3"/>
          <p:cNvSpPr/>
          <p:nvPr/>
        </p:nvSpPr>
        <p:spPr>
          <a:xfrm>
            <a:off x="7495794" y="1554480"/>
            <a:ext cx="2011680" cy="2834640"/>
          </a:xfrm>
          <a:prstGeom prst="roundRect">
            <a:avLst>
              <a:gd name="adj" fmla="val 5455"/>
            </a:avLst>
          </a:prstGeom>
          <a:solidFill>
            <a:schemeClr val="bg2"/>
          </a:solidFill>
          <a:ln w="12700">
            <a:solidFill>
              <a:schemeClr val="bg2"/>
            </a:solidFill>
            <a:prstDash val="solid"/>
          </a:ln>
        </p:spPr>
        <p:txBody>
          <a:bodyPr/>
          <a:lstStyle/>
          <a:p>
            <a:endParaRPr lang="en-US"/>
          </a:p>
        </p:txBody>
      </p:sp>
      <p:sp>
        <p:nvSpPr>
          <p:cNvPr id="22" name="badge-4"/>
          <p:cNvSpPr/>
          <p:nvPr/>
        </p:nvSpPr>
        <p:spPr>
          <a:xfrm>
            <a:off x="7678674"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23" name="Text 21"/>
          <p:cNvSpPr txBox="1"/>
          <p:nvPr/>
        </p:nvSpPr>
        <p:spPr>
          <a:xfrm>
            <a:off x="7678674" y="2423160"/>
            <a:ext cx="1645920" cy="868680"/>
          </a:xfrm>
          <a:prstGeom prst="rect">
            <a:avLst/>
          </a:prstGeom>
          <a:noFill/>
          <a:ln/>
        </p:spPr>
        <p:txBody>
          <a:bodyPr wrap="square" lIns="0" tIns="0" rIns="0" bIns="0" rtlCol="0" anchor="t"/>
          <a:lstStyle/>
          <a:p>
            <a:pPr marL="0" indent="0">
              <a:buNone/>
            </a:pPr>
            <a:r>
              <a:rPr lang="en-US" sz="1600" b="1" dirty="0">
                <a:solidFill>
                  <a:schemeClr val="tx1"/>
                </a:solidFill>
              </a:rPr>
              <a:t>Build the ansatz</a:t>
            </a:r>
            <a:endParaRPr lang="en-US" sz="1600" dirty="0"/>
          </a:p>
        </p:txBody>
      </p:sp>
      <p:sp>
        <p:nvSpPr>
          <p:cNvPr id="24" name="Text 22"/>
          <p:cNvSpPr txBox="1"/>
          <p:nvPr/>
        </p:nvSpPr>
        <p:spPr>
          <a:xfrm>
            <a:off x="7678674" y="3337560"/>
            <a:ext cx="1645920" cy="365760"/>
          </a:xfrm>
          <a:prstGeom prst="rect">
            <a:avLst/>
          </a:prstGeom>
          <a:noFill/>
          <a:ln/>
        </p:spPr>
        <p:txBody>
          <a:bodyPr wrap="square" lIns="0" tIns="0" rIns="0" bIns="0" rtlCol="0" anchor="t"/>
          <a:lstStyle/>
          <a:p>
            <a:pPr marL="0" indent="0">
              <a:buNone/>
            </a:pPr>
            <a:r>
              <a:rPr lang="en-US" sz="1400" dirty="0">
                <a:solidFill>
                  <a:srgbClr val="000000"/>
                </a:solidFill>
              </a:rPr>
              <a:t>Alternating circuit</a:t>
            </a:r>
            <a:endParaRPr lang="en-US" sz="1400" dirty="0"/>
          </a:p>
        </p:txBody>
      </p:sp>
      <p:sp>
        <p:nvSpPr>
          <p:cNvPr id="25" name="Text 23"/>
          <p:cNvSpPr txBox="1"/>
          <p:nvPr/>
        </p:nvSpPr>
        <p:spPr>
          <a:xfrm>
            <a:off x="7678674" y="3794760"/>
            <a:ext cx="1645920" cy="411480"/>
          </a:xfrm>
          <a:prstGeom prst="rect">
            <a:avLst/>
          </a:prstGeom>
          <a:noFill/>
          <a:ln/>
        </p:spPr>
        <p:txBody>
          <a:bodyPr wrap="square" lIns="0" tIns="0" rIns="0" bIns="0" rtlCol="0" anchor="ctr"/>
          <a:lstStyle/>
          <a:p>
            <a:pPr marL="0" indent="0">
              <a:buNone/>
            </a:pPr>
            <a:r>
              <a:rPr lang="en-US" sz="1600" b="1" dirty="0">
                <a:solidFill>
                  <a:schemeClr val="accent3"/>
                </a:solidFill>
              </a:rPr>
              <a:t>U(β, γ)</a:t>
            </a:r>
            <a:endParaRPr lang="en-US" sz="1600" dirty="0"/>
          </a:p>
        </p:txBody>
      </p:sp>
      <p:sp>
        <p:nvSpPr>
          <p:cNvPr id="26" name="Shape 24"/>
          <p:cNvSpPr/>
          <p:nvPr/>
        </p:nvSpPr>
        <p:spPr>
          <a:xfrm>
            <a:off x="9534906" y="2788920"/>
            <a:ext cx="246888" cy="365760"/>
          </a:xfrm>
          <a:prstGeom prst="rightArrow">
            <a:avLst/>
          </a:prstGeom>
          <a:solidFill>
            <a:schemeClr val="accent1"/>
          </a:solidFill>
          <a:ln w="12700">
            <a:solidFill>
              <a:schemeClr val="accent1"/>
            </a:solidFill>
            <a:prstDash val="solid"/>
          </a:ln>
        </p:spPr>
        <p:txBody>
          <a:bodyPr/>
          <a:lstStyle/>
          <a:p>
            <a:endParaRPr lang="en-US"/>
          </a:p>
        </p:txBody>
      </p:sp>
      <p:sp>
        <p:nvSpPr>
          <p:cNvPr id="27" name="step-card-4"/>
          <p:cNvSpPr/>
          <p:nvPr/>
        </p:nvSpPr>
        <p:spPr>
          <a:xfrm>
            <a:off x="9811512" y="1554480"/>
            <a:ext cx="2011680" cy="2834640"/>
          </a:xfrm>
          <a:prstGeom prst="roundRect">
            <a:avLst>
              <a:gd name="adj" fmla="val 5455"/>
            </a:avLst>
          </a:prstGeom>
          <a:solidFill>
            <a:schemeClr val="bg2"/>
          </a:solidFill>
          <a:ln w="12700">
            <a:solidFill>
              <a:schemeClr val="bg2"/>
            </a:solidFill>
            <a:prstDash val="solid"/>
          </a:ln>
        </p:spPr>
        <p:txBody>
          <a:bodyPr/>
          <a:lstStyle/>
          <a:p>
            <a:endParaRPr lang="en-US"/>
          </a:p>
        </p:txBody>
      </p:sp>
      <p:sp>
        <p:nvSpPr>
          <p:cNvPr id="28" name="badge-5"/>
          <p:cNvSpPr/>
          <p:nvPr/>
        </p:nvSpPr>
        <p:spPr>
          <a:xfrm>
            <a:off x="9994392"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9" name="Text 27"/>
          <p:cNvSpPr txBox="1"/>
          <p:nvPr/>
        </p:nvSpPr>
        <p:spPr>
          <a:xfrm>
            <a:off x="9994392" y="2423160"/>
            <a:ext cx="1645920" cy="868680"/>
          </a:xfrm>
          <a:prstGeom prst="rect">
            <a:avLst/>
          </a:prstGeom>
          <a:noFill/>
          <a:ln/>
        </p:spPr>
        <p:txBody>
          <a:bodyPr wrap="square" lIns="0" tIns="0" rIns="0" bIns="0" rtlCol="0" anchor="t"/>
          <a:lstStyle/>
          <a:p>
            <a:pPr marL="0" indent="0">
              <a:buNone/>
            </a:pPr>
            <a:r>
              <a:rPr lang="en-US" sz="1600" b="1" dirty="0">
                <a:solidFill>
                  <a:schemeClr val="tx1"/>
                </a:solidFill>
              </a:rPr>
              <a:t>Measure expectation values</a:t>
            </a:r>
            <a:endParaRPr lang="en-US" sz="1600" dirty="0"/>
          </a:p>
        </p:txBody>
      </p:sp>
      <p:sp>
        <p:nvSpPr>
          <p:cNvPr id="30" name="Text 28"/>
          <p:cNvSpPr txBox="1"/>
          <p:nvPr/>
        </p:nvSpPr>
        <p:spPr>
          <a:xfrm>
            <a:off x="9994392" y="3337560"/>
            <a:ext cx="1645920" cy="365760"/>
          </a:xfrm>
          <a:prstGeom prst="rect">
            <a:avLst/>
          </a:prstGeom>
          <a:noFill/>
          <a:ln/>
        </p:spPr>
        <p:txBody>
          <a:bodyPr wrap="square" lIns="0" tIns="0" rIns="0" bIns="0" rtlCol="0" anchor="t"/>
          <a:lstStyle/>
          <a:p>
            <a:pPr marL="0" indent="0">
              <a:buNone/>
            </a:pPr>
            <a:r>
              <a:rPr lang="en-US" sz="1400" dirty="0">
                <a:solidFill>
                  <a:srgbClr val="000000"/>
                </a:solidFill>
              </a:rPr>
              <a:t>Cost to minimize</a:t>
            </a:r>
            <a:endParaRPr lang="en-US" sz="1400" dirty="0"/>
          </a:p>
        </p:txBody>
      </p:sp>
      <p:sp>
        <p:nvSpPr>
          <p:cNvPr id="31" name="Text 29"/>
          <p:cNvSpPr txBox="1"/>
          <p:nvPr/>
        </p:nvSpPr>
        <p:spPr>
          <a:xfrm>
            <a:off x="9994392" y="3794760"/>
            <a:ext cx="1645920" cy="411480"/>
          </a:xfrm>
          <a:prstGeom prst="rect">
            <a:avLst/>
          </a:prstGeom>
          <a:noFill/>
          <a:ln/>
        </p:spPr>
        <p:txBody>
          <a:bodyPr wrap="square" lIns="0" tIns="0" rIns="0" bIns="0" rtlCol="0" anchor="ctr"/>
          <a:lstStyle/>
          <a:p>
            <a:pPr marL="0" indent="0">
              <a:buNone/>
            </a:pPr>
            <a:r>
              <a:rPr lang="en-US" sz="1600" b="1" dirty="0">
                <a:solidFill>
                  <a:schemeClr val="accent3"/>
                </a:solidFill>
              </a:rPr>
              <a:t>⟨ψ|H_C|ψ⟩</a:t>
            </a:r>
            <a:endParaRPr lang="en-US" sz="1600" dirty="0"/>
          </a:p>
        </p:txBody>
      </p:sp>
      <p:sp>
        <p:nvSpPr>
          <p:cNvPr id="32" name="loop-note"/>
          <p:cNvSpPr/>
          <p:nvPr/>
        </p:nvSpPr>
        <p:spPr>
          <a:xfrm>
            <a:off x="548640" y="4754880"/>
            <a:ext cx="11064240" cy="1280160"/>
          </a:xfrm>
          <a:prstGeom prst="roundRect">
            <a:avLst>
              <a:gd name="adj" fmla="val 8571"/>
            </a:avLst>
          </a:prstGeom>
          <a:solidFill>
            <a:schemeClr val="bg2"/>
          </a:solidFill>
          <a:ln w="12700">
            <a:solidFill>
              <a:schemeClr val="bg2"/>
            </a:solidFill>
            <a:prstDash val="solid"/>
          </a:ln>
        </p:spPr>
        <p:txBody>
          <a:bodyPr/>
          <a:lstStyle/>
          <a:p>
            <a:endParaRPr lang="en-US"/>
          </a:p>
        </p:txBody>
      </p:sp>
      <p:sp>
        <p:nvSpPr>
          <p:cNvPr id="33" name="Text 31"/>
          <p:cNvSpPr txBox="1"/>
          <p:nvPr/>
        </p:nvSpPr>
        <p:spPr>
          <a:xfrm>
            <a:off x="822960" y="4846320"/>
            <a:ext cx="10515600" cy="1097280"/>
          </a:xfrm>
          <a:prstGeom prst="rect">
            <a:avLst/>
          </a:prstGeom>
          <a:noFill/>
          <a:ln/>
        </p:spPr>
        <p:txBody>
          <a:bodyPr wrap="square" lIns="0" tIns="0" rIns="0" bIns="0" rtlCol="0" anchor="ctr"/>
          <a:lstStyle/>
          <a:p>
            <a:pPr marL="0" indent="0">
              <a:buNone/>
            </a:pPr>
            <a:r>
              <a:rPr lang="en-US" sz="1600" b="1" dirty="0">
                <a:solidFill>
                  <a:schemeClr val="tx1"/>
                </a:solidFill>
              </a:rPr>
              <a:t>Hybrid loop: </a:t>
            </a:r>
            <a:r>
              <a:rPr lang="en-US" sz="1600" dirty="0">
                <a:solidFill>
                  <a:schemeClr val="tx1"/>
                </a:solidFill>
              </a:rPr>
              <a:t>steps 1 to 4 build a circuit with angles (β, γ); step 5 scores it. A classical optimizer adjusts the angles and the cycle repeats until the cost stops improving.</a:t>
            </a:r>
            <a:endParaRPr lang="en-US" sz="16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Step 1: Encode the problem</a:t>
            </a:r>
            <a:endParaRPr lang="en-US" sz="3400" dirty="0"/>
          </a:p>
        </p:txBody>
      </p:sp>
      <p:sp>
        <p:nvSpPr>
          <p:cNvPr id="3" name="Text 1"/>
          <p:cNvSpPr txBox="1"/>
          <p:nvPr/>
        </p:nvSpPr>
        <p:spPr>
          <a:xfrm>
            <a:off x="548640" y="1463040"/>
            <a:ext cx="475488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One qubit per node, one ZZ term per edge</a:t>
            </a:r>
            <a:endParaRPr lang="en-US" sz="1600" dirty="0"/>
          </a:p>
          <a:p>
            <a:pPr marL="342900" indent="-342900">
              <a:spcAft>
                <a:spcPts val="800"/>
              </a:spcAft>
              <a:buSzPct val="100000"/>
              <a:buChar char="•"/>
            </a:pPr>
            <a:r>
              <a:rPr lang="en-US" sz="1600" dirty="0">
                <a:solidFill>
                  <a:schemeClr val="tx1"/>
                </a:solidFill>
              </a:rPr>
              <a:t>Build the graph, then turn each edge into a Pauli term</a:t>
            </a:r>
            <a:endParaRPr lang="en-US" sz="1600" dirty="0"/>
          </a:p>
          <a:p>
            <a:pPr marL="342900" indent="-342900">
              <a:spcAft>
                <a:spcPts val="800"/>
              </a:spcAft>
              <a:buSzPct val="100000"/>
              <a:buChar char="•"/>
            </a:pPr>
            <a:r>
              <a:rPr lang="en-US" sz="1600" dirty="0">
                <a:solidFill>
                  <a:schemeClr val="tx1"/>
                </a:solidFill>
              </a:rPr>
              <a:t>SparsePauliOp stores the sum of Pauli strings</a:t>
            </a:r>
            <a:endParaRPr lang="en-US" sz="1600" dirty="0"/>
          </a:p>
        </p:txBody>
      </p:sp>
      <p:sp>
        <p:nvSpPr>
          <p:cNvPr id="4" name="code-box"/>
          <p:cNvSpPr/>
          <p:nvPr/>
        </p:nvSpPr>
        <p:spPr>
          <a:xfrm>
            <a:off x="548640" y="3291840"/>
            <a:ext cx="5029200" cy="1828800"/>
          </a:xfrm>
          <a:prstGeom prst="roundRect">
            <a:avLst>
              <a:gd name="adj" fmla="val 5000"/>
            </a:avLst>
          </a:prstGeom>
          <a:solidFill>
            <a:schemeClr val="tx1"/>
          </a:solidFill>
          <a:ln w="12700">
            <a:solidFill>
              <a:schemeClr val="tx1"/>
            </a:solidFill>
            <a:prstDash val="solid"/>
          </a:ln>
        </p:spPr>
        <p:txBody>
          <a:bodyPr/>
          <a:lstStyle/>
          <a:p>
            <a:endParaRPr lang="en-US"/>
          </a:p>
        </p:txBody>
      </p:sp>
      <p:sp>
        <p:nvSpPr>
          <p:cNvPr id="5" name="Text 3"/>
          <p:cNvSpPr txBox="1"/>
          <p:nvPr/>
        </p:nvSpPr>
        <p:spPr>
          <a:xfrm>
            <a:off x="731520" y="3429000"/>
            <a:ext cx="4663440" cy="155448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graph = rx.PyGraph()</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graph.add_nodes_from(np.arange(0, n_small, 1))</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edge_list = [(0,1,1.0), (0,2,1.0), (0,4,1.0),</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(1,2,1.0), (2,3,1.0), (3,4,1.0)]</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graph.add_edges_from(edge_list)</a:t>
            </a:r>
            <a:endParaRPr lang="en-US" sz="1200" dirty="0"/>
          </a:p>
        </p:txBody>
      </p:sp>
      <p:sp>
        <p:nvSpPr>
          <p:cNvPr id="6" name="Text 4"/>
          <p:cNvSpPr txBox="1"/>
          <p:nvPr/>
        </p:nvSpPr>
        <p:spPr>
          <a:xfrm>
            <a:off x="548640" y="5212080"/>
            <a:ext cx="5029200" cy="365760"/>
          </a:xfrm>
          <a:prstGeom prst="rect">
            <a:avLst/>
          </a:prstGeom>
          <a:noFill/>
          <a:ln/>
        </p:spPr>
        <p:txBody>
          <a:bodyPr wrap="square" lIns="0" tIns="0" rIns="0" bIns="0" rtlCol="0" anchor="t"/>
          <a:lstStyle/>
          <a:p>
            <a:pPr marL="0" indent="0">
              <a:buNone/>
            </a:pPr>
            <a:r>
              <a:rPr lang="en-US" sz="1400" dirty="0">
                <a:solidFill>
                  <a:srgbClr val="000000"/>
                </a:solidFill>
              </a:rPr>
              <a:t>n_small = 5; each tuple is (node, node, weight)</a:t>
            </a:r>
            <a:endParaRPr lang="en-US" sz="1400" dirty="0"/>
          </a:p>
        </p:txBody>
      </p:sp>
      <p:sp>
        <p:nvSpPr>
          <p:cNvPr id="7" name="code-box"/>
          <p:cNvSpPr/>
          <p:nvPr/>
        </p:nvSpPr>
        <p:spPr>
          <a:xfrm>
            <a:off x="5852160" y="1463040"/>
            <a:ext cx="5760720" cy="2651760"/>
          </a:xfrm>
          <a:prstGeom prst="roundRect">
            <a:avLst>
              <a:gd name="adj" fmla="val 3448"/>
            </a:avLst>
          </a:prstGeom>
          <a:solidFill>
            <a:schemeClr val="tx1"/>
          </a:solidFill>
          <a:ln w="12700">
            <a:solidFill>
              <a:schemeClr val="tx1"/>
            </a:solidFill>
            <a:prstDash val="solid"/>
          </a:ln>
        </p:spPr>
        <p:txBody>
          <a:bodyPr/>
          <a:lstStyle/>
          <a:p>
            <a:endParaRPr lang="en-US"/>
          </a:p>
        </p:txBody>
      </p:sp>
      <p:sp>
        <p:nvSpPr>
          <p:cNvPr id="8" name="Text 6"/>
          <p:cNvSpPr txBox="1"/>
          <p:nvPr/>
        </p:nvSpPr>
        <p:spPr>
          <a:xfrm>
            <a:off x="6035040" y="1600200"/>
            <a:ext cx="5394960" cy="237744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def build_max_cut_paulis(graph):</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pauli_list = []</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for edge in list(graph.edge_list()):</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w = graph.get_edge_data(edge[0], edge[1])</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pauli_list.append(("ZZ", [edge[0], edge[1]], w))</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return pauli_list</a:t>
            </a:r>
            <a:endParaRPr lang="en-US" sz="1200" dirty="0"/>
          </a:p>
          <a:p>
            <a:pPr marL="0" indent="0">
              <a:buNone/>
            </a:pP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cost_hamiltonian = SparsePauliOp.from_sparse_list(</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build_max_cut_paulis(graph), n_small)</a:t>
            </a:r>
            <a:endParaRPr lang="en-US" sz="1200" dirty="0"/>
          </a:p>
        </p:txBody>
      </p:sp>
      <p:sp>
        <p:nvSpPr>
          <p:cNvPr id="9" name="code-box"/>
          <p:cNvSpPr/>
          <p:nvPr/>
        </p:nvSpPr>
        <p:spPr>
          <a:xfrm>
            <a:off x="5852160" y="4251960"/>
            <a:ext cx="5760720" cy="1463040"/>
          </a:xfrm>
          <a:prstGeom prst="roundRect">
            <a:avLst>
              <a:gd name="adj" fmla="val 6250"/>
            </a:avLst>
          </a:prstGeom>
          <a:solidFill>
            <a:schemeClr val="tx1"/>
          </a:solidFill>
          <a:ln w="12700">
            <a:solidFill>
              <a:schemeClr val="tx1"/>
            </a:solidFill>
            <a:prstDash val="solid"/>
          </a:ln>
        </p:spPr>
        <p:txBody>
          <a:bodyPr/>
          <a:lstStyle/>
          <a:p>
            <a:endParaRPr lang="en-US"/>
          </a:p>
        </p:txBody>
      </p:sp>
      <p:sp>
        <p:nvSpPr>
          <p:cNvPr id="10" name="Text 8"/>
          <p:cNvSpPr txBox="1"/>
          <p:nvPr/>
        </p:nvSpPr>
        <p:spPr>
          <a:xfrm>
            <a:off x="6035040" y="4389120"/>
            <a:ext cx="5394960" cy="118872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SparsePauliOp(['IIIZZ', 'IIZIZ', 'ZIIIZ',</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'IIZZI', 'IZZII', 'ZZIII'],</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coeffs=[1.+0.j, 1.+0.j, 1.+0.j,</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1.+0.j, 1.+0.j, 1.+0.j])</a:t>
            </a:r>
            <a:endParaRPr lang="en-US" sz="1200" dirty="0"/>
          </a:p>
        </p:txBody>
      </p:sp>
      <p:sp>
        <p:nvSpPr>
          <p:cNvPr id="11" name="Text 9"/>
          <p:cNvSpPr txBox="1"/>
          <p:nvPr/>
        </p:nvSpPr>
        <p:spPr>
          <a:xfrm>
            <a:off x="5852160" y="5806440"/>
            <a:ext cx="5760720" cy="320040"/>
          </a:xfrm>
          <a:prstGeom prst="rect">
            <a:avLst/>
          </a:prstGeom>
          <a:noFill/>
          <a:ln/>
        </p:spPr>
        <p:txBody>
          <a:bodyPr wrap="square" lIns="0" tIns="0" rIns="0" bIns="0" rtlCol="0" anchor="t"/>
          <a:lstStyle/>
          <a:p>
            <a:pPr marL="0" indent="0">
              <a:buNone/>
            </a:pPr>
            <a:r>
              <a:rPr lang="en-US" sz="1200" dirty="0">
                <a:solidFill>
                  <a:srgbClr val="000000"/>
                </a:solidFill>
              </a:rPr>
              <a:t>Output printed by the notebook</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Step 2: Define the mixer Hamiltonian</a:t>
            </a:r>
            <a:endParaRPr lang="en-US" sz="3400" dirty="0"/>
          </a:p>
        </p:txBody>
      </p:sp>
      <p:sp>
        <p:nvSpPr>
          <p:cNvPr id="3" name="Text 1"/>
          <p:cNvSpPr txBox="1"/>
          <p:nvPr/>
        </p:nvSpPr>
        <p:spPr>
          <a:xfrm>
            <a:off x="548640" y="1554480"/>
            <a:ext cx="5760720" cy="4480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Standard choice: H_M = X₀ + X₁ + X₂ + X₃ + X₄</a:t>
            </a:r>
            <a:endParaRPr lang="en-US" sz="1700" dirty="0"/>
          </a:p>
          <a:p>
            <a:pPr marL="342900" indent="-342900">
              <a:spcAft>
                <a:spcPts val="800"/>
              </a:spcAft>
              <a:buSzPct val="100000"/>
              <a:buChar char="•"/>
            </a:pPr>
            <a:r>
              <a:rPr lang="en-US" sz="1700" dirty="0">
                <a:solidFill>
                  <a:schemeClr val="tx1"/>
                </a:solidFill>
              </a:rPr>
              <a:t>X flips a bit, so the mixer moves probability between candidate cuts</a:t>
            </a:r>
            <a:endParaRPr lang="en-US" sz="1700" dirty="0"/>
          </a:p>
          <a:p>
            <a:pPr marL="342900" indent="-342900">
              <a:spcAft>
                <a:spcPts val="800"/>
              </a:spcAft>
              <a:buSzPct val="100000"/>
              <a:buChar char="•"/>
            </a:pPr>
            <a:r>
              <a:rPr lang="en-US" sz="1700" dirty="0">
                <a:solidFill>
                  <a:schemeClr val="tx1"/>
                </a:solidFill>
              </a:rPr>
              <a:t>H_M does not commute with H_C: applying them in turn creates interference, which is what lets the algorithm explore</a:t>
            </a:r>
            <a:endParaRPr lang="en-US" sz="1700" dirty="0"/>
          </a:p>
          <a:p>
            <a:pPr marL="342900" indent="-342900">
              <a:spcAft>
                <a:spcPts val="800"/>
              </a:spcAft>
              <a:buSzPct val="100000"/>
              <a:buChar char="•"/>
            </a:pPr>
            <a:r>
              <a:rPr lang="en-US" sz="1700" dirty="0">
                <a:solidFill>
                  <a:schemeClr val="tx1"/>
                </a:solidFill>
              </a:rPr>
              <a:t>Applying it for angle β is e^(−iβH_M): one RX(2β) gate on each qubit</a:t>
            </a:r>
            <a:endParaRPr lang="en-US" sz="1700" dirty="0"/>
          </a:p>
          <a:p>
            <a:pPr marL="342900" indent="-342900">
              <a:spcAft>
                <a:spcPts val="800"/>
              </a:spcAft>
              <a:buSzPct val="100000"/>
              <a:buChar char="•"/>
            </a:pPr>
            <a:r>
              <a:rPr lang="en-US" sz="1700" dirty="0">
                <a:solidFill>
                  <a:schemeClr val="tx1"/>
                </a:solidFill>
              </a:rPr>
              <a:t>QAOAAnsatz uses this X mixer by default</a:t>
            </a:r>
            <a:endParaRPr lang="en-US" sz="1700" dirty="0"/>
          </a:p>
        </p:txBody>
      </p:sp>
      <p:sp>
        <p:nvSpPr>
          <p:cNvPr id="4" name="mixer-card"/>
          <p:cNvSpPr/>
          <p:nvPr/>
        </p:nvSpPr>
        <p:spPr>
          <a:xfrm>
            <a:off x="6675120" y="1463040"/>
            <a:ext cx="493776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858000" y="1600200"/>
            <a:ext cx="4572000" cy="365760"/>
          </a:xfrm>
          <a:prstGeom prst="rect">
            <a:avLst/>
          </a:prstGeom>
          <a:noFill/>
          <a:ln/>
        </p:spPr>
        <p:txBody>
          <a:bodyPr wrap="square" lIns="0" tIns="0" rIns="0" bIns="0" rtlCol="0" anchor="t"/>
          <a:lstStyle/>
          <a:p>
            <a:pPr marL="0" indent="0">
              <a:buNone/>
            </a:pPr>
            <a:r>
              <a:rPr lang="en-US" sz="1600" b="1" dirty="0">
                <a:solidFill>
                  <a:schemeClr val="tx1"/>
                </a:solidFill>
              </a:rPr>
              <a:t>Mixer layer e^(−iβH_M) on 5 qubits</a:t>
            </a:r>
            <a:endParaRPr lang="en-US" sz="1600" dirty="0"/>
          </a:p>
        </p:txBody>
      </p:sp>
      <p:sp>
        <p:nvSpPr>
          <p:cNvPr id="6" name="wire-0"/>
          <p:cNvSpPr/>
          <p:nvPr/>
        </p:nvSpPr>
        <p:spPr>
          <a:xfrm>
            <a:off x="7589520" y="2468880"/>
            <a:ext cx="3657600" cy="0"/>
          </a:xfrm>
          <a:prstGeom prst="line">
            <a:avLst/>
          </a:prstGeom>
          <a:noFill/>
          <a:ln w="19050">
            <a:solidFill>
              <a:schemeClr val="accent6"/>
            </a:solidFill>
            <a:prstDash val="solid"/>
          </a:ln>
        </p:spPr>
        <p:txBody>
          <a:bodyPr/>
          <a:lstStyle/>
          <a:p>
            <a:endParaRPr lang="en-US"/>
          </a:p>
        </p:txBody>
      </p:sp>
      <p:sp>
        <p:nvSpPr>
          <p:cNvPr id="7" name="Text 5"/>
          <p:cNvSpPr txBox="1"/>
          <p:nvPr/>
        </p:nvSpPr>
        <p:spPr>
          <a:xfrm>
            <a:off x="7086600" y="23317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q0</a:t>
            </a:r>
            <a:endParaRPr lang="en-US" sz="1200" dirty="0"/>
          </a:p>
        </p:txBody>
      </p:sp>
      <p:sp>
        <p:nvSpPr>
          <p:cNvPr id="8" name="wire-1"/>
          <p:cNvSpPr/>
          <p:nvPr/>
        </p:nvSpPr>
        <p:spPr>
          <a:xfrm>
            <a:off x="7589520" y="3154680"/>
            <a:ext cx="3657600" cy="0"/>
          </a:xfrm>
          <a:prstGeom prst="line">
            <a:avLst/>
          </a:prstGeom>
          <a:noFill/>
          <a:ln w="19050">
            <a:solidFill>
              <a:schemeClr val="accent6"/>
            </a:solidFill>
            <a:prstDash val="solid"/>
          </a:ln>
        </p:spPr>
        <p:txBody>
          <a:bodyPr/>
          <a:lstStyle/>
          <a:p>
            <a:endParaRPr lang="en-US"/>
          </a:p>
        </p:txBody>
      </p:sp>
      <p:sp>
        <p:nvSpPr>
          <p:cNvPr id="9" name="Text 7"/>
          <p:cNvSpPr txBox="1"/>
          <p:nvPr/>
        </p:nvSpPr>
        <p:spPr>
          <a:xfrm>
            <a:off x="7086600" y="30175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q1</a:t>
            </a:r>
            <a:endParaRPr lang="en-US" sz="1200" dirty="0"/>
          </a:p>
        </p:txBody>
      </p:sp>
      <p:sp>
        <p:nvSpPr>
          <p:cNvPr id="10" name="wire-2"/>
          <p:cNvSpPr/>
          <p:nvPr/>
        </p:nvSpPr>
        <p:spPr>
          <a:xfrm>
            <a:off x="7589520" y="3840480"/>
            <a:ext cx="3657600" cy="0"/>
          </a:xfrm>
          <a:prstGeom prst="line">
            <a:avLst/>
          </a:prstGeom>
          <a:noFill/>
          <a:ln w="19050">
            <a:solidFill>
              <a:schemeClr val="accent6"/>
            </a:solidFill>
            <a:prstDash val="solid"/>
          </a:ln>
        </p:spPr>
        <p:txBody>
          <a:bodyPr/>
          <a:lstStyle/>
          <a:p>
            <a:endParaRPr lang="en-US"/>
          </a:p>
        </p:txBody>
      </p:sp>
      <p:sp>
        <p:nvSpPr>
          <p:cNvPr id="11" name="Text 9"/>
          <p:cNvSpPr txBox="1"/>
          <p:nvPr/>
        </p:nvSpPr>
        <p:spPr>
          <a:xfrm>
            <a:off x="7086600" y="37033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q2</a:t>
            </a:r>
            <a:endParaRPr lang="en-US" sz="1200" dirty="0"/>
          </a:p>
        </p:txBody>
      </p:sp>
      <p:sp>
        <p:nvSpPr>
          <p:cNvPr id="12" name="wire-3"/>
          <p:cNvSpPr/>
          <p:nvPr/>
        </p:nvSpPr>
        <p:spPr>
          <a:xfrm>
            <a:off x="7589520" y="4526280"/>
            <a:ext cx="3657600" cy="0"/>
          </a:xfrm>
          <a:prstGeom prst="line">
            <a:avLst/>
          </a:prstGeom>
          <a:noFill/>
          <a:ln w="19050">
            <a:solidFill>
              <a:schemeClr val="accent6"/>
            </a:solidFill>
            <a:prstDash val="solid"/>
          </a:ln>
        </p:spPr>
        <p:txBody>
          <a:bodyPr/>
          <a:lstStyle/>
          <a:p>
            <a:endParaRPr lang="en-US"/>
          </a:p>
        </p:txBody>
      </p:sp>
      <p:sp>
        <p:nvSpPr>
          <p:cNvPr id="13" name="Text 11"/>
          <p:cNvSpPr txBox="1"/>
          <p:nvPr/>
        </p:nvSpPr>
        <p:spPr>
          <a:xfrm>
            <a:off x="7086600" y="43891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q3</a:t>
            </a:r>
            <a:endParaRPr lang="en-US" sz="1200" dirty="0"/>
          </a:p>
        </p:txBody>
      </p:sp>
      <p:sp>
        <p:nvSpPr>
          <p:cNvPr id="14" name="wire-4"/>
          <p:cNvSpPr/>
          <p:nvPr/>
        </p:nvSpPr>
        <p:spPr>
          <a:xfrm>
            <a:off x="7589520" y="5212080"/>
            <a:ext cx="3657600" cy="0"/>
          </a:xfrm>
          <a:prstGeom prst="line">
            <a:avLst/>
          </a:prstGeom>
          <a:noFill/>
          <a:ln w="19050">
            <a:solidFill>
              <a:schemeClr val="accent6"/>
            </a:solidFill>
            <a:prstDash val="solid"/>
          </a:ln>
        </p:spPr>
        <p:txBody>
          <a:bodyPr/>
          <a:lstStyle/>
          <a:p>
            <a:endParaRPr lang="en-US"/>
          </a:p>
        </p:txBody>
      </p:sp>
      <p:sp>
        <p:nvSpPr>
          <p:cNvPr id="15" name="Text 13"/>
          <p:cNvSpPr txBox="1"/>
          <p:nvPr/>
        </p:nvSpPr>
        <p:spPr>
          <a:xfrm>
            <a:off x="7086600" y="50749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q4</a:t>
            </a:r>
            <a:endParaRPr lang="en-US" sz="1200" dirty="0"/>
          </a:p>
        </p:txBody>
      </p:sp>
      <p:sp>
        <p:nvSpPr>
          <p:cNvPr id="16" name="Text 14"/>
          <p:cNvSpPr/>
          <p:nvPr/>
        </p:nvSpPr>
        <p:spPr>
          <a:xfrm>
            <a:off x="8778240" y="2221992"/>
            <a:ext cx="1371600" cy="493776"/>
          </a:xfrm>
          <a:prstGeom prst="roundRect">
            <a:avLst>
              <a:gd name="adj" fmla="val 11111"/>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tx1"/>
                </a:solidFill>
              </a:rPr>
              <a:t>RX(2β)</a:t>
            </a:r>
            <a:endParaRPr lang="en-US" sz="1300" dirty="0"/>
          </a:p>
        </p:txBody>
      </p:sp>
      <p:sp>
        <p:nvSpPr>
          <p:cNvPr id="17" name="Text 15"/>
          <p:cNvSpPr/>
          <p:nvPr/>
        </p:nvSpPr>
        <p:spPr>
          <a:xfrm>
            <a:off x="8778240" y="2907792"/>
            <a:ext cx="1371600" cy="493776"/>
          </a:xfrm>
          <a:prstGeom prst="roundRect">
            <a:avLst>
              <a:gd name="adj" fmla="val 11111"/>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tx1"/>
                </a:solidFill>
              </a:rPr>
              <a:t>RX(2β)</a:t>
            </a:r>
            <a:endParaRPr lang="en-US" sz="1300" dirty="0"/>
          </a:p>
        </p:txBody>
      </p:sp>
      <p:sp>
        <p:nvSpPr>
          <p:cNvPr id="18" name="Text 16"/>
          <p:cNvSpPr/>
          <p:nvPr/>
        </p:nvSpPr>
        <p:spPr>
          <a:xfrm>
            <a:off x="8778240" y="3593592"/>
            <a:ext cx="1371600" cy="493776"/>
          </a:xfrm>
          <a:prstGeom prst="roundRect">
            <a:avLst>
              <a:gd name="adj" fmla="val 11111"/>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tx1"/>
                </a:solidFill>
              </a:rPr>
              <a:t>RX(2β)</a:t>
            </a:r>
            <a:endParaRPr lang="en-US" sz="1300" dirty="0"/>
          </a:p>
        </p:txBody>
      </p:sp>
      <p:sp>
        <p:nvSpPr>
          <p:cNvPr id="19" name="Text 17"/>
          <p:cNvSpPr/>
          <p:nvPr/>
        </p:nvSpPr>
        <p:spPr>
          <a:xfrm>
            <a:off x="8778240" y="4279392"/>
            <a:ext cx="1371600" cy="493776"/>
          </a:xfrm>
          <a:prstGeom prst="roundRect">
            <a:avLst>
              <a:gd name="adj" fmla="val 11111"/>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tx1"/>
                </a:solidFill>
              </a:rPr>
              <a:t>RX(2β)</a:t>
            </a:r>
            <a:endParaRPr lang="en-US" sz="1300" dirty="0"/>
          </a:p>
        </p:txBody>
      </p:sp>
      <p:sp>
        <p:nvSpPr>
          <p:cNvPr id="20" name="Text 18"/>
          <p:cNvSpPr/>
          <p:nvPr/>
        </p:nvSpPr>
        <p:spPr>
          <a:xfrm>
            <a:off x="8778240" y="4965192"/>
            <a:ext cx="1371600" cy="493776"/>
          </a:xfrm>
          <a:prstGeom prst="roundRect">
            <a:avLst>
              <a:gd name="adj" fmla="val 11111"/>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tx1"/>
                </a:solidFill>
              </a:rPr>
              <a:t>RX(2β)</a:t>
            </a:r>
            <a:endParaRPr lang="en-US" sz="1300" dirty="0"/>
          </a:p>
        </p:txBody>
      </p:sp>
      <p:sp>
        <p:nvSpPr>
          <p:cNvPr id="21" name="Text 19"/>
          <p:cNvSpPr txBox="1"/>
          <p:nvPr/>
        </p:nvSpPr>
        <p:spPr>
          <a:xfrm>
            <a:off x="6858000" y="5577840"/>
            <a:ext cx="4572000" cy="365760"/>
          </a:xfrm>
          <a:prstGeom prst="rect">
            <a:avLst/>
          </a:prstGeom>
          <a:noFill/>
          <a:ln/>
        </p:spPr>
        <p:txBody>
          <a:bodyPr wrap="square" lIns="0" tIns="0" rIns="0" bIns="0" rtlCol="0" anchor="t"/>
          <a:lstStyle/>
          <a:p>
            <a:pPr marL="0" indent="0" algn="ctr">
              <a:buNone/>
            </a:pPr>
            <a:r>
              <a:rPr lang="en-US" sz="1400" dirty="0">
                <a:solidFill>
                  <a:schemeClr val="tx1"/>
                </a:solidFill>
              </a:rPr>
              <a:t>Five independent single-qubit rotations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Step 3: Prepare the initial state</a:t>
            </a:r>
            <a:endParaRPr lang="en-US" sz="3400" dirty="0"/>
          </a:p>
        </p:txBody>
      </p:sp>
      <p:sp>
        <p:nvSpPr>
          <p:cNvPr id="3" name="Text 1"/>
          <p:cNvSpPr txBox="1"/>
          <p:nvPr/>
        </p:nvSpPr>
        <p:spPr>
          <a:xfrm>
            <a:off x="548640" y="1554480"/>
            <a:ext cx="5760720" cy="4480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All qubits start in |0⟩; apply a Hadamard (H) to each</a:t>
            </a:r>
            <a:endParaRPr lang="en-US" sz="1700" dirty="0"/>
          </a:p>
          <a:p>
            <a:pPr marL="342900" indent="-342900">
              <a:spcAft>
                <a:spcPts val="800"/>
              </a:spcAft>
              <a:buSzPct val="100000"/>
              <a:buChar char="•"/>
            </a:pPr>
            <a:r>
              <a:rPr lang="en-US" sz="1700" dirty="0">
                <a:solidFill>
                  <a:schemeClr val="tx1"/>
                </a:solidFill>
              </a:rPr>
              <a:t>H|0⟩ = |+⟩ = (|0⟩ + |1⟩) / √2</a:t>
            </a:r>
            <a:endParaRPr lang="en-US" sz="1700" dirty="0"/>
          </a:p>
          <a:p>
            <a:pPr marL="342900" indent="-342900">
              <a:spcAft>
                <a:spcPts val="800"/>
              </a:spcAft>
              <a:buSzPct val="100000"/>
              <a:buChar char="•"/>
            </a:pPr>
            <a:r>
              <a:rPr lang="en-US" sz="1700" dirty="0">
                <a:solidFill>
                  <a:schemeClr val="tx1"/>
                </a:solidFill>
              </a:rPr>
              <a:t>Together: |+⟩⊗⁵, an equal superposition of all 32 bitstrings, each with probability 1/32 ≈ 3.1%</a:t>
            </a:r>
            <a:endParaRPr lang="en-US" sz="1700" dirty="0"/>
          </a:p>
          <a:p>
            <a:pPr marL="342900" indent="-342900">
              <a:spcAft>
                <a:spcPts val="800"/>
              </a:spcAft>
              <a:buSzPct val="100000"/>
              <a:buChar char="•"/>
            </a:pPr>
            <a:r>
              <a:rPr lang="en-US" sz="1700" dirty="0">
                <a:solidFill>
                  <a:schemeClr val="tx1"/>
                </a:solidFill>
              </a:rPr>
              <a:t>An unbiased start: no cut is preferred yet, average cut = 3</a:t>
            </a:r>
            <a:endParaRPr lang="en-US" sz="1700" dirty="0"/>
          </a:p>
          <a:p>
            <a:pPr marL="342900" indent="-342900">
              <a:spcAft>
                <a:spcPts val="800"/>
              </a:spcAft>
              <a:buSzPct val="100000"/>
              <a:buChar char="•"/>
            </a:pPr>
            <a:r>
              <a:rPr lang="en-US" sz="1700" dirty="0">
                <a:solidFill>
                  <a:schemeClr val="tx1"/>
                </a:solidFill>
              </a:rPr>
              <a:t>This state is the ground state of −H_M, which is why it pairs with the mixer</a:t>
            </a:r>
            <a:endParaRPr lang="en-US" sz="1700" dirty="0"/>
          </a:p>
        </p:txBody>
      </p:sp>
      <p:sp>
        <p:nvSpPr>
          <p:cNvPr id="4" name="init-card"/>
          <p:cNvSpPr/>
          <p:nvPr/>
        </p:nvSpPr>
        <p:spPr>
          <a:xfrm>
            <a:off x="6675120" y="1463040"/>
            <a:ext cx="493776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858000" y="1600200"/>
            <a:ext cx="4572000" cy="365760"/>
          </a:xfrm>
          <a:prstGeom prst="rect">
            <a:avLst/>
          </a:prstGeom>
          <a:noFill/>
          <a:ln/>
        </p:spPr>
        <p:txBody>
          <a:bodyPr wrap="square" lIns="0" tIns="0" rIns="0" bIns="0" rtlCol="0" anchor="t"/>
          <a:lstStyle/>
          <a:p>
            <a:pPr marL="0" indent="0">
              <a:buNone/>
            </a:pPr>
            <a:r>
              <a:rPr lang="en-US" sz="1600" b="1" dirty="0">
                <a:solidFill>
                  <a:schemeClr val="tx1"/>
                </a:solidFill>
              </a:rPr>
              <a:t>Initial state circuit</a:t>
            </a:r>
            <a:endParaRPr lang="en-US" sz="1600" dirty="0"/>
          </a:p>
        </p:txBody>
      </p:sp>
      <p:sp>
        <p:nvSpPr>
          <p:cNvPr id="6" name="wire-0"/>
          <p:cNvSpPr/>
          <p:nvPr/>
        </p:nvSpPr>
        <p:spPr>
          <a:xfrm>
            <a:off x="7589520" y="2468880"/>
            <a:ext cx="3657600" cy="0"/>
          </a:xfrm>
          <a:prstGeom prst="line">
            <a:avLst/>
          </a:prstGeom>
          <a:noFill/>
          <a:ln w="19050">
            <a:solidFill>
              <a:schemeClr val="accent6"/>
            </a:solidFill>
            <a:prstDash val="solid"/>
          </a:ln>
        </p:spPr>
        <p:txBody>
          <a:bodyPr/>
          <a:lstStyle/>
          <a:p>
            <a:endParaRPr lang="en-US"/>
          </a:p>
        </p:txBody>
      </p:sp>
      <p:sp>
        <p:nvSpPr>
          <p:cNvPr id="7" name="Text 5"/>
          <p:cNvSpPr txBox="1"/>
          <p:nvPr/>
        </p:nvSpPr>
        <p:spPr>
          <a:xfrm>
            <a:off x="7086600" y="23317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q0</a:t>
            </a:r>
            <a:endParaRPr lang="en-US" sz="1200" dirty="0"/>
          </a:p>
        </p:txBody>
      </p:sp>
      <p:sp>
        <p:nvSpPr>
          <p:cNvPr id="8" name="wire-1"/>
          <p:cNvSpPr/>
          <p:nvPr/>
        </p:nvSpPr>
        <p:spPr>
          <a:xfrm>
            <a:off x="7589520" y="3154680"/>
            <a:ext cx="3657600" cy="0"/>
          </a:xfrm>
          <a:prstGeom prst="line">
            <a:avLst/>
          </a:prstGeom>
          <a:noFill/>
          <a:ln w="19050">
            <a:solidFill>
              <a:schemeClr val="accent6"/>
            </a:solidFill>
            <a:prstDash val="solid"/>
          </a:ln>
        </p:spPr>
        <p:txBody>
          <a:bodyPr/>
          <a:lstStyle/>
          <a:p>
            <a:endParaRPr lang="en-US"/>
          </a:p>
        </p:txBody>
      </p:sp>
      <p:sp>
        <p:nvSpPr>
          <p:cNvPr id="9" name="Text 7"/>
          <p:cNvSpPr txBox="1"/>
          <p:nvPr/>
        </p:nvSpPr>
        <p:spPr>
          <a:xfrm>
            <a:off x="7086600" y="30175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q1</a:t>
            </a:r>
            <a:endParaRPr lang="en-US" sz="1200" dirty="0"/>
          </a:p>
        </p:txBody>
      </p:sp>
      <p:sp>
        <p:nvSpPr>
          <p:cNvPr id="10" name="wire-2"/>
          <p:cNvSpPr/>
          <p:nvPr/>
        </p:nvSpPr>
        <p:spPr>
          <a:xfrm>
            <a:off x="7589520" y="3840480"/>
            <a:ext cx="3657600" cy="0"/>
          </a:xfrm>
          <a:prstGeom prst="line">
            <a:avLst/>
          </a:prstGeom>
          <a:noFill/>
          <a:ln w="19050">
            <a:solidFill>
              <a:schemeClr val="accent6"/>
            </a:solidFill>
            <a:prstDash val="solid"/>
          </a:ln>
        </p:spPr>
        <p:txBody>
          <a:bodyPr/>
          <a:lstStyle/>
          <a:p>
            <a:endParaRPr lang="en-US"/>
          </a:p>
        </p:txBody>
      </p:sp>
      <p:sp>
        <p:nvSpPr>
          <p:cNvPr id="11" name="Text 9"/>
          <p:cNvSpPr txBox="1"/>
          <p:nvPr/>
        </p:nvSpPr>
        <p:spPr>
          <a:xfrm>
            <a:off x="7086600" y="37033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q2</a:t>
            </a:r>
            <a:endParaRPr lang="en-US" sz="1200" dirty="0"/>
          </a:p>
        </p:txBody>
      </p:sp>
      <p:sp>
        <p:nvSpPr>
          <p:cNvPr id="12" name="wire-3"/>
          <p:cNvSpPr/>
          <p:nvPr/>
        </p:nvSpPr>
        <p:spPr>
          <a:xfrm>
            <a:off x="7589520" y="4526280"/>
            <a:ext cx="3657600" cy="0"/>
          </a:xfrm>
          <a:prstGeom prst="line">
            <a:avLst/>
          </a:prstGeom>
          <a:noFill/>
          <a:ln w="19050">
            <a:solidFill>
              <a:schemeClr val="accent6"/>
            </a:solidFill>
            <a:prstDash val="solid"/>
          </a:ln>
        </p:spPr>
        <p:txBody>
          <a:bodyPr/>
          <a:lstStyle/>
          <a:p>
            <a:endParaRPr lang="en-US"/>
          </a:p>
        </p:txBody>
      </p:sp>
      <p:sp>
        <p:nvSpPr>
          <p:cNvPr id="13" name="Text 11"/>
          <p:cNvSpPr txBox="1"/>
          <p:nvPr/>
        </p:nvSpPr>
        <p:spPr>
          <a:xfrm>
            <a:off x="7086600" y="43891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q3</a:t>
            </a:r>
            <a:endParaRPr lang="en-US" sz="1200" dirty="0"/>
          </a:p>
        </p:txBody>
      </p:sp>
      <p:sp>
        <p:nvSpPr>
          <p:cNvPr id="14" name="wire-4"/>
          <p:cNvSpPr/>
          <p:nvPr/>
        </p:nvSpPr>
        <p:spPr>
          <a:xfrm>
            <a:off x="7589520" y="5212080"/>
            <a:ext cx="3657600" cy="0"/>
          </a:xfrm>
          <a:prstGeom prst="line">
            <a:avLst/>
          </a:prstGeom>
          <a:noFill/>
          <a:ln w="19050">
            <a:solidFill>
              <a:schemeClr val="accent6"/>
            </a:solidFill>
            <a:prstDash val="solid"/>
          </a:ln>
        </p:spPr>
        <p:txBody>
          <a:bodyPr/>
          <a:lstStyle/>
          <a:p>
            <a:endParaRPr lang="en-US"/>
          </a:p>
        </p:txBody>
      </p:sp>
      <p:sp>
        <p:nvSpPr>
          <p:cNvPr id="15" name="Text 13"/>
          <p:cNvSpPr txBox="1"/>
          <p:nvPr/>
        </p:nvSpPr>
        <p:spPr>
          <a:xfrm>
            <a:off x="7086600" y="50749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q4</a:t>
            </a:r>
            <a:endParaRPr lang="en-US" sz="1200" dirty="0"/>
          </a:p>
        </p:txBody>
      </p:sp>
      <p:sp>
        <p:nvSpPr>
          <p:cNvPr id="16" name="Text 14"/>
          <p:cNvSpPr/>
          <p:nvPr/>
        </p:nvSpPr>
        <p:spPr>
          <a:xfrm>
            <a:off x="8046720" y="2221992"/>
            <a:ext cx="548640" cy="493776"/>
          </a:xfrm>
          <a:prstGeom prst="roundRect">
            <a:avLst>
              <a:gd name="adj" fmla="val 11111"/>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17" name="Text 15"/>
          <p:cNvSpPr/>
          <p:nvPr/>
        </p:nvSpPr>
        <p:spPr>
          <a:xfrm>
            <a:off x="8046720" y="2907792"/>
            <a:ext cx="548640" cy="493776"/>
          </a:xfrm>
          <a:prstGeom prst="roundRect">
            <a:avLst>
              <a:gd name="adj" fmla="val 11111"/>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18" name="Text 16"/>
          <p:cNvSpPr/>
          <p:nvPr/>
        </p:nvSpPr>
        <p:spPr>
          <a:xfrm>
            <a:off x="8046720" y="3593592"/>
            <a:ext cx="548640" cy="493776"/>
          </a:xfrm>
          <a:prstGeom prst="roundRect">
            <a:avLst>
              <a:gd name="adj" fmla="val 11111"/>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19" name="Text 17"/>
          <p:cNvSpPr/>
          <p:nvPr/>
        </p:nvSpPr>
        <p:spPr>
          <a:xfrm>
            <a:off x="8046720" y="4279392"/>
            <a:ext cx="548640" cy="493776"/>
          </a:xfrm>
          <a:prstGeom prst="roundRect">
            <a:avLst>
              <a:gd name="adj" fmla="val 11111"/>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20" name="Text 18"/>
          <p:cNvSpPr/>
          <p:nvPr/>
        </p:nvSpPr>
        <p:spPr>
          <a:xfrm>
            <a:off x="8046720" y="4965192"/>
            <a:ext cx="548640" cy="493776"/>
          </a:xfrm>
          <a:prstGeom prst="roundRect">
            <a:avLst>
              <a:gd name="adj" fmla="val 11111"/>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21" name="Text 19"/>
          <p:cNvSpPr txBox="1"/>
          <p:nvPr/>
        </p:nvSpPr>
        <p:spPr>
          <a:xfrm>
            <a:off x="9144000" y="3566160"/>
            <a:ext cx="1463040" cy="640080"/>
          </a:xfrm>
          <a:prstGeom prst="rect">
            <a:avLst/>
          </a:prstGeom>
          <a:solidFill>
            <a:schemeClr val="bg2"/>
          </a:solidFill>
          <a:ln/>
        </p:spPr>
        <p:txBody>
          <a:bodyPr wrap="square" lIns="0" tIns="0" rIns="0" bIns="0" rtlCol="0" anchor="ctr"/>
          <a:lstStyle/>
          <a:p>
            <a:pPr marL="0" indent="0" algn="ctr">
              <a:buNone/>
            </a:pPr>
            <a:r>
              <a:rPr lang="en-US" sz="2600" b="1" dirty="0">
                <a:solidFill>
                  <a:schemeClr val="accent3"/>
                </a:solidFill>
              </a:rPr>
              <a:t>|+⟩⊗⁵</a:t>
            </a:r>
            <a:endParaRPr lang="en-US" sz="2600" dirty="0"/>
          </a:p>
        </p:txBody>
      </p:sp>
      <p:sp>
        <p:nvSpPr>
          <p:cNvPr id="22" name="Text 20"/>
          <p:cNvSpPr txBox="1"/>
          <p:nvPr/>
        </p:nvSpPr>
        <p:spPr>
          <a:xfrm>
            <a:off x="6858000" y="5577840"/>
            <a:ext cx="4572000" cy="365760"/>
          </a:xfrm>
          <a:prstGeom prst="rect">
            <a:avLst/>
          </a:prstGeom>
          <a:noFill/>
          <a:ln/>
        </p:spPr>
        <p:txBody>
          <a:bodyPr wrap="square" lIns="0" tIns="0" rIns="0" bIns="0" rtlCol="0" anchor="t"/>
          <a:lstStyle/>
          <a:p>
            <a:pPr marL="0" indent="0" algn="ctr">
              <a:buNone/>
            </a:pPr>
            <a:r>
              <a:rPr lang="en-US" sz="1400" dirty="0">
                <a:solidFill>
                  <a:schemeClr val="tx1"/>
                </a:solidFill>
              </a:rPr>
              <a:t>Uniform over 32 bitstrings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Step 4: Build the alternating ansatz</a:t>
            </a:r>
            <a:endParaRPr lang="en-US" sz="3400" dirty="0"/>
          </a:p>
        </p:txBody>
      </p:sp>
      <p:sp>
        <p:nvSpPr>
          <p:cNvPr id="3" name="ansatz-card"/>
          <p:cNvSpPr/>
          <p:nvPr/>
        </p:nvSpPr>
        <p:spPr>
          <a:xfrm>
            <a:off x="548640" y="1417320"/>
            <a:ext cx="11064240" cy="2651760"/>
          </a:xfrm>
          <a:prstGeom prst="roundRect">
            <a:avLst>
              <a:gd name="adj" fmla="val 4138"/>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508760"/>
            <a:ext cx="10607040" cy="640080"/>
          </a:xfrm>
          <a:prstGeom prst="rect">
            <a:avLst/>
          </a:prstGeom>
          <a:noFill/>
          <a:ln/>
        </p:spPr>
        <p:txBody>
          <a:bodyPr wrap="square" lIns="0" tIns="0" rIns="0" bIns="0" rtlCol="0" anchor="ctr"/>
          <a:lstStyle/>
          <a:p>
            <a:pPr marL="0" indent="0">
              <a:buNone/>
            </a:pPr>
            <a:r>
              <a:rPr lang="en-US" sz="2100" b="1" dirty="0">
                <a:solidFill>
                  <a:schemeClr val="tx1"/>
                </a:solidFill>
              </a:rPr>
              <a:t>|ψ(β, γ)⟩ = e^(−iβ_p H_M) e^(−iγ_p H_C) … e^(−iβ₁H_M) e^(−iγ₁H_C) |+⟩⊗ⁿ</a:t>
            </a:r>
            <a:endParaRPr lang="en-US" sz="2100" dirty="0"/>
          </a:p>
        </p:txBody>
      </p:sp>
      <p:sp>
        <p:nvSpPr>
          <p:cNvPr id="5" name="wire-0"/>
          <p:cNvSpPr/>
          <p:nvPr/>
        </p:nvSpPr>
        <p:spPr>
          <a:xfrm>
            <a:off x="1554480" y="2514600"/>
            <a:ext cx="9418320" cy="0"/>
          </a:xfrm>
          <a:prstGeom prst="line">
            <a:avLst/>
          </a:prstGeom>
          <a:noFill/>
          <a:ln w="19050">
            <a:solidFill>
              <a:schemeClr val="accent6"/>
            </a:solidFill>
            <a:prstDash val="solid"/>
          </a:ln>
        </p:spPr>
        <p:txBody>
          <a:bodyPr/>
          <a:lstStyle/>
          <a:p>
            <a:endParaRPr lang="en-US"/>
          </a:p>
        </p:txBody>
      </p:sp>
      <p:sp>
        <p:nvSpPr>
          <p:cNvPr id="6" name="Text 4"/>
          <p:cNvSpPr txBox="1"/>
          <p:nvPr/>
        </p:nvSpPr>
        <p:spPr>
          <a:xfrm>
            <a:off x="1051560" y="237744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q0</a:t>
            </a:r>
            <a:endParaRPr lang="en-US" sz="1200" dirty="0"/>
          </a:p>
        </p:txBody>
      </p:sp>
      <p:sp>
        <p:nvSpPr>
          <p:cNvPr id="7" name="wire-1"/>
          <p:cNvSpPr/>
          <p:nvPr/>
        </p:nvSpPr>
        <p:spPr>
          <a:xfrm>
            <a:off x="1554480" y="2862072"/>
            <a:ext cx="9418320" cy="0"/>
          </a:xfrm>
          <a:prstGeom prst="line">
            <a:avLst/>
          </a:prstGeom>
          <a:noFill/>
          <a:ln w="19050">
            <a:solidFill>
              <a:schemeClr val="accent6"/>
            </a:solidFill>
            <a:prstDash val="solid"/>
          </a:ln>
        </p:spPr>
        <p:txBody>
          <a:bodyPr/>
          <a:lstStyle/>
          <a:p>
            <a:endParaRPr lang="en-US"/>
          </a:p>
        </p:txBody>
      </p:sp>
      <p:sp>
        <p:nvSpPr>
          <p:cNvPr id="8" name="Text 6"/>
          <p:cNvSpPr txBox="1"/>
          <p:nvPr/>
        </p:nvSpPr>
        <p:spPr>
          <a:xfrm>
            <a:off x="1051560" y="2724912"/>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q1</a:t>
            </a:r>
            <a:endParaRPr lang="en-US" sz="1200" dirty="0"/>
          </a:p>
        </p:txBody>
      </p:sp>
      <p:sp>
        <p:nvSpPr>
          <p:cNvPr id="9" name="wire-2"/>
          <p:cNvSpPr/>
          <p:nvPr/>
        </p:nvSpPr>
        <p:spPr>
          <a:xfrm>
            <a:off x="1554480" y="3209544"/>
            <a:ext cx="9418320" cy="0"/>
          </a:xfrm>
          <a:prstGeom prst="line">
            <a:avLst/>
          </a:prstGeom>
          <a:noFill/>
          <a:ln w="19050">
            <a:solidFill>
              <a:schemeClr val="accent6"/>
            </a:solidFill>
            <a:prstDash val="solid"/>
          </a:ln>
        </p:spPr>
        <p:txBody>
          <a:bodyPr/>
          <a:lstStyle/>
          <a:p>
            <a:endParaRPr lang="en-US"/>
          </a:p>
        </p:txBody>
      </p:sp>
      <p:sp>
        <p:nvSpPr>
          <p:cNvPr id="10" name="Text 8"/>
          <p:cNvSpPr txBox="1"/>
          <p:nvPr/>
        </p:nvSpPr>
        <p:spPr>
          <a:xfrm>
            <a:off x="1051560" y="3072384"/>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q2</a:t>
            </a:r>
            <a:endParaRPr lang="en-US" sz="1200" dirty="0"/>
          </a:p>
        </p:txBody>
      </p:sp>
      <p:sp>
        <p:nvSpPr>
          <p:cNvPr id="11" name="wire-3"/>
          <p:cNvSpPr/>
          <p:nvPr/>
        </p:nvSpPr>
        <p:spPr>
          <a:xfrm>
            <a:off x="1554480" y="3557016"/>
            <a:ext cx="9418320" cy="0"/>
          </a:xfrm>
          <a:prstGeom prst="line">
            <a:avLst/>
          </a:prstGeom>
          <a:noFill/>
          <a:ln w="19050">
            <a:solidFill>
              <a:schemeClr val="accent6"/>
            </a:solidFill>
            <a:prstDash val="solid"/>
          </a:ln>
        </p:spPr>
        <p:txBody>
          <a:bodyPr/>
          <a:lstStyle/>
          <a:p>
            <a:endParaRPr lang="en-US"/>
          </a:p>
        </p:txBody>
      </p:sp>
      <p:sp>
        <p:nvSpPr>
          <p:cNvPr id="12" name="Text 10"/>
          <p:cNvSpPr txBox="1"/>
          <p:nvPr/>
        </p:nvSpPr>
        <p:spPr>
          <a:xfrm>
            <a:off x="1051560" y="3419856"/>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q3</a:t>
            </a:r>
            <a:endParaRPr lang="en-US" sz="1200" dirty="0"/>
          </a:p>
        </p:txBody>
      </p:sp>
      <p:sp>
        <p:nvSpPr>
          <p:cNvPr id="13" name="Text 11"/>
          <p:cNvSpPr/>
          <p:nvPr/>
        </p:nvSpPr>
        <p:spPr>
          <a:xfrm>
            <a:off x="1828800" y="2423160"/>
            <a:ext cx="502920" cy="1170432"/>
          </a:xfrm>
          <a:prstGeom prst="roundRect">
            <a:avLst>
              <a:gd name="adj" fmla="val 10909"/>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14" name="Text 12"/>
          <p:cNvSpPr/>
          <p:nvPr/>
        </p:nvSpPr>
        <p:spPr>
          <a:xfrm>
            <a:off x="2743200" y="2423160"/>
            <a:ext cx="2103120" cy="1170432"/>
          </a:xfrm>
          <a:prstGeom prst="roundRect">
            <a:avLst>
              <a:gd name="adj" fmla="val 4688"/>
            </a:avLst>
          </a:prstGeom>
          <a:solidFill>
            <a:schemeClr val="accent3"/>
          </a:solidFill>
          <a:ln>
            <a:solidFill>
              <a:schemeClr val="accent3"/>
            </a:solidFill>
          </a:ln>
        </p:spPr>
        <p:txBody>
          <a:bodyPr wrap="square" lIns="0" tIns="0" rIns="0" bIns="0" rtlCol="0" anchor="ctr"/>
          <a:lstStyle/>
          <a:p>
            <a:pPr marL="0" indent="0" algn="ctr">
              <a:buNone/>
            </a:pPr>
            <a:r>
              <a:rPr lang="en-US" sz="1400" b="1" dirty="0">
                <a:solidFill>
                  <a:schemeClr val="bg1"/>
                </a:solidFill>
              </a:rPr>
              <a:t>Cost  e^(−iγ₁H_C)</a:t>
            </a:r>
            <a:endParaRPr lang="en-US" sz="1400" dirty="0"/>
          </a:p>
        </p:txBody>
      </p:sp>
      <p:sp>
        <p:nvSpPr>
          <p:cNvPr id="15" name="Text 13"/>
          <p:cNvSpPr/>
          <p:nvPr/>
        </p:nvSpPr>
        <p:spPr>
          <a:xfrm>
            <a:off x="5074920" y="2423160"/>
            <a:ext cx="2103120" cy="1170432"/>
          </a:xfrm>
          <a:prstGeom prst="roundRect">
            <a:avLst>
              <a:gd name="adj" fmla="val 4688"/>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tx1"/>
                </a:solidFill>
              </a:rPr>
              <a:t>Mixer  e^(−iβ₁H_M)</a:t>
            </a:r>
            <a:endParaRPr lang="en-US" sz="1400" dirty="0"/>
          </a:p>
        </p:txBody>
      </p:sp>
      <p:sp>
        <p:nvSpPr>
          <p:cNvPr id="16" name="Text 14"/>
          <p:cNvSpPr txBox="1"/>
          <p:nvPr/>
        </p:nvSpPr>
        <p:spPr>
          <a:xfrm>
            <a:off x="7315200" y="2423160"/>
            <a:ext cx="548640" cy="1170432"/>
          </a:xfrm>
          <a:prstGeom prst="rect">
            <a:avLst/>
          </a:prstGeom>
          <a:noFill/>
          <a:ln/>
        </p:spPr>
        <p:txBody>
          <a:bodyPr wrap="square" lIns="0" tIns="0" rIns="0" bIns="0" rtlCol="0" anchor="ctr"/>
          <a:lstStyle/>
          <a:p>
            <a:pPr marL="0" indent="0" algn="ctr">
              <a:buNone/>
            </a:pPr>
            <a:r>
              <a:rPr lang="en-US" sz="2800" b="1" dirty="0">
                <a:solidFill>
                  <a:schemeClr val="tx1"/>
                </a:solidFill>
              </a:rPr>
              <a:t>…</a:t>
            </a:r>
            <a:endParaRPr lang="en-US" sz="2800" dirty="0"/>
          </a:p>
        </p:txBody>
      </p:sp>
      <p:sp>
        <p:nvSpPr>
          <p:cNvPr id="17" name="Text 15"/>
          <p:cNvSpPr/>
          <p:nvPr/>
        </p:nvSpPr>
        <p:spPr>
          <a:xfrm>
            <a:off x="7955280" y="2423160"/>
            <a:ext cx="1371600" cy="1170432"/>
          </a:xfrm>
          <a:prstGeom prst="roundRect">
            <a:avLst>
              <a:gd name="adj" fmla="val 4688"/>
            </a:avLst>
          </a:prstGeom>
          <a:solidFill>
            <a:schemeClr val="accent3"/>
          </a:solidFill>
          <a:ln>
            <a:solidFill>
              <a:schemeClr val="accent3"/>
            </a:solidFill>
          </a:ln>
        </p:spPr>
        <p:txBody>
          <a:bodyPr wrap="square" lIns="0" tIns="0" rIns="0" bIns="0" rtlCol="0" anchor="ctr"/>
          <a:lstStyle/>
          <a:p>
            <a:pPr marL="0" indent="0" algn="ctr">
              <a:buNone/>
            </a:pPr>
            <a:r>
              <a:rPr lang="en-US" sz="1400" b="1" dirty="0">
                <a:solidFill>
                  <a:schemeClr val="bg1"/>
                </a:solidFill>
              </a:rPr>
              <a:t>Cost  γ_p</a:t>
            </a:r>
            <a:endParaRPr lang="en-US" sz="1400" dirty="0"/>
          </a:p>
        </p:txBody>
      </p:sp>
      <p:sp>
        <p:nvSpPr>
          <p:cNvPr id="18" name="Text 16"/>
          <p:cNvSpPr/>
          <p:nvPr/>
        </p:nvSpPr>
        <p:spPr>
          <a:xfrm>
            <a:off x="9464040" y="2423160"/>
            <a:ext cx="1371600" cy="1170432"/>
          </a:xfrm>
          <a:prstGeom prst="roundRect">
            <a:avLst>
              <a:gd name="adj" fmla="val 4688"/>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tx1"/>
                </a:solidFill>
              </a:rPr>
              <a:t>Mixer  β_p</a:t>
            </a:r>
            <a:endParaRPr lang="en-US" sz="1400" dirty="0"/>
          </a:p>
        </p:txBody>
      </p:sp>
      <p:sp>
        <p:nvSpPr>
          <p:cNvPr id="19" name="Text 17"/>
          <p:cNvSpPr txBox="1"/>
          <p:nvPr/>
        </p:nvSpPr>
        <p:spPr>
          <a:xfrm>
            <a:off x="548640" y="429768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Cost layer: an RZZ(2γ) gate on every edge. Mixer layer: an RX(2β) gate on every qubit</a:t>
            </a:r>
            <a:endParaRPr lang="en-US" sz="1600" dirty="0"/>
          </a:p>
          <a:p>
            <a:pPr marL="342900" indent="-342900">
              <a:spcAft>
                <a:spcPts val="800"/>
              </a:spcAft>
              <a:buSzPct val="100000"/>
              <a:buChar char="•"/>
            </a:pPr>
            <a:r>
              <a:rPr lang="en-US" sz="1600" dirty="0">
                <a:solidFill>
                  <a:schemeClr val="tx1"/>
                </a:solidFill>
              </a:rPr>
              <a:t>p layers (reps) give 2p angles. The notebook uses reps = 2: four parameters β[0], β[1], γ[0], γ[1]</a:t>
            </a:r>
            <a:endParaRPr lang="en-US" sz="1600" dirty="0"/>
          </a:p>
          <a:p>
            <a:pPr marL="342900" indent="-342900">
              <a:spcAft>
                <a:spcPts val="800"/>
              </a:spcAft>
              <a:buSzPct val="100000"/>
              <a:buChar char="•"/>
            </a:pPr>
            <a:r>
              <a:rPr lang="en-US" sz="1600" dirty="0">
                <a:solidFill>
                  <a:schemeClr val="tx1"/>
                </a:solidFill>
              </a:rPr>
              <a:t>More layers can fit better but make the circuit deeper, and noise grows with depth</a:t>
            </a:r>
            <a:endParaRPr lang="en-US" sz="1600" dirty="0"/>
          </a:p>
        </p:txBody>
      </p:sp>
      <p:sp>
        <p:nvSpPr>
          <p:cNvPr id="20" name="code-box"/>
          <p:cNvSpPr/>
          <p:nvPr/>
        </p:nvSpPr>
        <p:spPr>
          <a:xfrm>
            <a:off x="548640" y="5486400"/>
            <a:ext cx="11064240" cy="777240"/>
          </a:xfrm>
          <a:prstGeom prst="roundRect">
            <a:avLst>
              <a:gd name="adj" fmla="val 11765"/>
            </a:avLst>
          </a:prstGeom>
          <a:solidFill>
            <a:schemeClr val="tx1"/>
          </a:solidFill>
          <a:ln w="12700">
            <a:solidFill>
              <a:schemeClr val="tx1"/>
            </a:solidFill>
            <a:prstDash val="solid"/>
          </a:ln>
        </p:spPr>
        <p:txBody>
          <a:bodyPr/>
          <a:lstStyle/>
          <a:p>
            <a:endParaRPr lang="en-US"/>
          </a:p>
        </p:txBody>
      </p:sp>
      <p:sp>
        <p:nvSpPr>
          <p:cNvPr id="21" name="Text 19"/>
          <p:cNvSpPr txBox="1"/>
          <p:nvPr/>
        </p:nvSpPr>
        <p:spPr>
          <a:xfrm>
            <a:off x="731520" y="5623560"/>
            <a:ext cx="10698480" cy="502920"/>
          </a:xfrm>
          <a:prstGeom prst="rect">
            <a:avLst/>
          </a:prstGeom>
          <a:noFill/>
          <a:ln/>
        </p:spPr>
        <p:txBody>
          <a:bodyPr wrap="square" lIns="0" tIns="0" rIns="0" bIns="0" rtlCol="0" anchor="t"/>
          <a:lstStyle/>
          <a:p>
            <a:pPr marL="0" indent="0">
              <a:buNone/>
            </a:pPr>
            <a:r>
              <a:rPr lang="en-US" sz="1300" dirty="0">
                <a:solidFill>
                  <a:schemeClr val="bg2"/>
                </a:solidFill>
                <a:latin typeface="Courier New" pitchFamily="34" charset="0"/>
                <a:ea typeface="Courier New" pitchFamily="34" charset="-122"/>
                <a:cs typeface="Courier New" pitchFamily="34" charset="-120"/>
              </a:rPr>
              <a:t>circuit = QAOAAnsatz(cost_operator=cost_hamiltonian, reps=2)</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circuit.measure_all()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Step 5: Measure expectation values and optimize</a:t>
            </a:r>
            <a:endParaRPr lang="en-US" sz="3400" dirty="0"/>
          </a:p>
        </p:txBody>
      </p:sp>
      <p:sp>
        <p:nvSpPr>
          <p:cNvPr id="3" name="Text 1"/>
          <p:cNvSpPr txBox="1"/>
          <p:nvPr/>
        </p:nvSpPr>
        <p:spPr>
          <a:xfrm>
            <a:off x="548640" y="1554480"/>
            <a:ext cx="5760720" cy="4480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Energy: E(β, γ) = ⟨ψ(β, γ)| H_C |ψ(β, γ)⟩</a:t>
            </a:r>
            <a:endParaRPr lang="en-US" sz="1700" dirty="0"/>
          </a:p>
          <a:p>
            <a:pPr marL="342900" indent="-342900">
              <a:spcAft>
                <a:spcPts val="800"/>
              </a:spcAft>
              <a:buSzPct val="100000"/>
              <a:buChar char="•"/>
            </a:pPr>
            <a:r>
              <a:rPr lang="en-US" sz="1700" dirty="0">
                <a:solidFill>
                  <a:schemeClr val="tx1"/>
                </a:solidFill>
              </a:rPr>
              <a:t>Each ZᵢZⱼ term is estimated from shots; the terms are added up</a:t>
            </a:r>
            <a:endParaRPr lang="en-US" sz="1700" dirty="0"/>
          </a:p>
          <a:p>
            <a:pPr marL="342900" indent="-342900">
              <a:spcAft>
                <a:spcPts val="800"/>
              </a:spcAft>
              <a:buSzPct val="100000"/>
              <a:buChar char="•"/>
            </a:pPr>
            <a:r>
              <a:rPr lang="en-US" sz="1700" dirty="0">
                <a:solidFill>
                  <a:schemeClr val="tx1"/>
                </a:solidFill>
              </a:rPr>
              <a:t>All ZZ terms commute, so one set of shots can serve all of them</a:t>
            </a:r>
            <a:endParaRPr lang="en-US" sz="1700" dirty="0"/>
          </a:p>
          <a:p>
            <a:pPr marL="342900" indent="-342900">
              <a:spcAft>
                <a:spcPts val="800"/>
              </a:spcAft>
              <a:buSzPct val="100000"/>
              <a:buChar char="•"/>
            </a:pPr>
            <a:r>
              <a:rPr lang="en-US" sz="1700" dirty="0">
                <a:solidFill>
                  <a:schemeClr val="tx1"/>
                </a:solidFill>
              </a:rPr>
              <a:t>The Estimator primitive returns E for chosen angles</a:t>
            </a:r>
            <a:endParaRPr lang="en-US" sz="1700" dirty="0"/>
          </a:p>
          <a:p>
            <a:pPr marL="342900" indent="-342900">
              <a:spcAft>
                <a:spcPts val="800"/>
              </a:spcAft>
              <a:buSzPct val="100000"/>
              <a:buChar char="•"/>
            </a:pPr>
            <a:r>
              <a:rPr lang="en-US" sz="1700" dirty="0">
                <a:solidFill>
                  <a:schemeClr val="tx1"/>
                </a:solidFill>
              </a:rPr>
              <a:t>COBYLA proposes new angles; repeat until the cost converges</a:t>
            </a:r>
            <a:endParaRPr lang="en-US" sz="1700" dirty="0"/>
          </a:p>
          <a:p>
            <a:pPr marL="342900" indent="-342900">
              <a:spcAft>
                <a:spcPts val="800"/>
              </a:spcAft>
              <a:buSzPct val="100000"/>
              <a:buChar char="•"/>
            </a:pPr>
            <a:r>
              <a:rPr lang="en-US" sz="1700" dirty="0">
                <a:solidFill>
                  <a:schemeClr val="tx1"/>
                </a:solidFill>
              </a:rPr>
              <a:t>At the end, sample bitstrings with the best angles and keep the best</a:t>
            </a:r>
            <a:endParaRPr lang="en-US" sz="1700" dirty="0"/>
          </a:p>
        </p:txBody>
      </p:sp>
      <p:sp>
        <p:nvSpPr>
          <p:cNvPr id="4" name="meas-card"/>
          <p:cNvSpPr/>
          <p:nvPr/>
        </p:nvSpPr>
        <p:spPr>
          <a:xfrm>
            <a:off x="6675120" y="1463040"/>
            <a:ext cx="493776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p:nvPr/>
        </p:nvSpPr>
        <p:spPr>
          <a:xfrm>
            <a:off x="6995160" y="1920240"/>
            <a:ext cx="4297680" cy="914400"/>
          </a:xfrm>
          <a:prstGeom prst="roundRect">
            <a:avLst>
              <a:gd name="adj" fmla="val 6000"/>
            </a:avLst>
          </a:prstGeom>
          <a:solidFill>
            <a:schemeClr val="accent3"/>
          </a:solidFill>
          <a:ln>
            <a:solidFill>
              <a:schemeClr val="accent3"/>
            </a:solidFill>
          </a:ln>
        </p:spPr>
        <p:txBody>
          <a:bodyPr wrap="square" lIns="0" tIns="0" rIns="0" bIns="0" rtlCol="0" anchor="ctr"/>
          <a:lstStyle/>
          <a:p>
            <a:pPr marL="0" indent="0" algn="ctr">
              <a:buNone/>
            </a:pPr>
            <a:r>
              <a:rPr lang="en-US" sz="1600" b="1" dirty="0">
                <a:solidFill>
                  <a:schemeClr val="bg1"/>
                </a:solidFill>
              </a:rPr>
              <a:t>Quantum: Estimator returns E(β, γ)</a:t>
            </a:r>
            <a:endParaRPr lang="en-US" sz="1600" dirty="0"/>
          </a:p>
        </p:txBody>
      </p:sp>
      <p:sp>
        <p:nvSpPr>
          <p:cNvPr id="6" name="Text 4"/>
          <p:cNvSpPr/>
          <p:nvPr/>
        </p:nvSpPr>
        <p:spPr>
          <a:xfrm>
            <a:off x="6995160" y="4206240"/>
            <a:ext cx="4297680" cy="914400"/>
          </a:xfrm>
          <a:prstGeom prst="roundRect">
            <a:avLst>
              <a:gd name="adj" fmla="val 6000"/>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Classical: COBYLA proposes new (β, γ)</a:t>
            </a:r>
            <a:endParaRPr lang="en-US" sz="1600" dirty="0"/>
          </a:p>
        </p:txBody>
      </p:sp>
      <p:sp>
        <p:nvSpPr>
          <p:cNvPr id="7" name="Shape 5"/>
          <p:cNvSpPr/>
          <p:nvPr/>
        </p:nvSpPr>
        <p:spPr>
          <a:xfrm>
            <a:off x="7772400" y="2971800"/>
            <a:ext cx="411480" cy="1097280"/>
          </a:xfrm>
          <a:prstGeom prst="downArrow">
            <a:avLst/>
          </a:prstGeom>
          <a:solidFill>
            <a:schemeClr val="accent6"/>
          </a:solidFill>
          <a:ln w="12700">
            <a:solidFill>
              <a:schemeClr val="accent6"/>
            </a:solidFill>
            <a:prstDash val="solid"/>
          </a:ln>
        </p:spPr>
        <p:txBody>
          <a:bodyPr/>
          <a:lstStyle/>
          <a:p>
            <a:endParaRPr lang="en-US"/>
          </a:p>
        </p:txBody>
      </p:sp>
      <p:sp>
        <p:nvSpPr>
          <p:cNvPr id="8" name="Shape 6"/>
          <p:cNvSpPr/>
          <p:nvPr/>
        </p:nvSpPr>
        <p:spPr>
          <a:xfrm>
            <a:off x="10104120" y="2971800"/>
            <a:ext cx="411480" cy="1097280"/>
          </a:xfrm>
          <a:prstGeom prst="upArrow">
            <a:avLst/>
          </a:prstGeom>
          <a:solidFill>
            <a:schemeClr val="accent6"/>
          </a:solidFill>
          <a:ln w="12700">
            <a:solidFill>
              <a:schemeClr val="accent6"/>
            </a:solidFill>
            <a:prstDash val="solid"/>
          </a:ln>
        </p:spPr>
        <p:txBody>
          <a:bodyPr/>
          <a:lstStyle/>
          <a:p>
            <a:endParaRPr lang="en-US"/>
          </a:p>
        </p:txBody>
      </p:sp>
      <p:sp>
        <p:nvSpPr>
          <p:cNvPr id="9" name="Text 7"/>
          <p:cNvSpPr txBox="1"/>
          <p:nvPr/>
        </p:nvSpPr>
        <p:spPr>
          <a:xfrm>
            <a:off x="8275320" y="3337560"/>
            <a:ext cx="914400" cy="365760"/>
          </a:xfrm>
          <a:prstGeom prst="rect">
            <a:avLst/>
          </a:prstGeom>
          <a:noFill/>
          <a:ln/>
        </p:spPr>
        <p:txBody>
          <a:bodyPr wrap="square" lIns="0" tIns="0" rIns="0" bIns="0" rtlCol="0" anchor="t"/>
          <a:lstStyle/>
          <a:p>
            <a:pPr marL="0" indent="0">
              <a:buNone/>
            </a:pPr>
            <a:r>
              <a:rPr lang="en-US" sz="1400" dirty="0">
                <a:solidFill>
                  <a:schemeClr val="tx1"/>
                </a:solidFill>
              </a:rPr>
              <a:t>cost</a:t>
            </a:r>
            <a:endParaRPr lang="en-US" sz="1400" dirty="0"/>
          </a:p>
        </p:txBody>
      </p:sp>
      <p:sp>
        <p:nvSpPr>
          <p:cNvPr id="10" name="Text 8"/>
          <p:cNvSpPr txBox="1"/>
          <p:nvPr/>
        </p:nvSpPr>
        <p:spPr>
          <a:xfrm>
            <a:off x="9235440" y="3337560"/>
            <a:ext cx="822960" cy="365760"/>
          </a:xfrm>
          <a:prstGeom prst="rect">
            <a:avLst/>
          </a:prstGeom>
          <a:noFill/>
          <a:ln/>
        </p:spPr>
        <p:txBody>
          <a:bodyPr wrap="square" lIns="0" tIns="0" rIns="0" bIns="0" rtlCol="0" anchor="t"/>
          <a:lstStyle/>
          <a:p>
            <a:pPr marL="0" indent="0">
              <a:buNone/>
            </a:pPr>
            <a:r>
              <a:rPr lang="en-US" sz="1400" dirty="0">
                <a:solidFill>
                  <a:schemeClr val="tx1"/>
                </a:solidFill>
              </a:rPr>
              <a:t>angles</a:t>
            </a:r>
            <a:endParaRPr lang="en-US" sz="1400" dirty="0"/>
          </a:p>
        </p:txBody>
      </p:sp>
      <p:sp>
        <p:nvSpPr>
          <p:cNvPr id="11" name="Text 9"/>
          <p:cNvSpPr txBox="1"/>
          <p:nvPr/>
        </p:nvSpPr>
        <p:spPr>
          <a:xfrm>
            <a:off x="6858000" y="5440680"/>
            <a:ext cx="4572000" cy="457200"/>
          </a:xfrm>
          <a:prstGeom prst="rect">
            <a:avLst/>
          </a:prstGeom>
          <a:noFill/>
          <a:ln/>
        </p:spPr>
        <p:txBody>
          <a:bodyPr wrap="square" lIns="0" tIns="0" rIns="0" bIns="0" rtlCol="0" anchor="t"/>
          <a:lstStyle/>
          <a:p>
            <a:pPr marL="0" indent="0" algn="ctr">
              <a:buNone/>
            </a:pPr>
            <a:r>
              <a:rPr lang="en-US" sz="1400" dirty="0">
                <a:solidFill>
                  <a:schemeClr val="tx1"/>
                </a:solidFill>
              </a:rPr>
              <a:t>Repeat until the cost converges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One QAOA layer, in pictures</a:t>
            </a:r>
            <a:endParaRPr lang="en-US" sz="3400" dirty="0"/>
          </a:p>
        </p:txBody>
      </p:sp>
      <p:sp>
        <p:nvSpPr>
          <p:cNvPr id="3" name="layer-card-0"/>
          <p:cNvSpPr/>
          <p:nvPr/>
        </p:nvSpPr>
        <p:spPr>
          <a:xfrm>
            <a:off x="548640" y="1463040"/>
            <a:ext cx="3520440" cy="402336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572768"/>
            <a:ext cx="3063240" cy="41148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Start</a:t>
            </a:r>
            <a:endParaRPr lang="en-US" sz="2000" dirty="0"/>
          </a:p>
        </p:txBody>
      </p:sp>
      <p:sp>
        <p:nvSpPr>
          <p:cNvPr id="5" name="Shape 3"/>
          <p:cNvSpPr/>
          <p:nvPr/>
        </p:nvSpPr>
        <p:spPr>
          <a:xfrm>
            <a:off x="822960"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6" name="Shape 4"/>
          <p:cNvSpPr/>
          <p:nvPr/>
        </p:nvSpPr>
        <p:spPr>
          <a:xfrm>
            <a:off x="1207008"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7" name="Shape 5"/>
          <p:cNvSpPr/>
          <p:nvPr/>
        </p:nvSpPr>
        <p:spPr>
          <a:xfrm>
            <a:off x="1591056"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8" name="Shape 6"/>
          <p:cNvSpPr/>
          <p:nvPr/>
        </p:nvSpPr>
        <p:spPr>
          <a:xfrm>
            <a:off x="1975104"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9" name="Shape 7"/>
          <p:cNvSpPr/>
          <p:nvPr/>
        </p:nvSpPr>
        <p:spPr>
          <a:xfrm>
            <a:off x="2359152"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10" name="Shape 8"/>
          <p:cNvSpPr/>
          <p:nvPr/>
        </p:nvSpPr>
        <p:spPr>
          <a:xfrm>
            <a:off x="2743200"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11" name="Shape 9"/>
          <p:cNvSpPr/>
          <p:nvPr/>
        </p:nvSpPr>
        <p:spPr>
          <a:xfrm>
            <a:off x="3127248"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12" name="Shape 10"/>
          <p:cNvSpPr/>
          <p:nvPr/>
        </p:nvSpPr>
        <p:spPr>
          <a:xfrm>
            <a:off x="3511296"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13" name="Shape 11"/>
          <p:cNvSpPr/>
          <p:nvPr/>
        </p:nvSpPr>
        <p:spPr>
          <a:xfrm>
            <a:off x="731520" y="3794760"/>
            <a:ext cx="3154680" cy="0"/>
          </a:xfrm>
          <a:prstGeom prst="line">
            <a:avLst/>
          </a:prstGeom>
          <a:noFill/>
          <a:ln w="12700">
            <a:solidFill>
              <a:schemeClr val="tx1"/>
            </a:solidFill>
            <a:prstDash val="solid"/>
          </a:ln>
        </p:spPr>
        <p:txBody>
          <a:bodyPr/>
          <a:lstStyle/>
          <a:p>
            <a:endParaRPr lang="en-US"/>
          </a:p>
        </p:txBody>
      </p:sp>
      <p:sp>
        <p:nvSpPr>
          <p:cNvPr id="14" name="Text 12"/>
          <p:cNvSpPr txBox="1"/>
          <p:nvPr/>
        </p:nvSpPr>
        <p:spPr>
          <a:xfrm>
            <a:off x="777240" y="3931920"/>
            <a:ext cx="3063240" cy="1463040"/>
          </a:xfrm>
          <a:prstGeom prst="rect">
            <a:avLst/>
          </a:prstGeom>
          <a:noFill/>
          <a:ln/>
        </p:spPr>
        <p:txBody>
          <a:bodyPr wrap="square" lIns="0" tIns="0" rIns="0" bIns="0" rtlCol="0" anchor="t"/>
          <a:lstStyle/>
          <a:p>
            <a:pPr marL="0" indent="0">
              <a:buNone/>
            </a:pPr>
            <a:r>
              <a:rPr lang="en-US" sz="1400" dirty="0">
                <a:solidFill>
                  <a:schemeClr val="tx1"/>
                </a:solidFill>
              </a:rPr>
              <a:t>Every bitstring equally likely</a:t>
            </a:r>
            <a:endParaRPr lang="en-US" sz="1400" dirty="0"/>
          </a:p>
        </p:txBody>
      </p:sp>
      <p:sp>
        <p:nvSpPr>
          <p:cNvPr id="15" name="Shape 13"/>
          <p:cNvSpPr/>
          <p:nvPr/>
        </p:nvSpPr>
        <p:spPr>
          <a:xfrm>
            <a:off x="4096512" y="3108960"/>
            <a:ext cx="219456" cy="365760"/>
          </a:xfrm>
          <a:prstGeom prst="rightArrow">
            <a:avLst/>
          </a:prstGeom>
          <a:solidFill>
            <a:schemeClr val="accent1"/>
          </a:solidFill>
          <a:ln w="12700">
            <a:solidFill>
              <a:schemeClr val="accent1"/>
            </a:solidFill>
            <a:prstDash val="solid"/>
          </a:ln>
        </p:spPr>
        <p:txBody>
          <a:bodyPr/>
          <a:lstStyle/>
          <a:p>
            <a:endParaRPr lang="en-US"/>
          </a:p>
        </p:txBody>
      </p:sp>
      <p:sp>
        <p:nvSpPr>
          <p:cNvPr id="16" name="layer-card-1"/>
          <p:cNvSpPr/>
          <p:nvPr/>
        </p:nvSpPr>
        <p:spPr>
          <a:xfrm>
            <a:off x="4343400" y="1463040"/>
            <a:ext cx="3520440" cy="402336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17" name="Text 15"/>
          <p:cNvSpPr txBox="1"/>
          <p:nvPr/>
        </p:nvSpPr>
        <p:spPr>
          <a:xfrm>
            <a:off x="4572000" y="1572768"/>
            <a:ext cx="3063240" cy="41148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Cost layer</a:t>
            </a:r>
            <a:endParaRPr lang="en-US" sz="2000" dirty="0"/>
          </a:p>
        </p:txBody>
      </p:sp>
      <p:sp>
        <p:nvSpPr>
          <p:cNvPr id="18" name="Shape 16"/>
          <p:cNvSpPr/>
          <p:nvPr/>
        </p:nvSpPr>
        <p:spPr>
          <a:xfrm>
            <a:off x="4617720"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19" name="Shape 17"/>
          <p:cNvSpPr/>
          <p:nvPr/>
        </p:nvSpPr>
        <p:spPr>
          <a:xfrm>
            <a:off x="5001768" y="2971800"/>
            <a:ext cx="292608" cy="822960"/>
          </a:xfrm>
          <a:prstGeom prst="rect">
            <a:avLst/>
          </a:prstGeom>
          <a:solidFill>
            <a:schemeClr val="accent1"/>
          </a:solidFill>
          <a:ln w="12700">
            <a:solidFill>
              <a:schemeClr val="accent1"/>
            </a:solidFill>
            <a:prstDash val="solid"/>
          </a:ln>
        </p:spPr>
        <p:txBody>
          <a:bodyPr/>
          <a:lstStyle/>
          <a:p>
            <a:endParaRPr lang="en-US"/>
          </a:p>
        </p:txBody>
      </p:sp>
      <p:sp>
        <p:nvSpPr>
          <p:cNvPr id="20" name="Shape 18"/>
          <p:cNvSpPr/>
          <p:nvPr/>
        </p:nvSpPr>
        <p:spPr>
          <a:xfrm>
            <a:off x="5385816"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21" name="Shape 19"/>
          <p:cNvSpPr/>
          <p:nvPr/>
        </p:nvSpPr>
        <p:spPr>
          <a:xfrm>
            <a:off x="5769864"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22" name="Shape 20"/>
          <p:cNvSpPr/>
          <p:nvPr/>
        </p:nvSpPr>
        <p:spPr>
          <a:xfrm>
            <a:off x="6153912" y="2971800"/>
            <a:ext cx="292608" cy="822960"/>
          </a:xfrm>
          <a:prstGeom prst="rect">
            <a:avLst/>
          </a:prstGeom>
          <a:solidFill>
            <a:schemeClr val="accent1"/>
          </a:solidFill>
          <a:ln w="12700">
            <a:solidFill>
              <a:schemeClr val="accent1"/>
            </a:solidFill>
            <a:prstDash val="solid"/>
          </a:ln>
        </p:spPr>
        <p:txBody>
          <a:bodyPr/>
          <a:lstStyle/>
          <a:p>
            <a:endParaRPr lang="en-US"/>
          </a:p>
        </p:txBody>
      </p:sp>
      <p:sp>
        <p:nvSpPr>
          <p:cNvPr id="23" name="Shape 21"/>
          <p:cNvSpPr/>
          <p:nvPr/>
        </p:nvSpPr>
        <p:spPr>
          <a:xfrm>
            <a:off x="6537960"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24" name="Shape 22"/>
          <p:cNvSpPr/>
          <p:nvPr/>
        </p:nvSpPr>
        <p:spPr>
          <a:xfrm>
            <a:off x="6922008" y="2971800"/>
            <a:ext cx="292608" cy="822960"/>
          </a:xfrm>
          <a:prstGeom prst="rect">
            <a:avLst/>
          </a:prstGeom>
          <a:solidFill>
            <a:schemeClr val="accent4"/>
          </a:solidFill>
          <a:ln w="12700">
            <a:solidFill>
              <a:schemeClr val="accent4"/>
            </a:solidFill>
            <a:prstDash val="solid"/>
          </a:ln>
        </p:spPr>
        <p:txBody>
          <a:bodyPr/>
          <a:lstStyle/>
          <a:p>
            <a:endParaRPr lang="en-US"/>
          </a:p>
        </p:txBody>
      </p:sp>
      <p:sp>
        <p:nvSpPr>
          <p:cNvPr id="25" name="Shape 23"/>
          <p:cNvSpPr/>
          <p:nvPr/>
        </p:nvSpPr>
        <p:spPr>
          <a:xfrm>
            <a:off x="7306056"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26" name="Shape 24"/>
          <p:cNvSpPr/>
          <p:nvPr/>
        </p:nvSpPr>
        <p:spPr>
          <a:xfrm>
            <a:off x="4526280" y="3794760"/>
            <a:ext cx="3154680" cy="0"/>
          </a:xfrm>
          <a:prstGeom prst="line">
            <a:avLst/>
          </a:prstGeom>
          <a:noFill/>
          <a:ln w="12700">
            <a:solidFill>
              <a:schemeClr val="tx1"/>
            </a:solidFill>
            <a:prstDash val="solid"/>
          </a:ln>
        </p:spPr>
        <p:txBody>
          <a:bodyPr/>
          <a:lstStyle/>
          <a:p>
            <a:endParaRPr lang="en-US"/>
          </a:p>
        </p:txBody>
      </p:sp>
      <p:sp>
        <p:nvSpPr>
          <p:cNvPr id="27" name="Text 25"/>
          <p:cNvSpPr txBox="1"/>
          <p:nvPr/>
        </p:nvSpPr>
        <p:spPr>
          <a:xfrm>
            <a:off x="4572000" y="3931920"/>
            <a:ext cx="3063240" cy="1463040"/>
          </a:xfrm>
          <a:prstGeom prst="rect">
            <a:avLst/>
          </a:prstGeom>
          <a:noFill/>
          <a:ln/>
        </p:spPr>
        <p:txBody>
          <a:bodyPr wrap="square" lIns="0" tIns="0" rIns="0" bIns="0" rtlCol="0" anchor="t"/>
          <a:lstStyle/>
          <a:p>
            <a:pPr marL="0" indent="0">
              <a:buNone/>
            </a:pPr>
            <a:r>
              <a:rPr lang="en-US" sz="1400" dirty="0">
                <a:solidFill>
                  <a:schemeClr val="tx1"/>
                </a:solidFill>
              </a:rPr>
              <a:t>Each bitstring is tagged with a phase set by its energy. Probabilities have not changed yet.</a:t>
            </a:r>
            <a:endParaRPr lang="en-US" sz="1400" dirty="0"/>
          </a:p>
        </p:txBody>
      </p:sp>
      <p:sp>
        <p:nvSpPr>
          <p:cNvPr id="28" name="Shape 26"/>
          <p:cNvSpPr/>
          <p:nvPr/>
        </p:nvSpPr>
        <p:spPr>
          <a:xfrm>
            <a:off x="7891272" y="3108960"/>
            <a:ext cx="219456" cy="365760"/>
          </a:xfrm>
          <a:prstGeom prst="rightArrow">
            <a:avLst/>
          </a:prstGeom>
          <a:solidFill>
            <a:schemeClr val="accent1"/>
          </a:solidFill>
          <a:ln w="12700">
            <a:solidFill>
              <a:schemeClr val="accent1"/>
            </a:solidFill>
            <a:prstDash val="solid"/>
          </a:ln>
        </p:spPr>
        <p:txBody>
          <a:bodyPr/>
          <a:lstStyle/>
          <a:p>
            <a:endParaRPr lang="en-US"/>
          </a:p>
        </p:txBody>
      </p:sp>
      <p:sp>
        <p:nvSpPr>
          <p:cNvPr id="29" name="layer-card-2"/>
          <p:cNvSpPr/>
          <p:nvPr/>
        </p:nvSpPr>
        <p:spPr>
          <a:xfrm>
            <a:off x="8138160" y="1463040"/>
            <a:ext cx="3520440" cy="402336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30" name="Text 28"/>
          <p:cNvSpPr txBox="1"/>
          <p:nvPr/>
        </p:nvSpPr>
        <p:spPr>
          <a:xfrm>
            <a:off x="8366760" y="1572768"/>
            <a:ext cx="3063240" cy="41148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Mixer layer</a:t>
            </a:r>
            <a:endParaRPr lang="en-US" sz="2000" dirty="0"/>
          </a:p>
        </p:txBody>
      </p:sp>
      <p:sp>
        <p:nvSpPr>
          <p:cNvPr id="31" name="Shape 29"/>
          <p:cNvSpPr/>
          <p:nvPr/>
        </p:nvSpPr>
        <p:spPr>
          <a:xfrm>
            <a:off x="8412480" y="3218688"/>
            <a:ext cx="292608" cy="576072"/>
          </a:xfrm>
          <a:prstGeom prst="rect">
            <a:avLst/>
          </a:prstGeom>
          <a:solidFill>
            <a:schemeClr val="accent6"/>
          </a:solidFill>
          <a:ln w="12700">
            <a:solidFill>
              <a:schemeClr val="accent6"/>
            </a:solidFill>
            <a:prstDash val="solid"/>
          </a:ln>
        </p:spPr>
        <p:txBody>
          <a:bodyPr/>
          <a:lstStyle/>
          <a:p>
            <a:endParaRPr lang="en-US"/>
          </a:p>
        </p:txBody>
      </p:sp>
      <p:sp>
        <p:nvSpPr>
          <p:cNvPr id="32" name="Shape 30"/>
          <p:cNvSpPr/>
          <p:nvPr/>
        </p:nvSpPr>
        <p:spPr>
          <a:xfrm>
            <a:off x="8796528" y="2148840"/>
            <a:ext cx="292608" cy="1645920"/>
          </a:xfrm>
          <a:prstGeom prst="rect">
            <a:avLst/>
          </a:prstGeom>
          <a:solidFill>
            <a:schemeClr val="accent1"/>
          </a:solidFill>
          <a:ln w="12700">
            <a:solidFill>
              <a:schemeClr val="accent1"/>
            </a:solidFill>
            <a:prstDash val="solid"/>
          </a:ln>
        </p:spPr>
        <p:txBody>
          <a:bodyPr/>
          <a:lstStyle/>
          <a:p>
            <a:endParaRPr lang="en-US"/>
          </a:p>
        </p:txBody>
      </p:sp>
      <p:sp>
        <p:nvSpPr>
          <p:cNvPr id="33" name="Shape 31"/>
          <p:cNvSpPr/>
          <p:nvPr/>
        </p:nvSpPr>
        <p:spPr>
          <a:xfrm>
            <a:off x="9180576" y="3218688"/>
            <a:ext cx="292608" cy="576072"/>
          </a:xfrm>
          <a:prstGeom prst="rect">
            <a:avLst/>
          </a:prstGeom>
          <a:solidFill>
            <a:schemeClr val="accent6"/>
          </a:solidFill>
          <a:ln w="12700">
            <a:solidFill>
              <a:schemeClr val="accent6"/>
            </a:solidFill>
            <a:prstDash val="solid"/>
          </a:ln>
        </p:spPr>
        <p:txBody>
          <a:bodyPr/>
          <a:lstStyle/>
          <a:p>
            <a:endParaRPr lang="en-US"/>
          </a:p>
        </p:txBody>
      </p:sp>
      <p:sp>
        <p:nvSpPr>
          <p:cNvPr id="34" name="Shape 32"/>
          <p:cNvSpPr/>
          <p:nvPr/>
        </p:nvSpPr>
        <p:spPr>
          <a:xfrm>
            <a:off x="9564624" y="3218688"/>
            <a:ext cx="292608" cy="576072"/>
          </a:xfrm>
          <a:prstGeom prst="rect">
            <a:avLst/>
          </a:prstGeom>
          <a:solidFill>
            <a:schemeClr val="accent6"/>
          </a:solidFill>
          <a:ln w="12700">
            <a:solidFill>
              <a:schemeClr val="accent6"/>
            </a:solidFill>
            <a:prstDash val="solid"/>
          </a:ln>
        </p:spPr>
        <p:txBody>
          <a:bodyPr/>
          <a:lstStyle/>
          <a:p>
            <a:endParaRPr lang="en-US"/>
          </a:p>
        </p:txBody>
      </p:sp>
      <p:sp>
        <p:nvSpPr>
          <p:cNvPr id="35" name="Shape 33"/>
          <p:cNvSpPr/>
          <p:nvPr/>
        </p:nvSpPr>
        <p:spPr>
          <a:xfrm>
            <a:off x="9948672" y="2148840"/>
            <a:ext cx="292608" cy="1645920"/>
          </a:xfrm>
          <a:prstGeom prst="rect">
            <a:avLst/>
          </a:prstGeom>
          <a:solidFill>
            <a:schemeClr val="accent1"/>
          </a:solidFill>
          <a:ln w="12700">
            <a:solidFill>
              <a:schemeClr val="accent1"/>
            </a:solidFill>
            <a:prstDash val="solid"/>
          </a:ln>
        </p:spPr>
        <p:txBody>
          <a:bodyPr/>
          <a:lstStyle/>
          <a:p>
            <a:endParaRPr lang="en-US"/>
          </a:p>
        </p:txBody>
      </p:sp>
      <p:sp>
        <p:nvSpPr>
          <p:cNvPr id="36" name="Shape 34"/>
          <p:cNvSpPr/>
          <p:nvPr/>
        </p:nvSpPr>
        <p:spPr>
          <a:xfrm>
            <a:off x="10332720" y="3218688"/>
            <a:ext cx="292608" cy="576072"/>
          </a:xfrm>
          <a:prstGeom prst="rect">
            <a:avLst/>
          </a:prstGeom>
          <a:solidFill>
            <a:schemeClr val="accent6"/>
          </a:solidFill>
          <a:ln w="12700">
            <a:solidFill>
              <a:schemeClr val="accent6"/>
            </a:solidFill>
            <a:prstDash val="solid"/>
          </a:ln>
        </p:spPr>
        <p:txBody>
          <a:bodyPr/>
          <a:lstStyle/>
          <a:p>
            <a:endParaRPr lang="en-US"/>
          </a:p>
        </p:txBody>
      </p:sp>
      <p:sp>
        <p:nvSpPr>
          <p:cNvPr id="37" name="Shape 35"/>
          <p:cNvSpPr/>
          <p:nvPr/>
        </p:nvSpPr>
        <p:spPr>
          <a:xfrm>
            <a:off x="10716768" y="3506724"/>
            <a:ext cx="292608" cy="288036"/>
          </a:xfrm>
          <a:prstGeom prst="rect">
            <a:avLst/>
          </a:prstGeom>
          <a:solidFill>
            <a:schemeClr val="accent4"/>
          </a:solidFill>
          <a:ln w="12700">
            <a:solidFill>
              <a:schemeClr val="accent4"/>
            </a:solidFill>
            <a:prstDash val="solid"/>
          </a:ln>
        </p:spPr>
        <p:txBody>
          <a:bodyPr/>
          <a:lstStyle/>
          <a:p>
            <a:endParaRPr lang="en-US"/>
          </a:p>
        </p:txBody>
      </p:sp>
      <p:sp>
        <p:nvSpPr>
          <p:cNvPr id="38" name="Shape 36"/>
          <p:cNvSpPr/>
          <p:nvPr/>
        </p:nvSpPr>
        <p:spPr>
          <a:xfrm>
            <a:off x="11100816" y="3218688"/>
            <a:ext cx="292608" cy="576072"/>
          </a:xfrm>
          <a:prstGeom prst="rect">
            <a:avLst/>
          </a:prstGeom>
          <a:solidFill>
            <a:schemeClr val="accent6"/>
          </a:solidFill>
          <a:ln w="12700">
            <a:solidFill>
              <a:schemeClr val="accent6"/>
            </a:solidFill>
            <a:prstDash val="solid"/>
          </a:ln>
        </p:spPr>
        <p:txBody>
          <a:bodyPr/>
          <a:lstStyle/>
          <a:p>
            <a:endParaRPr lang="en-US"/>
          </a:p>
        </p:txBody>
      </p:sp>
      <p:sp>
        <p:nvSpPr>
          <p:cNvPr id="39" name="Shape 37"/>
          <p:cNvSpPr/>
          <p:nvPr/>
        </p:nvSpPr>
        <p:spPr>
          <a:xfrm>
            <a:off x="8321040" y="3794760"/>
            <a:ext cx="3154680" cy="0"/>
          </a:xfrm>
          <a:prstGeom prst="line">
            <a:avLst/>
          </a:prstGeom>
          <a:noFill/>
          <a:ln w="12700">
            <a:solidFill>
              <a:schemeClr val="tx1"/>
            </a:solidFill>
            <a:prstDash val="solid"/>
          </a:ln>
        </p:spPr>
        <p:txBody>
          <a:bodyPr/>
          <a:lstStyle/>
          <a:p>
            <a:endParaRPr lang="en-US"/>
          </a:p>
        </p:txBody>
      </p:sp>
      <p:sp>
        <p:nvSpPr>
          <p:cNvPr id="40" name="Text 38"/>
          <p:cNvSpPr txBox="1"/>
          <p:nvPr/>
        </p:nvSpPr>
        <p:spPr>
          <a:xfrm>
            <a:off x="8366760" y="3931920"/>
            <a:ext cx="3063240" cy="1463040"/>
          </a:xfrm>
          <a:prstGeom prst="rect">
            <a:avLst/>
          </a:prstGeom>
          <a:noFill/>
          <a:ln/>
        </p:spPr>
        <p:txBody>
          <a:bodyPr wrap="square" lIns="0" tIns="0" rIns="0" bIns="0" rtlCol="0" anchor="t"/>
          <a:lstStyle/>
          <a:p>
            <a:pPr marL="0" indent="0">
              <a:buNone/>
            </a:pPr>
            <a:r>
              <a:rPr lang="en-US" sz="1400" dirty="0">
                <a:solidFill>
                  <a:schemeClr val="tx1"/>
                </a:solidFill>
              </a:rPr>
              <a:t>Interference turns the tags into probability: low-energy bitstrings gain, high-energy ones lose.</a:t>
            </a:r>
            <a:endParaRPr lang="en-US" sz="1400" dirty="0"/>
          </a:p>
        </p:txBody>
      </p:sp>
      <p:sp>
        <p:nvSpPr>
          <p:cNvPr id="41" name="Text 39"/>
          <p:cNvSpPr txBox="1"/>
          <p:nvPr/>
        </p:nvSpPr>
        <p:spPr>
          <a:xfrm>
            <a:off x="548640" y="5669280"/>
            <a:ext cx="11064240" cy="365760"/>
          </a:xfrm>
          <a:prstGeom prst="rect">
            <a:avLst/>
          </a:prstGeom>
          <a:noFill/>
          <a:ln/>
        </p:spPr>
        <p:txBody>
          <a:bodyPr wrap="square" lIns="0" tIns="0" rIns="0" bIns="0" rtlCol="0" anchor="t"/>
          <a:lstStyle/>
          <a:p>
            <a:pPr marL="0" indent="0">
              <a:buNone/>
            </a:pPr>
            <a:r>
              <a:rPr lang="en-US" sz="1200" dirty="0">
                <a:solidFill>
                  <a:srgbClr val="000000"/>
                </a:solidFill>
              </a:rPr>
              <a:t>Schematic with 8 bitstrings; teal = low energy, red = high energy, heights are illustrative and not real data.</a:t>
            </a:r>
            <a:endParaRPr lang="en-US" sz="1200" dirty="0"/>
          </a:p>
        </p:txBody>
      </p:sp>
      <p:sp>
        <p:nvSpPr>
          <p:cNvPr id="4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Worked example: QAOA by hand on one edge</a:t>
            </a:r>
            <a:endParaRPr lang="en-US" sz="3400" dirty="0"/>
          </a:p>
        </p:txBody>
      </p:sp>
      <p:sp>
        <p:nvSpPr>
          <p:cNvPr id="3" name="Text 1"/>
          <p:cNvSpPr txBox="1"/>
          <p:nvPr/>
        </p:nvSpPr>
        <p:spPr>
          <a:xfrm>
            <a:off x="548640" y="1554480"/>
            <a:ext cx="5486400" cy="41148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Smallest possible problem: 2 nodes joined by 1 edge</a:t>
            </a:r>
            <a:endParaRPr lang="en-US" sz="1700" dirty="0"/>
          </a:p>
          <a:p>
            <a:pPr marL="342900" indent="-342900">
              <a:spcAft>
                <a:spcPts val="800"/>
              </a:spcAft>
              <a:buSzPct val="100000"/>
              <a:buChar char="•"/>
            </a:pPr>
            <a:r>
              <a:rPr lang="en-US" sz="1700" dirty="0">
                <a:solidFill>
                  <a:schemeClr val="tx1"/>
                </a:solidFill>
              </a:rPr>
              <a:t>H_C = Z0 Z1, so the best cuts are 01 and 10 (energy −1) and the worst are 00 and 11 (energy +1)</a:t>
            </a:r>
            <a:endParaRPr lang="en-US" sz="1700" dirty="0"/>
          </a:p>
          <a:p>
            <a:pPr marL="342900" indent="-342900">
              <a:spcAft>
                <a:spcPts val="800"/>
              </a:spcAft>
              <a:buSzPct val="100000"/>
              <a:buChar char="•"/>
            </a:pPr>
            <a:r>
              <a:rPr lang="en-US" sz="1700" dirty="0">
                <a:solidFill>
                  <a:schemeClr val="tx1"/>
                </a:solidFill>
              </a:rPr>
              <a:t>One layer (p = 1) with γ = π/4 and β = 3π/8</a:t>
            </a:r>
            <a:endParaRPr lang="en-US" sz="1700" dirty="0"/>
          </a:p>
          <a:p>
            <a:pPr marL="342900" indent="-342900">
              <a:spcAft>
                <a:spcPts val="800"/>
              </a:spcAft>
              <a:buSzPct val="100000"/>
              <a:buChar char="•"/>
            </a:pPr>
            <a:r>
              <a:rPr lang="en-US" sz="1700" dirty="0">
                <a:solidFill>
                  <a:schemeClr val="tx1"/>
                </a:solidFill>
              </a:rPr>
              <a:t>Start: |+⟩|+⟩, every bitstring has amplitude 1/2 and probability 25%</a:t>
            </a:r>
            <a:endParaRPr lang="en-US" sz="17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583680" y="1554480"/>
          <a:ext cx="5029200" cy="2743200"/>
        </p:xfrm>
        <a:graphic>
          <a:graphicData uri="http://schemas.openxmlformats.org/drawingml/2006/table">
            <a:tbl>
              <a:tblPr/>
              <a:tblGrid>
                <a:gridCol w="1828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548640">
                <a:tc>
                  <a:txBody>
                    <a:bodyPr/>
                    <a:lstStyle/>
                    <a:p>
                      <a:pPr marL="0" indent="0" algn="l">
                        <a:buNone/>
                      </a:pPr>
                      <a:r>
                        <a:rPr lang="en-US" sz="1400" b="1" dirty="0">
                          <a:solidFill>
                            <a:schemeClr val="bg1"/>
                          </a:solidFill>
                        </a:rPr>
                        <a:t>Bitstring</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Energy</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Cut?</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48640">
                <a:tc>
                  <a:txBody>
                    <a:bodyPr/>
                    <a:lstStyle/>
                    <a:p>
                      <a:pPr marL="0" indent="0" algn="l">
                        <a:buNone/>
                      </a:pPr>
                      <a:r>
                        <a:rPr lang="en-US" sz="1400" b="1" dirty="0">
                          <a:solidFill>
                            <a:schemeClr val="accent3"/>
                          </a:solidFill>
                        </a:rPr>
                        <a:t>00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no</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lgn="l">
                        <a:buNone/>
                      </a:pPr>
                      <a:r>
                        <a:rPr lang="en-US" sz="1400" b="1" dirty="0">
                          <a:solidFill>
                            <a:schemeClr val="accent3"/>
                          </a:solidFill>
                        </a:rPr>
                        <a:t>01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48640">
                <a:tc>
                  <a:txBody>
                    <a:bodyPr/>
                    <a:lstStyle/>
                    <a:p>
                      <a:pPr marL="0" indent="0" algn="l">
                        <a:buNone/>
                      </a:pPr>
                      <a:r>
                        <a:rPr lang="en-US" sz="1400" b="1" dirty="0">
                          <a:solidFill>
                            <a:schemeClr val="accent3"/>
                          </a:solidFill>
                        </a:rPr>
                        <a:t>10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48640">
                <a:tc>
                  <a:txBody>
                    <a:bodyPr/>
                    <a:lstStyle/>
                    <a:p>
                      <a:pPr marL="0" indent="0" algn="l">
                        <a:buNone/>
                      </a:pPr>
                      <a:r>
                        <a:rPr lang="en-US" sz="1400" b="1" dirty="0">
                          <a:solidFill>
                            <a:schemeClr val="accent3"/>
                          </a:solidFill>
                        </a:rPr>
                        <a:t>11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no</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ex-goal"/>
          <p:cNvSpPr/>
          <p:nvPr/>
        </p:nvSpPr>
        <p:spPr>
          <a:xfrm>
            <a:off x="6583680" y="4480560"/>
            <a:ext cx="5029200" cy="1554480"/>
          </a:xfrm>
          <a:prstGeom prst="roundRect">
            <a:avLst>
              <a:gd name="adj" fmla="val 7059"/>
            </a:avLst>
          </a:prstGeom>
          <a:solidFill>
            <a:schemeClr val="bg2"/>
          </a:solidFill>
          <a:ln w="12700">
            <a:solidFill>
              <a:schemeClr val="bg2"/>
            </a:solidFill>
            <a:prstDash val="solid"/>
          </a:ln>
        </p:spPr>
        <p:txBody>
          <a:bodyPr/>
          <a:lstStyle/>
          <a:p>
            <a:endParaRPr lang="en-US"/>
          </a:p>
        </p:txBody>
      </p:sp>
      <p:sp>
        <p:nvSpPr>
          <p:cNvPr id="6" name="Text 3"/>
          <p:cNvSpPr txBox="1"/>
          <p:nvPr/>
        </p:nvSpPr>
        <p:spPr>
          <a:xfrm>
            <a:off x="6766560" y="4572000"/>
            <a:ext cx="4663440" cy="1371600"/>
          </a:xfrm>
          <a:prstGeom prst="rect">
            <a:avLst/>
          </a:prstGeom>
          <a:noFill/>
          <a:ln/>
        </p:spPr>
        <p:txBody>
          <a:bodyPr wrap="square" lIns="0" tIns="0" rIns="0" bIns="0" rtlCol="0" anchor="ctr"/>
          <a:lstStyle/>
          <a:p>
            <a:pPr marL="0" indent="0">
              <a:buNone/>
            </a:pPr>
            <a:r>
              <a:rPr lang="en-US" sz="1600" b="1" dirty="0">
                <a:solidFill>
                  <a:schemeClr val="accent3"/>
                </a:solidFill>
              </a:rPr>
              <a:t>Goal: </a:t>
            </a:r>
            <a:r>
              <a:rPr lang="en-US" sz="1600" dirty="0">
                <a:solidFill>
                  <a:schemeClr val="tx1"/>
                </a:solidFill>
              </a:rPr>
              <a:t>move probability from the two uncut bitstrings to the two cut ones. Next slide: what each step does.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Worked example: following the probabilities</a:t>
            </a:r>
            <a:endParaRPr lang="en-US" sz="3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675120" cy="2514600"/>
        </p:xfrm>
        <a:graphic>
          <a:graphicData uri="http://schemas.openxmlformats.org/drawingml/2006/table">
            <a:tbl>
              <a:tblPr/>
              <a:tblGrid>
                <a:gridCol w="12801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502920">
                <a:tc>
                  <a:txBody>
                    <a:bodyPr/>
                    <a:lstStyle/>
                    <a:p>
                      <a:pPr marL="0" indent="0" algn="l">
                        <a:buNone/>
                      </a:pPr>
                      <a:r>
                        <a:rPr lang="en-US" sz="1400" b="1" dirty="0">
                          <a:solidFill>
                            <a:schemeClr val="bg1"/>
                          </a:solidFill>
                        </a:rPr>
                        <a:t>Bitstring</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Start probability</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Phase after cost layer</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Final probability</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02920">
                <a:tc>
                  <a:txBody>
                    <a:bodyPr/>
                    <a:lstStyle/>
                    <a:p>
                      <a:pPr marL="0" indent="0" algn="l">
                        <a:buNone/>
                      </a:pPr>
                      <a:r>
                        <a:rPr lang="en-US" sz="1400" b="1" dirty="0">
                          <a:solidFill>
                            <a:schemeClr val="accent3"/>
                          </a:solidFill>
                        </a:rPr>
                        <a:t>00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25%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−45°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lgn="l">
                        <a:buNone/>
                      </a:pPr>
                      <a:r>
                        <a:rPr lang="en-US" sz="1400" b="1" dirty="0">
                          <a:solidFill>
                            <a:schemeClr val="accent3"/>
                          </a:solidFill>
                        </a:rPr>
                        <a:t>01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25%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+45°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50%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lgn="l">
                        <a:buNone/>
                      </a:pPr>
                      <a:r>
                        <a:rPr lang="en-US" sz="1400" b="1" dirty="0">
                          <a:solidFill>
                            <a:schemeClr val="accent3"/>
                          </a:solidFill>
                        </a:rPr>
                        <a:t>10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25%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+45°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50%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02920">
                <a:tc>
                  <a:txBody>
                    <a:bodyPr/>
                    <a:lstStyle/>
                    <a:p>
                      <a:pPr marL="0" indent="0" algn="l">
                        <a:buNone/>
                      </a:pPr>
                      <a:r>
                        <a:rPr lang="en-US" sz="1400" b="1" dirty="0">
                          <a:solidFill>
                            <a:schemeClr val="accent3"/>
                          </a:solidFill>
                        </a:rPr>
                        <a:t>11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25%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−45°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graphicFrame>
        <p:nvGraphicFramePr>
          <p:cNvPr id="4" name="Chart 0"/>
          <p:cNvGraphicFramePr/>
          <p:nvPr/>
        </p:nvGraphicFramePr>
        <p:xfrm>
          <a:off x="7406640" y="1371600"/>
          <a:ext cx="42976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548640" y="4434840"/>
            <a:ext cx="667512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Cost layer: bitstrings with energy +1 get phase −45°, those with energy −1 get +45°. Probabilities do not change</a:t>
            </a:r>
            <a:endParaRPr lang="en-US" sz="1400" dirty="0"/>
          </a:p>
          <a:p>
            <a:pPr marL="342900" indent="-342900">
              <a:spcAft>
                <a:spcPts val="800"/>
              </a:spcAft>
              <a:buSzPct val="100000"/>
              <a:buChar char="•"/>
            </a:pPr>
            <a:r>
              <a:rPr lang="en-US" sz="1400" dirty="0">
                <a:solidFill>
                  <a:schemeClr val="tx1"/>
                </a:solidFill>
              </a:rPr>
              <a:t>Mixer layer: interference cancels the amplitudes of 00 and 11 and adds those of 01 and 10, so ⟨H_C⟩ = −1, the minimum</a:t>
            </a:r>
            <a:endParaRPr lang="en-US" sz="1400" dirty="0"/>
          </a:p>
          <a:p>
            <a:pPr marL="342900" indent="-342900">
              <a:spcAft>
                <a:spcPts val="800"/>
              </a:spcAft>
              <a:buSzPct val="100000"/>
              <a:buChar char="•"/>
            </a:pPr>
            <a:r>
              <a:rPr lang="en-US" sz="1400" dirty="0">
                <a:solidFill>
                  <a:schemeClr val="tx1"/>
                </a:solidFill>
              </a:rPr>
              <a:t>With a smaller γ = π/8 the same circuit gives 7% and 43%, so ⟨H_C⟩ = −0.71: the knobs matter</a:t>
            </a:r>
            <a:endParaRPr lang="en-US" sz="1400" dirty="0"/>
          </a:p>
        </p:txBody>
      </p:sp>
      <p:sp>
        <p:nvSpPr>
          <p:cNvPr id="6" name="Text 2"/>
          <p:cNvSpPr txBox="1"/>
          <p:nvPr/>
        </p:nvSpPr>
        <p:spPr>
          <a:xfrm>
            <a:off x="7406640" y="4892040"/>
            <a:ext cx="4297680" cy="365760"/>
          </a:xfrm>
          <a:prstGeom prst="rect">
            <a:avLst/>
          </a:prstGeom>
          <a:noFill/>
          <a:ln/>
        </p:spPr>
        <p:txBody>
          <a:bodyPr wrap="square" lIns="0" tIns="0" rIns="0" bIns="0" rtlCol="0" anchor="t"/>
          <a:lstStyle/>
          <a:p>
            <a:pPr marL="0" indent="0">
              <a:buNone/>
            </a:pPr>
            <a:r>
              <a:rPr lang="en-US" sz="1200" dirty="0">
                <a:solidFill>
                  <a:srgbClr val="000000"/>
                </a:solidFill>
              </a:rPr>
              <a:t>Computed by simulating the 2-qubit circuit exactly.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Two knobs: γ and β</a:t>
            </a:r>
            <a:endParaRPr lang="en-US" sz="3400" dirty="0"/>
          </a:p>
        </p:txBody>
      </p:sp>
      <p:sp>
        <p:nvSpPr>
          <p:cNvPr id="3" name="gamma-card"/>
          <p:cNvSpPr/>
          <p:nvPr/>
        </p:nvSpPr>
        <p:spPr>
          <a:xfrm>
            <a:off x="548640" y="1463040"/>
            <a:ext cx="5394960" cy="3108960"/>
          </a:xfrm>
          <a:prstGeom prst="roundRect">
            <a:avLst>
              <a:gd name="adj" fmla="val 3529"/>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600200"/>
            <a:ext cx="4937760" cy="457200"/>
          </a:xfrm>
          <a:prstGeom prst="rect">
            <a:avLst/>
          </a:prstGeom>
          <a:noFill/>
          <a:ln/>
        </p:spPr>
        <p:txBody>
          <a:bodyPr wrap="square" lIns="0" tIns="0" rIns="0" bIns="0" rtlCol="0" anchor="t"/>
          <a:lstStyle/>
          <a:p>
            <a:pPr marL="0" indent="0">
              <a:buNone/>
            </a:pPr>
            <a:r>
              <a:rPr lang="en-US" sz="2200" b="1" dirty="0">
                <a:solidFill>
                  <a:schemeClr val="accent3"/>
                </a:solidFill>
                <a:latin typeface="Cambria" pitchFamily="34" charset="0"/>
                <a:ea typeface="Cambria" pitchFamily="34" charset="-122"/>
                <a:cs typeface="Cambria" pitchFamily="34" charset="-120"/>
              </a:rPr>
              <a:t>γ (gamma): the cost knob</a:t>
            </a:r>
            <a:endParaRPr lang="en-US" sz="2200" dirty="0"/>
          </a:p>
        </p:txBody>
      </p:sp>
      <p:sp>
        <p:nvSpPr>
          <p:cNvPr id="5" name="Text 3"/>
          <p:cNvSpPr txBox="1"/>
          <p:nvPr/>
        </p:nvSpPr>
        <p:spPr>
          <a:xfrm>
            <a:off x="777240" y="2194560"/>
            <a:ext cx="493776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Sets how strongly energy differences are written into phases</a:t>
            </a:r>
            <a:endParaRPr lang="en-US" sz="1500" dirty="0"/>
          </a:p>
          <a:p>
            <a:pPr marL="342900" indent="-342900">
              <a:spcAft>
                <a:spcPts val="800"/>
              </a:spcAft>
              <a:buSzPct val="100000"/>
              <a:buChar char="•"/>
            </a:pPr>
            <a:r>
              <a:rPr lang="en-US" sz="1500" dirty="0">
                <a:solidFill>
                  <a:schemeClr val="tx1"/>
                </a:solidFill>
              </a:rPr>
              <a:t>Too small: good and bad bitstrings look alike</a:t>
            </a:r>
            <a:endParaRPr lang="en-US" sz="1500" dirty="0"/>
          </a:p>
          <a:p>
            <a:pPr marL="342900" indent="-342900">
              <a:spcAft>
                <a:spcPts val="800"/>
              </a:spcAft>
              <a:buSzPct val="100000"/>
              <a:buChar char="•"/>
            </a:pPr>
            <a:r>
              <a:rPr lang="en-US" sz="1500" dirty="0">
                <a:solidFill>
                  <a:schemeClr val="tx1"/>
                </a:solidFill>
              </a:rPr>
              <a:t>Too large: phases wrap around and the pattern scrambles (γ is periodic)</a:t>
            </a:r>
            <a:endParaRPr lang="en-US" sz="1500" dirty="0"/>
          </a:p>
          <a:p>
            <a:pPr marL="342900" indent="-342900">
              <a:spcAft>
                <a:spcPts val="800"/>
              </a:spcAft>
              <a:buSzPct val="100000"/>
              <a:buChar char="•"/>
            </a:pPr>
            <a:r>
              <a:rPr lang="en-US" sz="1500" dirty="0">
                <a:solidFill>
                  <a:schemeClr val="tx1"/>
                </a:solidFill>
              </a:rPr>
              <a:t>In the circuit: one RZZ(2γ) gate on every edge</a:t>
            </a:r>
            <a:endParaRPr lang="en-US" sz="1500" dirty="0"/>
          </a:p>
        </p:txBody>
      </p:sp>
      <p:sp>
        <p:nvSpPr>
          <p:cNvPr id="6" name="beta-card"/>
          <p:cNvSpPr/>
          <p:nvPr/>
        </p:nvSpPr>
        <p:spPr>
          <a:xfrm>
            <a:off x="6217920" y="1463040"/>
            <a:ext cx="5394960" cy="3108960"/>
          </a:xfrm>
          <a:prstGeom prst="roundRect">
            <a:avLst>
              <a:gd name="adj" fmla="val 3529"/>
            </a:avLst>
          </a:prstGeom>
          <a:solidFill>
            <a:schemeClr val="bg2"/>
          </a:solidFill>
          <a:ln w="12700">
            <a:solidFill>
              <a:schemeClr val="bg2"/>
            </a:solidFill>
            <a:prstDash val="solid"/>
          </a:ln>
        </p:spPr>
        <p:txBody>
          <a:bodyPr/>
          <a:lstStyle/>
          <a:p>
            <a:endParaRPr lang="en-US"/>
          </a:p>
        </p:txBody>
      </p:sp>
      <p:sp>
        <p:nvSpPr>
          <p:cNvPr id="7" name="Text 5"/>
          <p:cNvSpPr txBox="1"/>
          <p:nvPr/>
        </p:nvSpPr>
        <p:spPr>
          <a:xfrm>
            <a:off x="6446520" y="1600200"/>
            <a:ext cx="4937760" cy="457200"/>
          </a:xfrm>
          <a:prstGeom prst="rect">
            <a:avLst/>
          </a:prstGeom>
          <a:noFill/>
          <a:ln/>
        </p:spPr>
        <p:txBody>
          <a:bodyPr wrap="square" lIns="0" tIns="0" rIns="0" bIns="0" rtlCol="0" anchor="t"/>
          <a:lstStyle/>
          <a:p>
            <a:pPr marL="0" indent="0">
              <a:buNone/>
            </a:pPr>
            <a:r>
              <a:rPr lang="en-US" sz="2200" b="1" dirty="0">
                <a:solidFill>
                  <a:schemeClr val="accent1"/>
                </a:solidFill>
                <a:latin typeface="Cambria" pitchFamily="34" charset="0"/>
                <a:ea typeface="Cambria" pitchFamily="34" charset="-122"/>
                <a:cs typeface="Cambria" pitchFamily="34" charset="-120"/>
              </a:rPr>
              <a:t>β (beta): the mixer knob</a:t>
            </a:r>
            <a:endParaRPr lang="en-US" sz="2200" dirty="0"/>
          </a:p>
        </p:txBody>
      </p:sp>
      <p:sp>
        <p:nvSpPr>
          <p:cNvPr id="8" name="Text 6"/>
          <p:cNvSpPr txBox="1"/>
          <p:nvPr/>
        </p:nvSpPr>
        <p:spPr>
          <a:xfrm>
            <a:off x="6446520" y="2194560"/>
            <a:ext cx="493776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Sets how far each qubit is rotated from 0 toward 1</a:t>
            </a:r>
            <a:endParaRPr lang="en-US" sz="1500" dirty="0"/>
          </a:p>
          <a:p>
            <a:pPr marL="342900" indent="-342900">
              <a:spcAft>
                <a:spcPts val="800"/>
              </a:spcAft>
              <a:buSzPct val="100000"/>
              <a:buChar char="•"/>
            </a:pPr>
            <a:r>
              <a:rPr lang="en-US" sz="1500" dirty="0">
                <a:solidFill>
                  <a:schemeClr val="tx1"/>
                </a:solidFill>
              </a:rPr>
              <a:t>β = 0: no mixing, nothing moves</a:t>
            </a:r>
            <a:endParaRPr lang="en-US" sz="1500" dirty="0"/>
          </a:p>
          <a:p>
            <a:pPr marL="342900" indent="-342900">
              <a:spcAft>
                <a:spcPts val="800"/>
              </a:spcAft>
              <a:buSzPct val="100000"/>
              <a:buChar char="•"/>
            </a:pPr>
            <a:r>
              <a:rPr lang="en-US" sz="1500" dirty="0">
                <a:solidFill>
                  <a:schemeClr val="tx1"/>
                </a:solidFill>
              </a:rPr>
              <a:t>β = π/2: RX(2β) is a full bit flip; values in between mix partially</a:t>
            </a:r>
            <a:endParaRPr lang="en-US" sz="1500" dirty="0"/>
          </a:p>
          <a:p>
            <a:pPr marL="342900" indent="-342900">
              <a:spcAft>
                <a:spcPts val="800"/>
              </a:spcAft>
              <a:buSzPct val="100000"/>
              <a:buChar char="•"/>
            </a:pPr>
            <a:r>
              <a:rPr lang="en-US" sz="1500" dirty="0">
                <a:solidFill>
                  <a:schemeClr val="tx1"/>
                </a:solidFill>
              </a:rPr>
              <a:t>In the circuit: one RX(2β) gate on every qubit</a:t>
            </a:r>
            <a:endParaRPr lang="en-US" sz="1500" dirty="0"/>
          </a:p>
        </p:txBody>
      </p:sp>
      <p:sp>
        <p:nvSpPr>
          <p:cNvPr id="9" name="angles-card"/>
          <p:cNvSpPr/>
          <p:nvPr/>
        </p:nvSpPr>
        <p:spPr>
          <a:xfrm>
            <a:off x="548640" y="4800600"/>
            <a:ext cx="1106424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0" name="Text 8"/>
          <p:cNvSpPr txBox="1"/>
          <p:nvPr/>
        </p:nvSpPr>
        <p:spPr>
          <a:xfrm>
            <a:off x="822960" y="4846320"/>
            <a:ext cx="10515600" cy="1280160"/>
          </a:xfrm>
          <a:prstGeom prst="rect">
            <a:avLst/>
          </a:prstGeom>
          <a:noFill/>
          <a:ln/>
        </p:spPr>
        <p:txBody>
          <a:bodyPr wrap="square" lIns="0" tIns="0" rIns="0" bIns="0" rtlCol="0" anchor="ctr"/>
          <a:lstStyle/>
          <a:p>
            <a:pPr marL="0" indent="0">
              <a:buNone/>
            </a:pPr>
            <a:r>
              <a:rPr lang="en-US" sz="1600" b="1" dirty="0">
                <a:solidFill>
                  <a:schemeClr val="tx1"/>
                </a:solidFill>
              </a:rPr>
              <a:t>With p layers there are 2p angles. </a:t>
            </a:r>
            <a:r>
              <a:rPr lang="en-US" sz="1600" dirty="0">
                <a:solidFill>
                  <a:schemeClr val="tx1"/>
                </a:solidFill>
              </a:rPr>
              <a:t>The notebook uses p = 2 (four angles) on 5 nodes . No formula gives the best angles in advance, so COBYLA searches for them, starting from β = π/2 and γ = π.</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Why does QAOA work? Intuition</a:t>
            </a:r>
            <a:endParaRPr lang="en-US" sz="3400" dirty="0"/>
          </a:p>
        </p:txBody>
      </p:sp>
      <p:sp>
        <p:nvSpPr>
          <p:cNvPr id="3" name="why-card-0"/>
          <p:cNvSpPr/>
          <p:nvPr/>
        </p:nvSpPr>
        <p:spPr>
          <a:xfrm>
            <a:off x="548640" y="1508760"/>
            <a:ext cx="3520440" cy="2834640"/>
          </a:xfrm>
          <a:prstGeom prst="roundRect">
            <a:avLst>
              <a:gd name="adj" fmla="val 3871"/>
            </a:avLst>
          </a:prstGeom>
          <a:solidFill>
            <a:schemeClr val="bg2"/>
          </a:solidFill>
          <a:ln w="12700">
            <a:solidFill>
              <a:schemeClr val="bg2"/>
            </a:solidFill>
            <a:prstDash val="solid"/>
          </a:ln>
        </p:spPr>
        <p:txBody>
          <a:bodyPr/>
          <a:lstStyle/>
          <a:p>
            <a:endParaRPr lang="en-US"/>
          </a:p>
        </p:txBody>
      </p:sp>
      <p:sp>
        <p:nvSpPr>
          <p:cNvPr id="4" name="badge-1"/>
          <p:cNvSpPr/>
          <p:nvPr/>
        </p:nvSpPr>
        <p:spPr>
          <a:xfrm>
            <a:off x="77724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777240" y="2423160"/>
            <a:ext cx="306324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Cost layer</a:t>
            </a:r>
            <a:endParaRPr lang="en-US" sz="2000" dirty="0"/>
          </a:p>
        </p:txBody>
      </p:sp>
      <p:sp>
        <p:nvSpPr>
          <p:cNvPr id="6" name="Text 4"/>
          <p:cNvSpPr txBox="1"/>
          <p:nvPr/>
        </p:nvSpPr>
        <p:spPr>
          <a:xfrm>
            <a:off x="777240" y="2971800"/>
            <a:ext cx="3063240" cy="1280160"/>
          </a:xfrm>
          <a:prstGeom prst="rect">
            <a:avLst/>
          </a:prstGeom>
          <a:noFill/>
          <a:ln/>
        </p:spPr>
        <p:txBody>
          <a:bodyPr wrap="square" lIns="0" tIns="0" rIns="0" bIns="0" rtlCol="0" anchor="t"/>
          <a:lstStyle/>
          <a:p>
            <a:pPr marL="0" indent="0">
              <a:buNone/>
            </a:pPr>
            <a:r>
              <a:rPr lang="en-US" sz="1500" dirty="0">
                <a:solidFill>
                  <a:schemeClr val="tx1"/>
                </a:solidFill>
              </a:rPr>
              <a:t>Gives every bitstring a phase that depends on its energy. Probabilities do not change yet.</a:t>
            </a:r>
            <a:endParaRPr lang="en-US" sz="1500" dirty="0"/>
          </a:p>
        </p:txBody>
      </p:sp>
      <p:sp>
        <p:nvSpPr>
          <p:cNvPr id="7" name="why-card-1"/>
          <p:cNvSpPr/>
          <p:nvPr/>
        </p:nvSpPr>
        <p:spPr>
          <a:xfrm>
            <a:off x="4343400" y="1508760"/>
            <a:ext cx="3520440" cy="2834640"/>
          </a:xfrm>
          <a:prstGeom prst="roundRect">
            <a:avLst>
              <a:gd name="adj" fmla="val 3871"/>
            </a:avLst>
          </a:prstGeom>
          <a:solidFill>
            <a:schemeClr val="bg2"/>
          </a:solidFill>
          <a:ln w="12700">
            <a:solidFill>
              <a:schemeClr val="bg2"/>
            </a:solidFill>
            <a:prstDash val="solid"/>
          </a:ln>
        </p:spPr>
        <p:txBody>
          <a:bodyPr/>
          <a:lstStyle/>
          <a:p>
            <a:endParaRPr lang="en-US"/>
          </a:p>
        </p:txBody>
      </p:sp>
      <p:sp>
        <p:nvSpPr>
          <p:cNvPr id="8" name="badge-2"/>
          <p:cNvSpPr/>
          <p:nvPr/>
        </p:nvSpPr>
        <p:spPr>
          <a:xfrm>
            <a:off x="457200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9" name="Text 7"/>
          <p:cNvSpPr txBox="1"/>
          <p:nvPr/>
        </p:nvSpPr>
        <p:spPr>
          <a:xfrm>
            <a:off x="4572000" y="2423160"/>
            <a:ext cx="306324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Mixer layer</a:t>
            </a:r>
            <a:endParaRPr lang="en-US" sz="2000" dirty="0"/>
          </a:p>
        </p:txBody>
      </p:sp>
      <p:sp>
        <p:nvSpPr>
          <p:cNvPr id="10" name="Text 8"/>
          <p:cNvSpPr txBox="1"/>
          <p:nvPr/>
        </p:nvSpPr>
        <p:spPr>
          <a:xfrm>
            <a:off x="4572000" y="2971800"/>
            <a:ext cx="3063240" cy="1280160"/>
          </a:xfrm>
          <a:prstGeom prst="rect">
            <a:avLst/>
          </a:prstGeom>
          <a:noFill/>
          <a:ln/>
        </p:spPr>
        <p:txBody>
          <a:bodyPr wrap="square" lIns="0" tIns="0" rIns="0" bIns="0" rtlCol="0" anchor="t"/>
          <a:lstStyle/>
          <a:p>
            <a:pPr marL="0" indent="0">
              <a:buNone/>
            </a:pPr>
            <a:r>
              <a:rPr lang="en-US" sz="1500" dirty="0">
                <a:solidFill>
                  <a:schemeClr val="tx1"/>
                </a:solidFill>
              </a:rPr>
              <a:t>Interference turns those phase differences into probability differences, shifting weight toward some bitstrings.</a:t>
            </a:r>
            <a:endParaRPr lang="en-US" sz="1500" dirty="0"/>
          </a:p>
        </p:txBody>
      </p:sp>
      <p:sp>
        <p:nvSpPr>
          <p:cNvPr id="11" name="why-card-2"/>
          <p:cNvSpPr/>
          <p:nvPr/>
        </p:nvSpPr>
        <p:spPr>
          <a:xfrm>
            <a:off x="8138160" y="1508760"/>
            <a:ext cx="3520440" cy="2834640"/>
          </a:xfrm>
          <a:prstGeom prst="roundRect">
            <a:avLst>
              <a:gd name="adj" fmla="val 3871"/>
            </a:avLst>
          </a:prstGeom>
          <a:solidFill>
            <a:schemeClr val="bg2"/>
          </a:solidFill>
          <a:ln w="12700">
            <a:solidFill>
              <a:schemeClr val="bg2"/>
            </a:solidFill>
            <a:prstDash val="solid"/>
          </a:ln>
        </p:spPr>
        <p:txBody>
          <a:bodyPr/>
          <a:lstStyle/>
          <a:p>
            <a:endParaRPr lang="en-US"/>
          </a:p>
        </p:txBody>
      </p:sp>
      <p:sp>
        <p:nvSpPr>
          <p:cNvPr id="12" name="badge-3"/>
          <p:cNvSpPr/>
          <p:nvPr/>
        </p:nvSpPr>
        <p:spPr>
          <a:xfrm>
            <a:off x="836676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3" name="Text 11"/>
          <p:cNvSpPr txBox="1"/>
          <p:nvPr/>
        </p:nvSpPr>
        <p:spPr>
          <a:xfrm>
            <a:off x="8366760" y="2423160"/>
            <a:ext cx="306324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Repeat and tune</a:t>
            </a:r>
            <a:endParaRPr lang="en-US" sz="2000" dirty="0"/>
          </a:p>
        </p:txBody>
      </p:sp>
      <p:sp>
        <p:nvSpPr>
          <p:cNvPr id="14" name="Text 12"/>
          <p:cNvSpPr txBox="1"/>
          <p:nvPr/>
        </p:nvSpPr>
        <p:spPr>
          <a:xfrm>
            <a:off x="8366760" y="2971800"/>
            <a:ext cx="3063240" cy="1280160"/>
          </a:xfrm>
          <a:prstGeom prst="rect">
            <a:avLst/>
          </a:prstGeom>
          <a:noFill/>
          <a:ln/>
        </p:spPr>
        <p:txBody>
          <a:bodyPr wrap="square" lIns="0" tIns="0" rIns="0" bIns="0" rtlCol="0" anchor="t"/>
          <a:lstStyle/>
          <a:p>
            <a:pPr marL="0" indent="0">
              <a:buNone/>
            </a:pPr>
            <a:r>
              <a:rPr lang="en-US" sz="1500" dirty="0">
                <a:solidFill>
                  <a:schemeClr val="tx1"/>
                </a:solidFill>
              </a:rPr>
              <a:t>The optimizer picks angles so that low-energy bitstrings reinforce each other and high-energy ones cancel.</a:t>
            </a:r>
            <a:endParaRPr lang="en-US" sz="1500" dirty="0"/>
          </a:p>
        </p:txBody>
      </p:sp>
      <p:sp>
        <p:nvSpPr>
          <p:cNvPr id="15" name="Text 13"/>
          <p:cNvSpPr txBox="1"/>
          <p:nvPr/>
        </p:nvSpPr>
        <p:spPr>
          <a:xfrm>
            <a:off x="548640" y="4572000"/>
            <a:ext cx="1106424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As the number of layers p grows, QAOA can mimic a slow (adiabatic) drift toward the ground state</a:t>
            </a:r>
            <a:endParaRPr lang="en-US" sz="1600" dirty="0"/>
          </a:p>
          <a:p>
            <a:pPr marL="342900" indent="-342900">
              <a:spcAft>
                <a:spcPts val="800"/>
              </a:spcAft>
              <a:buSzPct val="100000"/>
              <a:buChar char="•"/>
            </a:pPr>
            <a:r>
              <a:rPr lang="en-US" sz="1600" dirty="0">
                <a:solidFill>
                  <a:schemeClr val="tx1"/>
                </a:solidFill>
              </a:rPr>
              <a:t>In practice p is small because noise limits circuit depth</a:t>
            </a:r>
            <a:endParaRPr lang="en-US" sz="1600" dirty="0"/>
          </a:p>
          <a:p>
            <a:pPr marL="342900" indent="-342900">
              <a:spcAft>
                <a:spcPts val="800"/>
              </a:spcAft>
              <a:buSzPct val="100000"/>
              <a:buChar char="•"/>
            </a:pPr>
            <a:r>
              <a:rPr lang="en-US" sz="1600" dirty="0">
                <a:solidFill>
                  <a:schemeClr val="tx1"/>
                </a:solidFill>
              </a:rPr>
              <a:t>Honest caveat: it is a heuristic; there is no guarantee it beats the best classical solvers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Check your understanding: Part C</a:t>
            </a:r>
            <a:endParaRPr lang="en-US" sz="3400" dirty="0"/>
          </a:p>
        </p:txBody>
      </p:sp>
      <p:sp>
        <p:nvSpPr>
          <p:cNvPr id="3" name="q-card-0"/>
          <p:cNvSpPr/>
          <p:nvPr/>
        </p:nvSpPr>
        <p:spPr>
          <a:xfrm>
            <a:off x="548640" y="1463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4" name="badge-1"/>
          <p:cNvSpPr/>
          <p:nvPr/>
        </p:nvSpPr>
        <p:spPr>
          <a:xfrm>
            <a:off x="777240" y="1668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1554480" y="1554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On the 5-node graph, x = 01010 cuts 4 edges. What is its energy under H_C?</a:t>
            </a:r>
            <a:endParaRPr lang="en-US" sz="1900" dirty="0"/>
          </a:p>
        </p:txBody>
      </p:sp>
      <p:sp>
        <p:nvSpPr>
          <p:cNvPr id="6" name="q-card-1"/>
          <p:cNvSpPr/>
          <p:nvPr/>
        </p:nvSpPr>
        <p:spPr>
          <a:xfrm>
            <a:off x="548640" y="2606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7" name="badge-2"/>
          <p:cNvSpPr/>
          <p:nvPr/>
        </p:nvSpPr>
        <p:spPr>
          <a:xfrm>
            <a:off x="777240" y="2811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8" name="Text 6"/>
          <p:cNvSpPr txBox="1"/>
          <p:nvPr/>
        </p:nvSpPr>
        <p:spPr>
          <a:xfrm>
            <a:off x="1554480" y="2697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How many angles does a QAOA circuit with p = 3 layers have?</a:t>
            </a:r>
            <a:endParaRPr lang="en-US" sz="1900" dirty="0"/>
          </a:p>
        </p:txBody>
      </p:sp>
      <p:sp>
        <p:nvSpPr>
          <p:cNvPr id="9" name="q-card-2"/>
          <p:cNvSpPr/>
          <p:nvPr/>
        </p:nvSpPr>
        <p:spPr>
          <a:xfrm>
            <a:off x="548640" y="3749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10" name="badge-3"/>
          <p:cNvSpPr/>
          <p:nvPr/>
        </p:nvSpPr>
        <p:spPr>
          <a:xfrm>
            <a:off x="777240" y="3954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1" name="Text 9"/>
          <p:cNvSpPr txBox="1"/>
          <p:nvPr/>
        </p:nvSpPr>
        <p:spPr>
          <a:xfrm>
            <a:off x="1554480" y="3840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What does the cost layer change: the probabilities, the phases, or both?</a:t>
            </a:r>
            <a:endParaRPr lang="en-US" sz="1900" dirty="0"/>
          </a:p>
        </p:txBody>
      </p:sp>
      <p:sp>
        <p:nvSpPr>
          <p:cNvPr id="12" name="q-card-3"/>
          <p:cNvSpPr/>
          <p:nvPr/>
        </p:nvSpPr>
        <p:spPr>
          <a:xfrm>
            <a:off x="548640" y="4892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13" name="badge-4"/>
          <p:cNvSpPr/>
          <p:nvPr/>
        </p:nvSpPr>
        <p:spPr>
          <a:xfrm>
            <a:off x="777240" y="5097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4" name="Text 12"/>
          <p:cNvSpPr txBox="1"/>
          <p:nvPr/>
        </p:nvSpPr>
        <p:spPr>
          <a:xfrm>
            <a:off x="1554480" y="4983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What does the mixer layer do that the cost layer cannot?</a:t>
            </a:r>
            <a:endParaRPr lang="en-US" sz="1900" dirty="0"/>
          </a:p>
        </p:txBody>
      </p:sp>
      <p:sp>
        <p:nvSpPr>
          <p:cNvPr id="15" name="Text 13"/>
          <p:cNvSpPr txBox="1"/>
          <p:nvPr/>
        </p:nvSpPr>
        <p:spPr>
          <a:xfrm>
            <a:off x="548640" y="5989320"/>
            <a:ext cx="11064240" cy="320040"/>
          </a:xfrm>
          <a:prstGeom prst="rect">
            <a:avLst/>
          </a:prstGeom>
          <a:noFill/>
          <a:ln/>
        </p:spPr>
        <p:txBody>
          <a:bodyPr wrap="square" lIns="0" tIns="0" rIns="0" bIns="0" rtlCol="0" anchor="t"/>
          <a:lstStyle/>
          <a:p>
            <a:pPr marL="0" indent="0">
              <a:buNone/>
            </a:pPr>
            <a:r>
              <a:rPr lang="en-US" sz="1300" dirty="0">
                <a:solidFill>
                  <a:srgbClr val="000000"/>
                </a:solidFill>
              </a:rPr>
              <a:t>Think for a minute, discuss with a neighbour, then compare. Answers are in the speaker notes.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731520" y="1691640"/>
            <a:ext cx="7315200" cy="548640"/>
          </a:xfrm>
          <a:prstGeom prst="rect">
            <a:avLst/>
          </a:prstGeom>
          <a:noFill/>
          <a:ln/>
        </p:spPr>
        <p:txBody>
          <a:bodyPr wrap="square" lIns="0" tIns="0" rIns="0" bIns="0" rtlCol="0" anchor="t"/>
          <a:lstStyle/>
          <a:p>
            <a:pPr marL="0" indent="0">
              <a:buNone/>
            </a:pPr>
            <a:r>
              <a:rPr lang="en-US" sz="2400" b="1" dirty="0">
                <a:solidFill>
                  <a:schemeClr val="accent1"/>
                </a:solidFill>
                <a:latin typeface="Cambria" pitchFamily="34" charset="0"/>
                <a:ea typeface="Cambria" pitchFamily="34" charset="-122"/>
                <a:cs typeface="Cambria" pitchFamily="34" charset="-120"/>
              </a:rPr>
              <a:t>Part D</a:t>
            </a:r>
            <a:endParaRPr lang="en-US" sz="2400" dirty="0"/>
          </a:p>
        </p:txBody>
      </p:sp>
      <p:sp>
        <p:nvSpPr>
          <p:cNvPr id="3" name="Text 1"/>
          <p:cNvSpPr>
            <a:spLocks noGrp="1"/>
          </p:cNvSpPr>
          <p:nvPr>
            <p:ph type="title" idx="101" hasCustomPrompt="1"/>
          </p:nvPr>
        </p:nvSpPr>
        <p:spPr>
          <a:xfrm>
            <a:off x="731520" y="2331720"/>
            <a:ext cx="10698480" cy="1188720"/>
          </a:xfrm>
          <a:prstGeom prst="rect">
            <a:avLst/>
          </a:prstGeom>
          <a:noFill/>
          <a:ln/>
        </p:spPr>
        <p:txBody>
          <a:bodyPr wrap="square" lIns="0" tIns="0" rIns="0" bIns="0" rtlCol="0" anchor="ctr"/>
          <a:lstStyle/>
          <a:p>
            <a:pPr marL="0" indent="0" algn="l">
              <a:buNone/>
            </a:pPr>
            <a:r>
              <a:rPr lang="en-US" sz="4400" b="1" dirty="0">
                <a:solidFill>
                  <a:schemeClr val="bg1"/>
                </a:solidFill>
              </a:rPr>
              <a:t>Qiskit pattern on hardware</a:t>
            </a:r>
            <a:endParaRPr lang="en-US" sz="4400" dirty="0"/>
          </a:p>
        </p:txBody>
      </p:sp>
      <p:sp>
        <p:nvSpPr>
          <p:cNvPr id="4" name="Text 2"/>
          <p:cNvSpPr txBox="1"/>
          <p:nvPr/>
        </p:nvSpPr>
        <p:spPr>
          <a:xfrm>
            <a:off x="731520" y="3749040"/>
            <a:ext cx="8686800" cy="1097280"/>
          </a:xfrm>
          <a:prstGeom prst="rect">
            <a:avLst/>
          </a:prstGeom>
          <a:noFill/>
          <a:ln/>
        </p:spPr>
        <p:txBody>
          <a:bodyPr wrap="square" lIns="0" tIns="0" rIns="0" bIns="0" rtlCol="0" anchor="t"/>
          <a:lstStyle/>
          <a:p>
            <a:pPr marL="0" indent="0">
              <a:buNone/>
            </a:pPr>
            <a:r>
              <a:rPr lang="en-US" sz="2000" dirty="0">
                <a:solidFill>
                  <a:schemeClr val="bg2"/>
                </a:solidFill>
              </a:rPr>
              <a:t>Map, Optimize, Execute, Post-process: on the 5-node graph</a:t>
            </a:r>
            <a:endParaRPr lang="en-US" sz="2000" dirty="0"/>
          </a:p>
        </p:txBody>
      </p:sp>
      <p:sp>
        <p:nvSpPr>
          <p:cNvPr id="5" name="Text 3"/>
          <p:cNvSpPr txBox="1"/>
          <p:nvPr/>
        </p:nvSpPr>
        <p:spPr>
          <a:xfrm>
            <a:off x="731520" y="5120640"/>
            <a:ext cx="5486400" cy="457200"/>
          </a:xfrm>
          <a:prstGeom prst="rect">
            <a:avLst/>
          </a:prstGeom>
          <a:noFill/>
          <a:ln/>
        </p:spPr>
        <p:txBody>
          <a:bodyPr wrap="square" lIns="0" tIns="0" rIns="0" bIns="0" rtlCol="0" anchor="t"/>
          <a:lstStyle/>
          <a:p>
            <a:pPr marL="0" indent="0">
              <a:buNone/>
            </a:pPr>
            <a:r>
              <a:rPr lang="en-US" sz="1600" dirty="0">
                <a:solidFill>
                  <a:schemeClr val="accent2"/>
                </a:solidFill>
              </a:rPr>
              <a:t>about 25 minutes</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Qiskit patterns: a four-step workflow</a:t>
            </a:r>
            <a:endParaRPr lang="en-US" sz="3400" dirty="0"/>
          </a:p>
        </p:txBody>
      </p:sp>
      <p:sp>
        <p:nvSpPr>
          <p:cNvPr id="3" name="phase-card-0"/>
          <p:cNvSpPr/>
          <p:nvPr/>
        </p:nvSpPr>
        <p:spPr>
          <a:xfrm>
            <a:off x="548640" y="1554480"/>
            <a:ext cx="2560320" cy="32004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4" name="badge-1"/>
          <p:cNvSpPr/>
          <p:nvPr/>
        </p:nvSpPr>
        <p:spPr>
          <a:xfrm>
            <a:off x="73152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1417320" y="1737360"/>
            <a:ext cx="1554480" cy="54864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Map</a:t>
            </a:r>
            <a:endParaRPr lang="en-US" sz="2200" dirty="0"/>
          </a:p>
        </p:txBody>
      </p:sp>
      <p:sp>
        <p:nvSpPr>
          <p:cNvPr id="6" name="Text 4"/>
          <p:cNvSpPr txBox="1"/>
          <p:nvPr/>
        </p:nvSpPr>
        <p:spPr>
          <a:xfrm>
            <a:off x="731520" y="2468880"/>
            <a:ext cx="2194560" cy="1371600"/>
          </a:xfrm>
          <a:prstGeom prst="rect">
            <a:avLst/>
          </a:prstGeom>
          <a:noFill/>
          <a:ln/>
        </p:spPr>
        <p:txBody>
          <a:bodyPr wrap="square" lIns="0" tIns="0" rIns="0" bIns="0" rtlCol="0" anchor="t"/>
          <a:lstStyle/>
          <a:p>
            <a:pPr marL="0" indent="0">
              <a:buNone/>
            </a:pPr>
            <a:r>
              <a:rPr lang="en-US" sz="1500" dirty="0">
                <a:solidFill>
                  <a:schemeClr val="tx1"/>
                </a:solidFill>
              </a:rPr>
              <a:t>Graph to cost Hamiltonian and parameterized ansatz</a:t>
            </a:r>
            <a:endParaRPr lang="en-US" sz="1500" dirty="0"/>
          </a:p>
        </p:txBody>
      </p:sp>
      <p:sp>
        <p:nvSpPr>
          <p:cNvPr id="7" name="Text 5"/>
          <p:cNvSpPr txBox="1"/>
          <p:nvPr/>
        </p:nvSpPr>
        <p:spPr>
          <a:xfrm>
            <a:off x="731520" y="3931920"/>
            <a:ext cx="2194560" cy="640080"/>
          </a:xfrm>
          <a:prstGeom prst="rect">
            <a:avLst/>
          </a:prstGeom>
          <a:noFill/>
          <a:ln/>
        </p:spPr>
        <p:txBody>
          <a:bodyPr wrap="square" lIns="0" tIns="0" rIns="0" bIns="0" rtlCol="0" anchor="t"/>
          <a:lstStyle/>
          <a:p>
            <a:pPr marL="0" indent="0">
              <a:buNone/>
            </a:pPr>
            <a:r>
              <a:rPr lang="en-US" sz="1400" b="1" dirty="0">
                <a:solidFill>
                  <a:schemeClr val="accent3"/>
                </a:solidFill>
              </a:rPr>
              <a:t>Part C, steps 1 to 4</a:t>
            </a:r>
            <a:endParaRPr lang="en-US" sz="1400" dirty="0"/>
          </a:p>
        </p:txBody>
      </p:sp>
      <p:sp>
        <p:nvSpPr>
          <p:cNvPr id="8" name="Shape 6"/>
          <p:cNvSpPr/>
          <p:nvPr/>
        </p:nvSpPr>
        <p:spPr>
          <a:xfrm>
            <a:off x="3127248" y="2926080"/>
            <a:ext cx="237744" cy="365760"/>
          </a:xfrm>
          <a:prstGeom prst="rightArrow">
            <a:avLst/>
          </a:prstGeom>
          <a:solidFill>
            <a:schemeClr val="accent1"/>
          </a:solidFill>
          <a:ln w="12700">
            <a:solidFill>
              <a:schemeClr val="accent1"/>
            </a:solidFill>
            <a:prstDash val="solid"/>
          </a:ln>
        </p:spPr>
        <p:txBody>
          <a:bodyPr/>
          <a:lstStyle/>
          <a:p>
            <a:endParaRPr lang="en-US"/>
          </a:p>
        </p:txBody>
      </p:sp>
      <p:sp>
        <p:nvSpPr>
          <p:cNvPr id="9" name="phase-card-1"/>
          <p:cNvSpPr/>
          <p:nvPr/>
        </p:nvSpPr>
        <p:spPr>
          <a:xfrm>
            <a:off x="3383280" y="1554480"/>
            <a:ext cx="2560320" cy="32004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0" name="badge-2"/>
          <p:cNvSpPr/>
          <p:nvPr/>
        </p:nvSpPr>
        <p:spPr>
          <a:xfrm>
            <a:off x="356616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9"/>
          <p:cNvSpPr txBox="1"/>
          <p:nvPr/>
        </p:nvSpPr>
        <p:spPr>
          <a:xfrm>
            <a:off x="4251960" y="1737360"/>
            <a:ext cx="1554480" cy="54864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Optimize</a:t>
            </a:r>
            <a:endParaRPr lang="en-US" sz="2200" dirty="0"/>
          </a:p>
        </p:txBody>
      </p:sp>
      <p:sp>
        <p:nvSpPr>
          <p:cNvPr id="12" name="Text 10"/>
          <p:cNvSpPr txBox="1"/>
          <p:nvPr/>
        </p:nvSpPr>
        <p:spPr>
          <a:xfrm>
            <a:off x="3566160" y="2468880"/>
            <a:ext cx="2194560" cy="1371600"/>
          </a:xfrm>
          <a:prstGeom prst="rect">
            <a:avLst/>
          </a:prstGeom>
          <a:noFill/>
          <a:ln/>
        </p:spPr>
        <p:txBody>
          <a:bodyPr wrap="square" lIns="0" tIns="0" rIns="0" bIns="0" rtlCol="0" anchor="t"/>
          <a:lstStyle/>
          <a:p>
            <a:pPr marL="0" indent="0">
              <a:buNone/>
            </a:pPr>
            <a:r>
              <a:rPr lang="en-US" sz="1500" dirty="0">
                <a:solidFill>
                  <a:schemeClr val="tx1"/>
                </a:solidFill>
              </a:rPr>
              <a:t>Transpile the circuit for the chosen device</a:t>
            </a:r>
            <a:endParaRPr lang="en-US" sz="1500" dirty="0"/>
          </a:p>
        </p:txBody>
      </p:sp>
      <p:sp>
        <p:nvSpPr>
          <p:cNvPr id="13" name="Text 11"/>
          <p:cNvSpPr txBox="1"/>
          <p:nvPr/>
        </p:nvSpPr>
        <p:spPr>
          <a:xfrm>
            <a:off x="3566160" y="3931920"/>
            <a:ext cx="2194560" cy="640080"/>
          </a:xfrm>
          <a:prstGeom prst="rect">
            <a:avLst/>
          </a:prstGeom>
          <a:noFill/>
          <a:ln/>
        </p:spPr>
        <p:txBody>
          <a:bodyPr wrap="square" lIns="0" tIns="0" rIns="0" bIns="0" rtlCol="0" anchor="t"/>
          <a:lstStyle/>
          <a:p>
            <a:pPr marL="0" indent="0">
              <a:buNone/>
            </a:pPr>
            <a:r>
              <a:rPr lang="en-US" sz="1400" b="1" dirty="0">
                <a:solidFill>
                  <a:schemeClr val="accent3"/>
                </a:solidFill>
              </a:rPr>
              <a:t>preset pass manager</a:t>
            </a:r>
            <a:endParaRPr lang="en-US" sz="1400" dirty="0"/>
          </a:p>
        </p:txBody>
      </p:sp>
      <p:sp>
        <p:nvSpPr>
          <p:cNvPr id="14" name="Shape 12"/>
          <p:cNvSpPr/>
          <p:nvPr/>
        </p:nvSpPr>
        <p:spPr>
          <a:xfrm>
            <a:off x="5961888" y="2926080"/>
            <a:ext cx="237744" cy="365760"/>
          </a:xfrm>
          <a:prstGeom prst="rightArrow">
            <a:avLst/>
          </a:prstGeom>
          <a:solidFill>
            <a:schemeClr val="accent1"/>
          </a:solidFill>
          <a:ln w="12700">
            <a:solidFill>
              <a:schemeClr val="accent1"/>
            </a:solidFill>
            <a:prstDash val="solid"/>
          </a:ln>
        </p:spPr>
        <p:txBody>
          <a:bodyPr/>
          <a:lstStyle/>
          <a:p>
            <a:endParaRPr lang="en-US"/>
          </a:p>
        </p:txBody>
      </p:sp>
      <p:sp>
        <p:nvSpPr>
          <p:cNvPr id="15" name="phase-card-2"/>
          <p:cNvSpPr/>
          <p:nvPr/>
        </p:nvSpPr>
        <p:spPr>
          <a:xfrm>
            <a:off x="6217920" y="1554480"/>
            <a:ext cx="2560320" cy="32004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6" name="badge-3"/>
          <p:cNvSpPr/>
          <p:nvPr/>
        </p:nvSpPr>
        <p:spPr>
          <a:xfrm>
            <a:off x="640080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7" name="Text 15"/>
          <p:cNvSpPr txBox="1"/>
          <p:nvPr/>
        </p:nvSpPr>
        <p:spPr>
          <a:xfrm>
            <a:off x="7086600" y="1737360"/>
            <a:ext cx="1554480" cy="54864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Execute</a:t>
            </a:r>
            <a:endParaRPr lang="en-US" sz="2200" dirty="0"/>
          </a:p>
        </p:txBody>
      </p:sp>
      <p:sp>
        <p:nvSpPr>
          <p:cNvPr id="18" name="Text 16"/>
          <p:cNvSpPr txBox="1"/>
          <p:nvPr/>
        </p:nvSpPr>
        <p:spPr>
          <a:xfrm>
            <a:off x="6400800" y="2468880"/>
            <a:ext cx="2194560" cy="1371600"/>
          </a:xfrm>
          <a:prstGeom prst="rect">
            <a:avLst/>
          </a:prstGeom>
          <a:noFill/>
          <a:ln/>
        </p:spPr>
        <p:txBody>
          <a:bodyPr wrap="square" lIns="0" tIns="0" rIns="0" bIns="0" rtlCol="0" anchor="t"/>
          <a:lstStyle/>
          <a:p>
            <a:pPr marL="0" indent="0">
              <a:buNone/>
            </a:pPr>
            <a:r>
              <a:rPr lang="en-US" sz="1500" dirty="0">
                <a:solidFill>
                  <a:schemeClr val="tx1"/>
                </a:solidFill>
              </a:rPr>
              <a:t>Run on the device with primitives; error handling on</a:t>
            </a:r>
            <a:endParaRPr lang="en-US" sz="1500" dirty="0"/>
          </a:p>
        </p:txBody>
      </p:sp>
      <p:sp>
        <p:nvSpPr>
          <p:cNvPr id="19" name="Text 17"/>
          <p:cNvSpPr txBox="1"/>
          <p:nvPr/>
        </p:nvSpPr>
        <p:spPr>
          <a:xfrm>
            <a:off x="6400800" y="3931920"/>
            <a:ext cx="2194560" cy="640080"/>
          </a:xfrm>
          <a:prstGeom prst="rect">
            <a:avLst/>
          </a:prstGeom>
          <a:noFill/>
          <a:ln/>
        </p:spPr>
        <p:txBody>
          <a:bodyPr wrap="square" lIns="0" tIns="0" rIns="0" bIns="0" rtlCol="0" anchor="t"/>
          <a:lstStyle/>
          <a:p>
            <a:pPr marL="0" indent="0">
              <a:buNone/>
            </a:pPr>
            <a:r>
              <a:rPr lang="en-US" sz="1400" b="1" dirty="0">
                <a:solidFill>
                  <a:schemeClr val="accent3"/>
                </a:solidFill>
              </a:rPr>
              <a:t>Estimator loop, then Sampler</a:t>
            </a:r>
            <a:endParaRPr lang="en-US" sz="1400" dirty="0"/>
          </a:p>
        </p:txBody>
      </p:sp>
      <p:sp>
        <p:nvSpPr>
          <p:cNvPr id="20" name="Shape 18"/>
          <p:cNvSpPr/>
          <p:nvPr/>
        </p:nvSpPr>
        <p:spPr>
          <a:xfrm>
            <a:off x="8796528" y="2926080"/>
            <a:ext cx="237744" cy="365760"/>
          </a:xfrm>
          <a:prstGeom prst="rightArrow">
            <a:avLst/>
          </a:prstGeom>
          <a:solidFill>
            <a:schemeClr val="accent1"/>
          </a:solidFill>
          <a:ln w="12700">
            <a:solidFill>
              <a:schemeClr val="accent1"/>
            </a:solidFill>
            <a:prstDash val="solid"/>
          </a:ln>
        </p:spPr>
        <p:txBody>
          <a:bodyPr/>
          <a:lstStyle/>
          <a:p>
            <a:endParaRPr lang="en-US"/>
          </a:p>
        </p:txBody>
      </p:sp>
      <p:sp>
        <p:nvSpPr>
          <p:cNvPr id="21" name="phase-card-3"/>
          <p:cNvSpPr/>
          <p:nvPr/>
        </p:nvSpPr>
        <p:spPr>
          <a:xfrm>
            <a:off x="9052560" y="1554480"/>
            <a:ext cx="2560320" cy="32004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22" name="badge-4"/>
          <p:cNvSpPr/>
          <p:nvPr/>
        </p:nvSpPr>
        <p:spPr>
          <a:xfrm>
            <a:off x="923544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23" name="Text 21"/>
          <p:cNvSpPr txBox="1"/>
          <p:nvPr/>
        </p:nvSpPr>
        <p:spPr>
          <a:xfrm>
            <a:off x="9921240" y="1737360"/>
            <a:ext cx="1554480" cy="54864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Post-process</a:t>
            </a:r>
            <a:endParaRPr lang="en-US" sz="2200" dirty="0"/>
          </a:p>
        </p:txBody>
      </p:sp>
      <p:sp>
        <p:nvSpPr>
          <p:cNvPr id="24" name="Text 22"/>
          <p:cNvSpPr txBox="1"/>
          <p:nvPr/>
        </p:nvSpPr>
        <p:spPr>
          <a:xfrm>
            <a:off x="9235440" y="2468880"/>
            <a:ext cx="2194560" cy="1371600"/>
          </a:xfrm>
          <a:prstGeom prst="rect">
            <a:avLst/>
          </a:prstGeom>
          <a:noFill/>
          <a:ln/>
        </p:spPr>
        <p:txBody>
          <a:bodyPr wrap="square" lIns="0" tIns="0" rIns="0" bIns="0" rtlCol="0" anchor="t"/>
          <a:lstStyle/>
          <a:p>
            <a:pPr marL="0" indent="0">
              <a:buNone/>
            </a:pPr>
            <a:r>
              <a:rPr lang="en-US" sz="1500" dirty="0">
                <a:solidFill>
                  <a:schemeClr val="tx1"/>
                </a:solidFill>
              </a:rPr>
              <a:t>Turn samples into the answer; evaluate the cut</a:t>
            </a:r>
            <a:endParaRPr lang="en-US" sz="1500" dirty="0"/>
          </a:p>
        </p:txBody>
      </p:sp>
      <p:sp>
        <p:nvSpPr>
          <p:cNvPr id="25" name="Text 23"/>
          <p:cNvSpPr txBox="1"/>
          <p:nvPr/>
        </p:nvSpPr>
        <p:spPr>
          <a:xfrm>
            <a:off x="9235440" y="3931920"/>
            <a:ext cx="2194560" cy="640080"/>
          </a:xfrm>
          <a:prstGeom prst="rect">
            <a:avLst/>
          </a:prstGeom>
          <a:noFill/>
          <a:ln/>
        </p:spPr>
        <p:txBody>
          <a:bodyPr wrap="square" lIns="0" tIns="0" rIns="0" bIns="0" rtlCol="0" anchor="t"/>
          <a:lstStyle/>
          <a:p>
            <a:pPr marL="0" indent="0">
              <a:buNone/>
            </a:pPr>
            <a:r>
              <a:rPr lang="en-US" sz="1400" b="1" dirty="0">
                <a:solidFill>
                  <a:schemeClr val="accent3"/>
                </a:solidFill>
              </a:rPr>
              <a:t>best bitstring, cut value</a:t>
            </a:r>
            <a:endParaRPr lang="en-US" sz="1400" dirty="0"/>
          </a:p>
        </p:txBody>
      </p:sp>
      <p:sp>
        <p:nvSpPr>
          <p:cNvPr id="26" name="Text 24"/>
          <p:cNvSpPr txBox="1"/>
          <p:nvPr/>
        </p:nvSpPr>
        <p:spPr>
          <a:xfrm>
            <a:off x="548640" y="5029200"/>
            <a:ext cx="11064240" cy="914400"/>
          </a:xfrm>
          <a:prstGeom prst="rect">
            <a:avLst/>
          </a:prstGeom>
          <a:noFill/>
          <a:ln/>
        </p:spPr>
        <p:txBody>
          <a:bodyPr wrap="square" lIns="0" tIns="0" rIns="0" bIns="0" rtlCol="0" anchor="t"/>
          <a:lstStyle/>
          <a:p>
            <a:pPr marL="0" indent="0">
              <a:buNone/>
            </a:pPr>
            <a:r>
              <a:rPr lang="en-US" sz="1800" dirty="0">
                <a:solidFill>
                  <a:schemeClr val="tx1"/>
                </a:solidFill>
              </a:rPr>
              <a:t>The notebook is organized exactly this way: Step 1 Map, Step 2 Optimize, Step 3 Execute, Step 4 Post-process. The five-node example follows these four steps.</a:t>
            </a:r>
            <a:endParaRPr lang="en-US" sz="18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Why transpile? The chip is not fully connected</a:t>
            </a:r>
            <a:endParaRPr lang="en-US" sz="3400" dirty="0"/>
          </a:p>
        </p:txBody>
      </p:sp>
      <p:sp>
        <p:nvSpPr>
          <p:cNvPr id="3" name="Shape 1"/>
          <p:cNvSpPr/>
          <p:nvPr/>
        </p:nvSpPr>
        <p:spPr>
          <a:xfrm>
            <a:off x="1257300" y="3291840"/>
            <a:ext cx="548640" cy="0"/>
          </a:xfrm>
          <a:prstGeom prst="line">
            <a:avLst/>
          </a:prstGeom>
          <a:noFill/>
          <a:ln w="38100">
            <a:solidFill>
              <a:schemeClr val="accent6"/>
            </a:solidFill>
            <a:prstDash val="solid"/>
          </a:ln>
        </p:spPr>
        <p:txBody>
          <a:bodyPr/>
          <a:lstStyle/>
          <a:p>
            <a:endParaRPr lang="en-US"/>
          </a:p>
        </p:txBody>
      </p:sp>
      <p:sp>
        <p:nvSpPr>
          <p:cNvPr id="4" name="Shape 2"/>
          <p:cNvSpPr/>
          <p:nvPr/>
        </p:nvSpPr>
        <p:spPr>
          <a:xfrm>
            <a:off x="2491740" y="3291840"/>
            <a:ext cx="548640" cy="0"/>
          </a:xfrm>
          <a:prstGeom prst="line">
            <a:avLst/>
          </a:prstGeom>
          <a:noFill/>
          <a:ln w="38100">
            <a:solidFill>
              <a:schemeClr val="accent6"/>
            </a:solidFill>
            <a:prstDash val="solid"/>
          </a:ln>
        </p:spPr>
        <p:txBody>
          <a:bodyPr/>
          <a:lstStyle/>
          <a:p>
            <a:endParaRPr lang="en-US"/>
          </a:p>
        </p:txBody>
      </p:sp>
      <p:sp>
        <p:nvSpPr>
          <p:cNvPr id="5" name="Shape 3"/>
          <p:cNvSpPr/>
          <p:nvPr/>
        </p:nvSpPr>
        <p:spPr>
          <a:xfrm>
            <a:off x="3726180" y="3291840"/>
            <a:ext cx="548640" cy="0"/>
          </a:xfrm>
          <a:prstGeom prst="line">
            <a:avLst/>
          </a:prstGeom>
          <a:noFill/>
          <a:ln w="38100">
            <a:solidFill>
              <a:schemeClr val="accent6"/>
            </a:solidFill>
            <a:prstDash val="solid"/>
          </a:ln>
        </p:spPr>
        <p:txBody>
          <a:bodyPr/>
          <a:lstStyle/>
          <a:p>
            <a:endParaRPr lang="en-US"/>
          </a:p>
        </p:txBody>
      </p:sp>
      <p:sp>
        <p:nvSpPr>
          <p:cNvPr id="6" name="Shape 4"/>
          <p:cNvSpPr/>
          <p:nvPr/>
        </p:nvSpPr>
        <p:spPr>
          <a:xfrm>
            <a:off x="4960620" y="3291840"/>
            <a:ext cx="548640" cy="0"/>
          </a:xfrm>
          <a:prstGeom prst="line">
            <a:avLst/>
          </a:prstGeom>
          <a:noFill/>
          <a:ln w="38100">
            <a:solidFill>
              <a:schemeClr val="accent6"/>
            </a:solidFill>
            <a:prstDash val="solid"/>
          </a:ln>
        </p:spPr>
        <p:txBody>
          <a:bodyPr/>
          <a:lstStyle/>
          <a:p>
            <a:endParaRPr lang="en-US"/>
          </a:p>
        </p:txBody>
      </p:sp>
      <p:sp>
        <p:nvSpPr>
          <p:cNvPr id="7" name="phys-0"/>
          <p:cNvSpPr/>
          <p:nvPr/>
        </p:nvSpPr>
        <p:spPr>
          <a:xfrm>
            <a:off x="571500" y="2948940"/>
            <a:ext cx="685800" cy="68580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600" b="1" dirty="0">
                <a:solidFill>
                  <a:schemeClr val="tx1"/>
                </a:solidFill>
              </a:rPr>
              <a:t>A</a:t>
            </a:r>
            <a:endParaRPr lang="en-US" sz="1600" dirty="0"/>
          </a:p>
        </p:txBody>
      </p:sp>
      <p:sp>
        <p:nvSpPr>
          <p:cNvPr id="8" name="phys-1"/>
          <p:cNvSpPr/>
          <p:nvPr/>
        </p:nvSpPr>
        <p:spPr>
          <a:xfrm>
            <a:off x="1805940" y="2948940"/>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600" b="1" dirty="0">
                <a:solidFill>
                  <a:schemeClr val="bg1"/>
                </a:solidFill>
              </a:rPr>
              <a:t>P1</a:t>
            </a:r>
            <a:endParaRPr lang="en-US" sz="1600" dirty="0"/>
          </a:p>
        </p:txBody>
      </p:sp>
      <p:sp>
        <p:nvSpPr>
          <p:cNvPr id="9" name="phys-2"/>
          <p:cNvSpPr/>
          <p:nvPr/>
        </p:nvSpPr>
        <p:spPr>
          <a:xfrm>
            <a:off x="3040380" y="2948940"/>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600" b="1" dirty="0">
                <a:solidFill>
                  <a:schemeClr val="bg1"/>
                </a:solidFill>
              </a:rPr>
              <a:t>P2</a:t>
            </a:r>
            <a:endParaRPr lang="en-US" sz="1600" dirty="0"/>
          </a:p>
        </p:txBody>
      </p:sp>
      <p:sp>
        <p:nvSpPr>
          <p:cNvPr id="10" name="phys-3"/>
          <p:cNvSpPr/>
          <p:nvPr/>
        </p:nvSpPr>
        <p:spPr>
          <a:xfrm>
            <a:off x="4274820" y="2948940"/>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600" b="1" dirty="0">
                <a:solidFill>
                  <a:schemeClr val="bg1"/>
                </a:solidFill>
              </a:rPr>
              <a:t>P3</a:t>
            </a:r>
            <a:endParaRPr lang="en-US" sz="1600" dirty="0"/>
          </a:p>
        </p:txBody>
      </p:sp>
      <p:sp>
        <p:nvSpPr>
          <p:cNvPr id="11" name="phys-4"/>
          <p:cNvSpPr/>
          <p:nvPr/>
        </p:nvSpPr>
        <p:spPr>
          <a:xfrm>
            <a:off x="5509260" y="2948940"/>
            <a:ext cx="685800" cy="68580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600" b="1" dirty="0">
                <a:solidFill>
                  <a:schemeClr val="tx1"/>
                </a:solidFill>
              </a:rPr>
              <a:t>B</a:t>
            </a:r>
            <a:endParaRPr lang="en-US" sz="1600" dirty="0"/>
          </a:p>
        </p:txBody>
      </p:sp>
      <p:sp>
        <p:nvSpPr>
          <p:cNvPr id="12" name="Shape 10"/>
          <p:cNvSpPr/>
          <p:nvPr/>
        </p:nvSpPr>
        <p:spPr>
          <a:xfrm>
            <a:off x="914400" y="2286000"/>
            <a:ext cx="4937760" cy="0"/>
          </a:xfrm>
          <a:prstGeom prst="line">
            <a:avLst/>
          </a:prstGeom>
          <a:noFill/>
          <a:ln w="38100">
            <a:solidFill>
              <a:schemeClr val="accent4"/>
            </a:solidFill>
            <a:prstDash val="dash"/>
          </a:ln>
        </p:spPr>
        <p:txBody>
          <a:bodyPr/>
          <a:lstStyle/>
          <a:p>
            <a:endParaRPr lang="en-US"/>
          </a:p>
        </p:txBody>
      </p:sp>
      <p:sp>
        <p:nvSpPr>
          <p:cNvPr id="13" name="Text 11"/>
          <p:cNvSpPr txBox="1"/>
          <p:nvPr/>
        </p:nvSpPr>
        <p:spPr>
          <a:xfrm>
            <a:off x="548640" y="1783080"/>
            <a:ext cx="5852160" cy="365760"/>
          </a:xfrm>
          <a:prstGeom prst="rect">
            <a:avLst/>
          </a:prstGeom>
          <a:noFill/>
          <a:ln/>
        </p:spPr>
        <p:txBody>
          <a:bodyPr wrap="square" lIns="0" tIns="0" rIns="0" bIns="0" rtlCol="0" anchor="t"/>
          <a:lstStyle/>
          <a:p>
            <a:pPr marL="0" indent="0" algn="ctr">
              <a:buNone/>
            </a:pPr>
            <a:r>
              <a:rPr lang="en-US" sz="1500" b="1" dirty="0">
                <a:solidFill>
                  <a:schemeClr val="accent4"/>
                </a:solidFill>
              </a:rPr>
              <a:t>The circuit wants A and B to interact</a:t>
            </a:r>
            <a:endParaRPr lang="en-US" sz="1500" dirty="0"/>
          </a:p>
        </p:txBody>
      </p:sp>
      <p:sp>
        <p:nvSpPr>
          <p:cNvPr id="14" name="Text 12"/>
          <p:cNvSpPr txBox="1"/>
          <p:nvPr/>
        </p:nvSpPr>
        <p:spPr>
          <a:xfrm>
            <a:off x="548640" y="2697480"/>
            <a:ext cx="5852160" cy="320040"/>
          </a:xfrm>
          <a:prstGeom prst="rect">
            <a:avLst/>
          </a:prstGeom>
          <a:noFill/>
          <a:ln/>
        </p:spPr>
        <p:txBody>
          <a:bodyPr wrap="square" lIns="0" tIns="0" rIns="0" bIns="0" rtlCol="0" anchor="t"/>
          <a:lstStyle/>
          <a:p>
            <a:pPr marL="0" indent="0" algn="ctr">
              <a:buNone/>
            </a:pPr>
            <a:r>
              <a:rPr lang="en-US" sz="1300" dirty="0">
                <a:solidFill>
                  <a:schemeClr val="tx1"/>
                </a:solidFill>
              </a:rPr>
              <a:t>but the chip has no direct link between them</a:t>
            </a:r>
            <a:endParaRPr lang="en-US" sz="1300" dirty="0"/>
          </a:p>
        </p:txBody>
      </p:sp>
      <p:sp>
        <p:nvSpPr>
          <p:cNvPr id="15" name="Text 13"/>
          <p:cNvSpPr txBox="1"/>
          <p:nvPr/>
        </p:nvSpPr>
        <p:spPr>
          <a:xfrm>
            <a:off x="548640" y="3931920"/>
            <a:ext cx="5852160" cy="365760"/>
          </a:xfrm>
          <a:prstGeom prst="rect">
            <a:avLst/>
          </a:prstGeom>
          <a:noFill/>
          <a:ln/>
        </p:spPr>
        <p:txBody>
          <a:bodyPr wrap="square" lIns="0" tIns="0" rIns="0" bIns="0" rtlCol="0" anchor="t"/>
          <a:lstStyle/>
          <a:p>
            <a:pPr marL="0" indent="0" algn="ctr">
              <a:buNone/>
            </a:pPr>
            <a:r>
              <a:rPr lang="en-US" sz="1400" dirty="0">
                <a:solidFill>
                  <a:srgbClr val="000000"/>
                </a:solidFill>
              </a:rPr>
              <a:t>Physical qubits: two-qubit gates only between neighbours</a:t>
            </a:r>
            <a:endParaRPr lang="en-US" sz="1400" dirty="0"/>
          </a:p>
        </p:txBody>
      </p:sp>
      <p:sp>
        <p:nvSpPr>
          <p:cNvPr id="16" name="Text 14"/>
          <p:cNvSpPr txBox="1"/>
          <p:nvPr/>
        </p:nvSpPr>
        <p:spPr>
          <a:xfrm>
            <a:off x="6949440" y="1554480"/>
            <a:ext cx="466344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 real chip connects each qubit to only a few neighbours (IBM uses a heavy-hex pattern with 2 or 3 neighbours)</a:t>
            </a:r>
            <a:endParaRPr lang="en-US" sz="1500" dirty="0"/>
          </a:p>
          <a:p>
            <a:pPr marL="342900" indent="-342900">
              <a:spcAft>
                <a:spcPts val="800"/>
              </a:spcAft>
              <a:buSzPct val="100000"/>
              <a:buChar char="•"/>
            </a:pPr>
            <a:r>
              <a:rPr lang="en-US" sz="1500" dirty="0">
                <a:solidFill>
                  <a:schemeClr val="tx1"/>
                </a:solidFill>
              </a:rPr>
              <a:t>Our circuit asks for a two-qubit gate on every graph edge, link or no link</a:t>
            </a:r>
            <a:endParaRPr lang="en-US" sz="1500" dirty="0"/>
          </a:p>
          <a:p>
            <a:pPr marL="342900" indent="-342900">
              <a:spcAft>
                <a:spcPts val="800"/>
              </a:spcAft>
              <a:buSzPct val="100000"/>
              <a:buChar char="•"/>
            </a:pPr>
            <a:r>
              <a:rPr lang="en-US" sz="1500" dirty="0">
                <a:solidFill>
                  <a:schemeClr val="tx1"/>
                </a:solidFill>
              </a:rPr>
              <a:t>The transpiler inserts SWAP gates to bring qubits next to each other; one SWAP costs three two-qubit gates</a:t>
            </a:r>
            <a:endParaRPr lang="en-US" sz="1500" dirty="0"/>
          </a:p>
          <a:p>
            <a:pPr marL="342900" indent="-342900">
              <a:spcAft>
                <a:spcPts val="800"/>
              </a:spcAft>
              <a:buSzPct val="100000"/>
              <a:buChar char="•"/>
            </a:pPr>
            <a:r>
              <a:rPr lang="en-US" sz="1500" dirty="0">
                <a:solidFill>
                  <a:schemeClr val="tx1"/>
                </a:solidFill>
              </a:rPr>
              <a:t>It also rewrites gates into the device's native set and picks a layout that needs the fewest swaps</a:t>
            </a:r>
            <a:endParaRPr lang="en-US" sz="1500" dirty="0"/>
          </a:p>
        </p:txBody>
      </p:sp>
      <p:sp>
        <p:nvSpPr>
          <p:cNvPr id="17" name="preview-card"/>
          <p:cNvSpPr/>
          <p:nvPr/>
        </p:nvSpPr>
        <p:spPr>
          <a:xfrm>
            <a:off x="548640" y="4892040"/>
            <a:ext cx="6126480" cy="1280160"/>
          </a:xfrm>
          <a:prstGeom prst="roundRect">
            <a:avLst>
              <a:gd name="adj" fmla="val 8571"/>
            </a:avLst>
          </a:prstGeom>
          <a:solidFill>
            <a:schemeClr val="bg2"/>
          </a:solidFill>
          <a:ln w="12700">
            <a:solidFill>
              <a:schemeClr val="bg2"/>
            </a:solidFill>
            <a:prstDash val="solid"/>
          </a:ln>
        </p:spPr>
        <p:txBody>
          <a:bodyPr/>
          <a:lstStyle/>
          <a:p>
            <a:endParaRPr lang="en-US"/>
          </a:p>
        </p:txBody>
      </p:sp>
      <p:sp>
        <p:nvSpPr>
          <p:cNvPr id="18" name="Text 16"/>
          <p:cNvSpPr txBox="1"/>
          <p:nvPr/>
        </p:nvSpPr>
        <p:spPr>
          <a:xfrm>
            <a:off x="777240" y="4937760"/>
            <a:ext cx="5669280" cy="1188720"/>
          </a:xfrm>
          <a:prstGeom prst="rect">
            <a:avLst/>
          </a:prstGeom>
          <a:noFill/>
          <a:ln/>
        </p:spPr>
        <p:txBody>
          <a:bodyPr wrap="square" lIns="0" tIns="0" rIns="0" bIns="0" rtlCol="0" anchor="ctr"/>
          <a:lstStyle/>
          <a:p>
            <a:pPr marL="0" indent="0">
              <a:buNone/>
            </a:pPr>
            <a:r>
              <a:rPr lang="en-US" sz="1500" b="1" dirty="0">
                <a:solidFill>
                  <a:schemeClr val="accent3"/>
                </a:solidFill>
              </a:rPr>
              <a:t>Preview: </a:t>
            </a:r>
            <a:r>
              <a:rPr lang="en-US" sz="1500" dirty="0">
                <a:solidFill>
                  <a:schemeClr val="tx1"/>
                </a:solidFill>
              </a:rPr>
              <a:t>our five-node problem copies the chip's own connections, so it needs few or no swaps.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Small-scale result: what the optimizer did</a:t>
            </a:r>
            <a:endParaRPr lang="en-US" sz="3400" dirty="0"/>
          </a:p>
        </p:txBody>
      </p:sp>
      <p:graphicFrame>
        <p:nvGraphicFramePr>
          <p:cNvPr id="3" name="Chart 0"/>
          <p:cNvGraphicFramePr/>
          <p:nvPr/>
        </p:nvGraphicFramePr>
        <p:xfrm>
          <a:off x="548640" y="1463040"/>
          <a:ext cx="58521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code-box"/>
          <p:cNvSpPr/>
          <p:nvPr/>
        </p:nvSpPr>
        <p:spPr>
          <a:xfrm>
            <a:off x="6675120" y="1463040"/>
            <a:ext cx="4937760" cy="2468880"/>
          </a:xfrm>
          <a:prstGeom prst="roundRect">
            <a:avLst>
              <a:gd name="adj" fmla="val 3704"/>
            </a:avLst>
          </a:prstGeom>
          <a:solidFill>
            <a:schemeClr val="tx1"/>
          </a:solidFill>
          <a:ln w="12700">
            <a:solidFill>
              <a:schemeClr val="tx1"/>
            </a:solidFill>
            <a:prstDash val="solid"/>
          </a:ln>
        </p:spPr>
        <p:txBody>
          <a:bodyPr/>
          <a:lstStyle/>
          <a:p>
            <a:endParaRPr lang="en-US"/>
          </a:p>
        </p:txBody>
      </p:sp>
      <p:sp>
        <p:nvSpPr>
          <p:cNvPr id="5" name="Text 2"/>
          <p:cNvSpPr txBox="1"/>
          <p:nvPr/>
        </p:nvSpPr>
        <p:spPr>
          <a:xfrm>
            <a:off x="6858000" y="1600200"/>
            <a:ext cx="4572000" cy="219456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 message: Return from COBYLA because the</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trust region radius reaches its</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lower bound.</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success: True</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fun: -2.0402211719947774</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x: [3.041, 1.212, 2.081, 4.471]</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nfev: 36</a:t>
            </a:r>
            <a:endParaRPr lang="en-US" sz="1200" dirty="0"/>
          </a:p>
        </p:txBody>
      </p:sp>
      <p:sp>
        <p:nvSpPr>
          <p:cNvPr id="6" name="Text 3"/>
          <p:cNvSpPr txBox="1"/>
          <p:nvPr/>
        </p:nvSpPr>
        <p:spPr>
          <a:xfrm>
            <a:off x="6675120" y="4114800"/>
            <a:ext cx="49377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Cost fell from about 0 to −2.04 in 36 evaluations; the best possible is −4</a:t>
            </a:r>
            <a:endParaRPr lang="en-US" sz="1400" dirty="0"/>
          </a:p>
          <a:p>
            <a:pPr marL="342900" indent="-342900">
              <a:spcAft>
                <a:spcPts val="800"/>
              </a:spcAft>
              <a:buSzPct val="100000"/>
              <a:buChar char="•"/>
            </a:pPr>
            <a:r>
              <a:rPr lang="en-US" sz="1400" dirty="0">
                <a:solidFill>
                  <a:schemeClr val="tx1"/>
                </a:solidFill>
              </a:rPr>
              <a:t>A smoothly falling, flattening curve means convergence</a:t>
            </a:r>
            <a:endParaRPr lang="en-US" sz="1400" dirty="0"/>
          </a:p>
          <a:p>
            <a:pPr marL="342900" indent="-342900">
              <a:spcAft>
                <a:spcPts val="800"/>
              </a:spcAft>
              <a:buSzPct val="100000"/>
              <a:buChar char="•"/>
            </a:pPr>
            <a:r>
              <a:rPr lang="en-US" sz="1400" dirty="0">
                <a:solidFill>
                  <a:schemeClr val="tx1"/>
                </a:solidFill>
              </a:rPr>
              <a:t>A noisy curve points to too few shots, a poor start, or a circuit too deep for the hardware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Small-scale result: the sampled distribution</a:t>
            </a:r>
            <a:endParaRPr lang="en-US" sz="3400" dirty="0"/>
          </a:p>
        </p:txBody>
      </p:sp>
      <p:graphicFrame>
        <p:nvGraphicFramePr>
          <p:cNvPr id="3" name="Chart 0"/>
          <p:cNvGraphicFramePr/>
          <p:nvPr/>
        </p:nvGraphicFramePr>
        <p:xfrm>
          <a:off x="548640" y="1463040"/>
          <a:ext cx="67665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589520" y="1554480"/>
            <a:ext cx="4023360" cy="4480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The four most frequent bitstrings are all optimal cuts (size 5)</a:t>
            </a:r>
            <a:endParaRPr lang="en-US" sz="1500" dirty="0"/>
          </a:p>
          <a:p>
            <a:pPr marL="342900" indent="-342900">
              <a:spcAft>
                <a:spcPts val="800"/>
              </a:spcAft>
              <a:buSzPct val="100000"/>
              <a:buChar char="•"/>
            </a:pPr>
            <a:r>
              <a:rPr lang="en-US" sz="1500" dirty="0">
                <a:solidFill>
                  <a:schemeClr val="tx1"/>
                </a:solidFill>
              </a:rPr>
              <a:t>Together the four optimal bitstrings hold about 37% of the 10,000 shots; random sampling would give 12.5%</a:t>
            </a:r>
            <a:endParaRPr lang="en-US" sz="1500" dirty="0"/>
          </a:p>
          <a:p>
            <a:pPr marL="342900" indent="-342900">
              <a:spcAft>
                <a:spcPts val="800"/>
              </a:spcAft>
              <a:buSzPct val="100000"/>
              <a:buChar char="•"/>
            </a:pPr>
            <a:r>
              <a:rPr lang="en-US" sz="1500" dirty="0">
                <a:solidFill>
                  <a:schemeClr val="tx1"/>
                </a:solidFill>
              </a:rPr>
              <a:t>The best cut shows up with only about 10% probability each, so we sample and keep the best rather than trusting one run</a:t>
            </a:r>
            <a:endParaRPr lang="en-US" sz="1500" dirty="0"/>
          </a:p>
        </p:txBody>
      </p:sp>
      <p:sp>
        <p:nvSpPr>
          <p:cNvPr id="5" name="Text 2"/>
          <p:cNvSpPr txBox="1"/>
          <p:nvPr/>
        </p:nvSpPr>
        <p:spPr>
          <a:xfrm>
            <a:off x="548640" y="5989320"/>
            <a:ext cx="11064240" cy="320040"/>
          </a:xfrm>
          <a:prstGeom prst="rect">
            <a:avLst/>
          </a:prstGeom>
          <a:noFill/>
          <a:ln/>
        </p:spPr>
        <p:txBody>
          <a:bodyPr wrap="square" lIns="0" tIns="0" rIns="0" bIns="0" rtlCol="0" anchor="t"/>
          <a:lstStyle/>
          <a:p>
            <a:pPr marL="0" indent="0">
              <a:buNone/>
            </a:pPr>
            <a:r>
              <a:rPr lang="en-US" sz="1100" dirty="0">
                <a:solidFill>
                  <a:srgbClr val="000000"/>
                </a:solidFill>
              </a:rPr>
              <a:t>Data: the notebook's printed hardware output, converted to node order. Cut sizes computed by brute force.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What QAOA can and cannot do today</a:t>
            </a:r>
            <a:endParaRPr lang="en-US" sz="3400" dirty="0"/>
          </a:p>
        </p:txBody>
      </p:sp>
      <p:sp>
        <p:nvSpPr>
          <p:cNvPr id="3" name="can-card"/>
          <p:cNvSpPr/>
          <p:nvPr/>
        </p:nvSpPr>
        <p:spPr>
          <a:xfrm>
            <a:off x="548640" y="1463040"/>
            <a:ext cx="5394960" cy="3566160"/>
          </a:xfrm>
          <a:prstGeom prst="roundRect">
            <a:avLst>
              <a:gd name="adj" fmla="val 3077"/>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600200"/>
            <a:ext cx="4937760" cy="457200"/>
          </a:xfrm>
          <a:prstGeom prst="rect">
            <a:avLst/>
          </a:prstGeom>
          <a:noFill/>
          <a:ln/>
        </p:spPr>
        <p:txBody>
          <a:bodyPr wrap="square" lIns="0" tIns="0" rIns="0" bIns="0" rtlCol="0" anchor="t"/>
          <a:lstStyle/>
          <a:p>
            <a:pPr marL="0" indent="0">
              <a:buNone/>
            </a:pPr>
            <a:r>
              <a:rPr lang="en-US" sz="2200" b="1" dirty="0">
                <a:solidFill>
                  <a:schemeClr val="accent1"/>
                </a:solidFill>
                <a:latin typeface="Cambria" pitchFamily="34" charset="0"/>
                <a:ea typeface="Cambria" pitchFamily="34" charset="-122"/>
                <a:cs typeface="Cambria" pitchFamily="34" charset="-120"/>
              </a:rPr>
              <a:t>What the workflow shows</a:t>
            </a:r>
            <a:endParaRPr lang="en-US" sz="2200" dirty="0"/>
          </a:p>
        </p:txBody>
      </p:sp>
      <p:sp>
        <p:nvSpPr>
          <p:cNvPr id="5" name="Text 3"/>
          <p:cNvSpPr txBox="1"/>
          <p:nvPr/>
        </p:nvSpPr>
        <p:spPr>
          <a:xfrm>
            <a:off x="777240" y="2240280"/>
            <a:ext cx="4937760" cy="3749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 real problem can be encoded as a Hamiltonian and run end to end on five qubits</a:t>
            </a:r>
            <a:endParaRPr lang="en-US" sz="1600" dirty="0"/>
          </a:p>
          <a:p>
            <a:pPr marL="342900" indent="-342900">
              <a:spcAft>
                <a:spcPts val="800"/>
              </a:spcAft>
              <a:buSzPct val="100000"/>
              <a:buChar char="•"/>
            </a:pPr>
            <a:r>
              <a:rPr lang="en-US" sz="1600" dirty="0">
                <a:solidFill>
                  <a:schemeClr val="tx1"/>
                </a:solidFill>
              </a:rPr>
              <a:t>The sampled distribution can concentrate on good cuts, above random chance</a:t>
            </a:r>
            <a:endParaRPr lang="en-US" sz="1600" dirty="0"/>
          </a:p>
          <a:p>
            <a:pPr marL="342900" indent="-342900">
              <a:spcAft>
                <a:spcPts val="800"/>
              </a:spcAft>
              <a:buSzPct val="100000"/>
              <a:buChar char="•"/>
            </a:pPr>
            <a:r>
              <a:rPr lang="en-US" sz="1600" dirty="0">
                <a:solidFill>
                  <a:schemeClr val="tx1"/>
                </a:solidFill>
              </a:rPr>
              <a:t>The Qiskit pattern makes the workflow repeatable and scalable</a:t>
            </a:r>
            <a:endParaRPr lang="en-US" sz="1600" dirty="0"/>
          </a:p>
        </p:txBody>
      </p:sp>
      <p:sp>
        <p:nvSpPr>
          <p:cNvPr id="6" name="cannot-card"/>
          <p:cNvSpPr/>
          <p:nvPr/>
        </p:nvSpPr>
        <p:spPr>
          <a:xfrm>
            <a:off x="6217920" y="1463040"/>
            <a:ext cx="5394960" cy="3566160"/>
          </a:xfrm>
          <a:prstGeom prst="roundRect">
            <a:avLst>
              <a:gd name="adj" fmla="val 3077"/>
            </a:avLst>
          </a:prstGeom>
          <a:solidFill>
            <a:schemeClr val="bg2"/>
          </a:solidFill>
          <a:ln w="12700">
            <a:solidFill>
              <a:schemeClr val="bg2"/>
            </a:solidFill>
            <a:prstDash val="solid"/>
          </a:ln>
        </p:spPr>
        <p:txBody>
          <a:bodyPr/>
          <a:lstStyle/>
          <a:p>
            <a:endParaRPr lang="en-US"/>
          </a:p>
        </p:txBody>
      </p:sp>
      <p:sp>
        <p:nvSpPr>
          <p:cNvPr id="7" name="Text 5"/>
          <p:cNvSpPr txBox="1"/>
          <p:nvPr/>
        </p:nvSpPr>
        <p:spPr>
          <a:xfrm>
            <a:off x="6446520" y="1600200"/>
            <a:ext cx="4937760" cy="457200"/>
          </a:xfrm>
          <a:prstGeom prst="rect">
            <a:avLst/>
          </a:prstGeom>
          <a:noFill/>
          <a:ln/>
        </p:spPr>
        <p:txBody>
          <a:bodyPr wrap="square" lIns="0" tIns="0" rIns="0" bIns="0" rtlCol="0" anchor="t"/>
          <a:lstStyle/>
          <a:p>
            <a:pPr marL="0" indent="0">
              <a:buNone/>
            </a:pPr>
            <a:r>
              <a:rPr lang="en-US" sz="2200" b="1" dirty="0">
                <a:solidFill>
                  <a:schemeClr val="accent4"/>
                </a:solidFill>
                <a:latin typeface="Cambria" pitchFamily="34" charset="0"/>
                <a:ea typeface="Cambria" pitchFamily="34" charset="-122"/>
                <a:cs typeface="Cambria" pitchFamily="34" charset="-120"/>
              </a:rPr>
              <a:t>What it does not show</a:t>
            </a:r>
            <a:endParaRPr lang="en-US" sz="2200" dirty="0"/>
          </a:p>
        </p:txBody>
      </p:sp>
      <p:sp>
        <p:nvSpPr>
          <p:cNvPr id="8" name="Text 6"/>
          <p:cNvSpPr txBox="1"/>
          <p:nvPr/>
        </p:nvSpPr>
        <p:spPr>
          <a:xfrm>
            <a:off x="6446520" y="2240280"/>
            <a:ext cx="4937760" cy="3749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Quantum advantage: strong classical solvers handle these sizes easily</a:t>
            </a:r>
            <a:endParaRPr lang="en-US" sz="1600" dirty="0"/>
          </a:p>
          <a:p>
            <a:pPr marL="342900" indent="-342900">
              <a:spcAft>
                <a:spcPts val="800"/>
              </a:spcAft>
              <a:buSzPct val="100000"/>
              <a:buChar char="•"/>
            </a:pPr>
            <a:r>
              <a:rPr lang="en-US" sz="1600" dirty="0">
                <a:solidFill>
                  <a:schemeClr val="tx1"/>
                </a:solidFill>
              </a:rPr>
              <a:t>That deeper circuits will keep improving results on noisy hardware</a:t>
            </a:r>
            <a:endParaRPr lang="en-US" sz="1600" dirty="0"/>
          </a:p>
          <a:p>
            <a:pPr marL="342900" indent="-342900">
              <a:spcAft>
                <a:spcPts val="800"/>
              </a:spcAft>
              <a:buSzPct val="100000"/>
              <a:buChar char="•"/>
            </a:pPr>
            <a:r>
              <a:rPr lang="en-US" sz="1600" dirty="0">
                <a:solidFill>
                  <a:schemeClr val="tx1"/>
                </a:solidFill>
              </a:rPr>
              <a:t>That QAOA is the best quantum approach to Max-Cut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Check your understanding: Part D</a:t>
            </a:r>
            <a:endParaRPr lang="en-US" sz="3400" dirty="0"/>
          </a:p>
        </p:txBody>
      </p:sp>
      <p:sp>
        <p:nvSpPr>
          <p:cNvPr id="3" name="q-card-0"/>
          <p:cNvSpPr/>
          <p:nvPr/>
        </p:nvSpPr>
        <p:spPr>
          <a:xfrm>
            <a:off x="548640" y="1463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4" name="badge-1"/>
          <p:cNvSpPr/>
          <p:nvPr/>
        </p:nvSpPr>
        <p:spPr>
          <a:xfrm>
            <a:off x="777240" y="1668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1554480" y="1554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Why must the circuit be transpiled before it runs on the chip?</a:t>
            </a:r>
            <a:endParaRPr lang="en-US" sz="1900" dirty="0"/>
          </a:p>
        </p:txBody>
      </p:sp>
      <p:sp>
        <p:nvSpPr>
          <p:cNvPr id="6" name="q-card-1"/>
          <p:cNvSpPr/>
          <p:nvPr/>
        </p:nvSpPr>
        <p:spPr>
          <a:xfrm>
            <a:off x="548640" y="2606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7" name="badge-2"/>
          <p:cNvSpPr/>
          <p:nvPr/>
        </p:nvSpPr>
        <p:spPr>
          <a:xfrm>
            <a:off x="777240" y="2811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8" name="Text 6"/>
          <p:cNvSpPr txBox="1"/>
          <p:nvPr/>
        </p:nvSpPr>
        <p:spPr>
          <a:xfrm>
            <a:off x="1554480" y="2697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Which primitive runs inside the optimization loop, and which produces the final bitstrings?</a:t>
            </a:r>
            <a:endParaRPr lang="en-US" sz="1900" dirty="0"/>
          </a:p>
        </p:txBody>
      </p:sp>
      <p:sp>
        <p:nvSpPr>
          <p:cNvPr id="9" name="q-card-2"/>
          <p:cNvSpPr/>
          <p:nvPr/>
        </p:nvSpPr>
        <p:spPr>
          <a:xfrm>
            <a:off x="548640" y="3749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10" name="badge-3"/>
          <p:cNvSpPr/>
          <p:nvPr/>
        </p:nvSpPr>
        <p:spPr>
          <a:xfrm>
            <a:off x="777240" y="3954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1" name="Text 9"/>
          <p:cNvSpPr txBox="1"/>
          <p:nvPr/>
        </p:nvSpPr>
        <p:spPr>
          <a:xfrm>
            <a:off x="1554480" y="3840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A notebook reports a cut of 156 on a graph with at most 150 edges. What is the likely explanation?</a:t>
            </a:r>
            <a:endParaRPr lang="en-US" sz="1900" dirty="0"/>
          </a:p>
        </p:txBody>
      </p:sp>
      <p:sp>
        <p:nvSpPr>
          <p:cNvPr id="12" name="q-card-3"/>
          <p:cNvSpPr/>
          <p:nvPr/>
        </p:nvSpPr>
        <p:spPr>
          <a:xfrm>
            <a:off x="548640" y="4892040"/>
            <a:ext cx="11064240" cy="960120"/>
          </a:xfrm>
          <a:prstGeom prst="roundRect">
            <a:avLst>
              <a:gd name="adj" fmla="val 11429"/>
            </a:avLst>
          </a:prstGeom>
          <a:solidFill>
            <a:schemeClr val="bg2"/>
          </a:solidFill>
          <a:ln w="12700">
            <a:solidFill>
              <a:schemeClr val="bg2"/>
            </a:solidFill>
            <a:prstDash val="solid"/>
          </a:ln>
        </p:spPr>
        <p:txBody>
          <a:bodyPr/>
          <a:lstStyle/>
          <a:p>
            <a:endParaRPr lang="en-US"/>
          </a:p>
        </p:txBody>
      </p:sp>
      <p:sp>
        <p:nvSpPr>
          <p:cNvPr id="13" name="badge-4"/>
          <p:cNvSpPr/>
          <p:nvPr/>
        </p:nvSpPr>
        <p:spPr>
          <a:xfrm>
            <a:off x="777240" y="5097780"/>
            <a:ext cx="548640" cy="54864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4" name="Text 12"/>
          <p:cNvSpPr txBox="1"/>
          <p:nvPr/>
        </p:nvSpPr>
        <p:spPr>
          <a:xfrm>
            <a:off x="1554480" y="4983480"/>
            <a:ext cx="9875520" cy="777240"/>
          </a:xfrm>
          <a:prstGeom prst="rect">
            <a:avLst/>
          </a:prstGeom>
          <a:noFill/>
          <a:ln/>
        </p:spPr>
        <p:txBody>
          <a:bodyPr wrap="square" lIns="0" tIns="0" rIns="0" bIns="0" rtlCol="0" anchor="ctr"/>
          <a:lstStyle/>
          <a:p>
            <a:pPr marL="0" indent="0">
              <a:buNone/>
            </a:pPr>
            <a:r>
              <a:rPr lang="en-US" sz="1900" dirty="0">
                <a:solidFill>
                  <a:schemeClr val="tx1"/>
                </a:solidFill>
              </a:rPr>
              <a:t>Give one reason a deeper QAOA circuit can give worse results on real hardware.</a:t>
            </a:r>
            <a:endParaRPr lang="en-US" sz="1900" dirty="0"/>
          </a:p>
        </p:txBody>
      </p:sp>
      <p:sp>
        <p:nvSpPr>
          <p:cNvPr id="15" name="Text 13"/>
          <p:cNvSpPr txBox="1"/>
          <p:nvPr/>
        </p:nvSpPr>
        <p:spPr>
          <a:xfrm>
            <a:off x="548640" y="5989320"/>
            <a:ext cx="11064240" cy="320040"/>
          </a:xfrm>
          <a:prstGeom prst="rect">
            <a:avLst/>
          </a:prstGeom>
          <a:noFill/>
          <a:ln/>
        </p:spPr>
        <p:txBody>
          <a:bodyPr wrap="square" lIns="0" tIns="0" rIns="0" bIns="0" rtlCol="0" anchor="t"/>
          <a:lstStyle/>
          <a:p>
            <a:pPr marL="0" indent="0">
              <a:buNone/>
            </a:pPr>
            <a:r>
              <a:rPr lang="en-US" sz="1300" dirty="0">
                <a:solidFill>
                  <a:srgbClr val="000000"/>
                </a:solidFill>
              </a:rPr>
              <a:t>Think for a minute, discuss with a neighbour, then compare. Answers are in the speaker notes.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57200"/>
            <a:ext cx="11064240" cy="822960"/>
          </a:xfrm>
          <a:prstGeom prst="rect">
            <a:avLst/>
          </a:prstGeom>
          <a:noFill/>
          <a:ln/>
        </p:spPr>
        <p:txBody>
          <a:bodyPr wrap="square" lIns="0" tIns="0" rIns="0" bIns="0" rtlCol="0" anchor="ctr"/>
          <a:lstStyle/>
          <a:p>
            <a:pPr marL="0" indent="0" algn="l">
              <a:buNone/>
            </a:pPr>
            <a:r>
              <a:rPr lang="en-US" sz="3400" b="1" dirty="0">
                <a:solidFill>
                  <a:schemeClr val="bg1"/>
                </a:solidFill>
              </a:rPr>
              <a:t>Summary</a:t>
            </a:r>
            <a:endParaRPr lang="en-US" sz="3400" dirty="0"/>
          </a:p>
        </p:txBody>
      </p:sp>
      <p:sp>
        <p:nvSpPr>
          <p:cNvPr id="3" name="Text 1"/>
          <p:cNvSpPr txBox="1"/>
          <p:nvPr/>
        </p:nvSpPr>
        <p:spPr>
          <a:xfrm>
            <a:off x="548640" y="1554480"/>
            <a:ext cx="11064240" cy="448056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Max-Cut is NP-hard: no known fast exact method, so heuristics matter</a:t>
            </a:r>
            <a:endParaRPr lang="en-US" sz="2000" dirty="0"/>
          </a:p>
          <a:p>
            <a:pPr marL="342900" indent="-342900">
              <a:spcAft>
                <a:spcPts val="1400"/>
              </a:spcAft>
              <a:buSzPct val="100000"/>
              <a:buChar char="•"/>
            </a:pPr>
            <a:r>
              <a:rPr lang="en-US" sz="2000" dirty="0">
                <a:solidFill>
                  <a:schemeClr val="bg1"/>
                </a:solidFill>
              </a:rPr>
              <a:t>Pauli Z turns a bit into a ±1 spin; H_C = Σ ZᵢZⱼ has the best cut as its ground state</a:t>
            </a:r>
            <a:endParaRPr lang="en-US" sz="2000" dirty="0"/>
          </a:p>
          <a:p>
            <a:pPr marL="342900" indent="-342900">
              <a:spcAft>
                <a:spcPts val="1400"/>
              </a:spcAft>
              <a:buSzPct val="100000"/>
              <a:buChar char="•"/>
            </a:pPr>
            <a:r>
              <a:rPr lang="en-US" sz="2000" dirty="0">
                <a:solidFill>
                  <a:schemeClr val="bg1"/>
                </a:solidFill>
              </a:rPr>
              <a:t>QAOA: start with every qubit in |+⟩, alternate cost and mixer layers, tune angles to minimize ⟨H_C⟩</a:t>
            </a:r>
            <a:endParaRPr lang="en-US" sz="2000" dirty="0"/>
          </a:p>
          <a:p>
            <a:pPr marL="342900" indent="-342900">
              <a:spcAft>
                <a:spcPts val="1400"/>
              </a:spcAft>
              <a:buSzPct val="100000"/>
              <a:buChar char="•"/>
            </a:pPr>
            <a:r>
              <a:rPr lang="en-US" sz="2000" dirty="0">
                <a:solidFill>
                  <a:schemeClr val="bg1"/>
                </a:solidFill>
              </a:rPr>
              <a:t>A Qiskit pattern runs it in four steps: Map, Optimize, Execute, Post-process</a:t>
            </a:r>
            <a:endParaRPr lang="en-US" sz="2000" dirty="0"/>
          </a:p>
          <a:p>
            <a:pPr marL="342900" indent="-342900">
              <a:spcAft>
                <a:spcPts val="1400"/>
              </a:spcAft>
              <a:buSzPct val="100000"/>
              <a:buChar char="•"/>
            </a:pPr>
            <a:r>
              <a:rPr lang="en-US" sz="2000" dirty="0">
                <a:solidFill>
                  <a:schemeClr val="bg1"/>
                </a:solidFill>
              </a:rPr>
              <a:t>Judge results against baselines: random sampling, upper bounds, classical solvers</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Exercises</a:t>
            </a:r>
            <a:endParaRPr lang="en-US" sz="3400" dirty="0"/>
          </a:p>
        </p:txBody>
      </p:sp>
      <p:sp>
        <p:nvSpPr>
          <p:cNvPr id="3" name="ex-card-0"/>
          <p:cNvSpPr/>
          <p:nvPr/>
        </p:nvSpPr>
        <p:spPr>
          <a:xfrm>
            <a:off x="548640" y="1417320"/>
            <a:ext cx="11064240" cy="676656"/>
          </a:xfrm>
          <a:prstGeom prst="roundRect">
            <a:avLst>
              <a:gd name="adj" fmla="val 16216"/>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472184"/>
            <a:ext cx="1097280" cy="566928"/>
          </a:xfrm>
          <a:prstGeom prst="rect">
            <a:avLst/>
          </a:prstGeom>
          <a:noFill/>
          <a:ln/>
        </p:spPr>
        <p:txBody>
          <a:bodyPr wrap="square" lIns="0" tIns="0" rIns="0" bIns="0" rtlCol="0" anchor="ctr"/>
          <a:lstStyle/>
          <a:p>
            <a:pPr marL="0" indent="0">
              <a:buNone/>
            </a:pPr>
            <a:r>
              <a:rPr lang="en-US" sz="1600" b="1" dirty="0">
                <a:solidFill>
                  <a:schemeClr val="accent3"/>
                </a:solidFill>
              </a:rPr>
              <a:t>Hand</a:t>
            </a:r>
            <a:endParaRPr lang="en-US" sz="1600" dirty="0"/>
          </a:p>
        </p:txBody>
      </p:sp>
      <p:sp>
        <p:nvSpPr>
          <p:cNvPr id="5" name="Text 3"/>
          <p:cNvSpPr txBox="1"/>
          <p:nvPr/>
        </p:nvSpPr>
        <p:spPr>
          <a:xfrm>
            <a:off x="1920240" y="1472184"/>
            <a:ext cx="9509760" cy="566928"/>
          </a:xfrm>
          <a:prstGeom prst="rect">
            <a:avLst/>
          </a:prstGeom>
          <a:noFill/>
          <a:ln/>
        </p:spPr>
        <p:txBody>
          <a:bodyPr wrap="square" lIns="0" tIns="0" rIns="0" bIns="0" rtlCol="0" anchor="ctr"/>
          <a:lstStyle/>
          <a:p>
            <a:pPr marL="0" indent="0">
              <a:buNone/>
            </a:pPr>
            <a:r>
              <a:rPr lang="en-US" sz="1600" dirty="0">
                <a:solidFill>
                  <a:schemeClr val="tx1"/>
                </a:solidFill>
              </a:rPr>
              <a:t>Find the max cut of a 5-node ring by hand and write its H_C</a:t>
            </a:r>
            <a:endParaRPr lang="en-US" sz="1600" dirty="0"/>
          </a:p>
        </p:txBody>
      </p:sp>
      <p:sp>
        <p:nvSpPr>
          <p:cNvPr id="6" name="ex-card-1"/>
          <p:cNvSpPr/>
          <p:nvPr/>
        </p:nvSpPr>
        <p:spPr>
          <a:xfrm>
            <a:off x="548640" y="2203704"/>
            <a:ext cx="11064240" cy="676656"/>
          </a:xfrm>
          <a:prstGeom prst="roundRect">
            <a:avLst>
              <a:gd name="adj" fmla="val 16216"/>
            </a:avLst>
          </a:prstGeom>
          <a:solidFill>
            <a:schemeClr val="bg2"/>
          </a:solidFill>
          <a:ln w="12700">
            <a:solidFill>
              <a:schemeClr val="bg2"/>
            </a:solidFill>
            <a:prstDash val="solid"/>
          </a:ln>
        </p:spPr>
        <p:txBody>
          <a:bodyPr/>
          <a:lstStyle/>
          <a:p>
            <a:endParaRPr lang="en-US"/>
          </a:p>
        </p:txBody>
      </p:sp>
      <p:sp>
        <p:nvSpPr>
          <p:cNvPr id="7" name="Text 5"/>
          <p:cNvSpPr txBox="1"/>
          <p:nvPr/>
        </p:nvSpPr>
        <p:spPr>
          <a:xfrm>
            <a:off x="777240" y="2258568"/>
            <a:ext cx="1097280" cy="566928"/>
          </a:xfrm>
          <a:prstGeom prst="rect">
            <a:avLst/>
          </a:prstGeom>
          <a:noFill/>
          <a:ln/>
        </p:spPr>
        <p:txBody>
          <a:bodyPr wrap="square" lIns="0" tIns="0" rIns="0" bIns="0" rtlCol="0" anchor="ctr"/>
          <a:lstStyle/>
          <a:p>
            <a:pPr marL="0" indent="0">
              <a:buNone/>
            </a:pPr>
            <a:r>
              <a:rPr lang="en-US" sz="1600" b="1" dirty="0">
                <a:solidFill>
                  <a:schemeClr val="accent3"/>
                </a:solidFill>
              </a:rPr>
              <a:t>Hand</a:t>
            </a:r>
            <a:endParaRPr lang="en-US" sz="1600" dirty="0"/>
          </a:p>
        </p:txBody>
      </p:sp>
      <p:sp>
        <p:nvSpPr>
          <p:cNvPr id="8" name="Text 6"/>
          <p:cNvSpPr txBox="1"/>
          <p:nvPr/>
        </p:nvSpPr>
        <p:spPr>
          <a:xfrm>
            <a:off x="1920240" y="2258568"/>
            <a:ext cx="9509760" cy="566928"/>
          </a:xfrm>
          <a:prstGeom prst="rect">
            <a:avLst/>
          </a:prstGeom>
          <a:noFill/>
          <a:ln/>
        </p:spPr>
        <p:txBody>
          <a:bodyPr wrap="square" lIns="0" tIns="0" rIns="0" bIns="0" rtlCol="0" anchor="ctr"/>
          <a:lstStyle/>
          <a:p>
            <a:pPr marL="0" indent="0">
              <a:buNone/>
            </a:pPr>
            <a:r>
              <a:rPr lang="en-US" sz="1600" dirty="0">
                <a:solidFill>
                  <a:schemeClr val="tx1"/>
                </a:solidFill>
              </a:rPr>
              <a:t>Compute C(x) and the energy of H_C for x = 01010 on the 5-node graph</a:t>
            </a:r>
            <a:endParaRPr lang="en-US" sz="1600" dirty="0"/>
          </a:p>
        </p:txBody>
      </p:sp>
      <p:sp>
        <p:nvSpPr>
          <p:cNvPr id="9" name="ex-card-2"/>
          <p:cNvSpPr/>
          <p:nvPr/>
        </p:nvSpPr>
        <p:spPr>
          <a:xfrm>
            <a:off x="548640" y="2990088"/>
            <a:ext cx="11064240" cy="676656"/>
          </a:xfrm>
          <a:prstGeom prst="roundRect">
            <a:avLst>
              <a:gd name="adj" fmla="val 16216"/>
            </a:avLst>
          </a:prstGeom>
          <a:solidFill>
            <a:schemeClr val="bg2"/>
          </a:solidFill>
          <a:ln w="12700">
            <a:solidFill>
              <a:schemeClr val="bg2"/>
            </a:solidFill>
            <a:prstDash val="solid"/>
          </a:ln>
        </p:spPr>
        <p:txBody>
          <a:bodyPr/>
          <a:lstStyle/>
          <a:p>
            <a:endParaRPr lang="en-US"/>
          </a:p>
        </p:txBody>
      </p:sp>
      <p:sp>
        <p:nvSpPr>
          <p:cNvPr id="10" name="Text 8"/>
          <p:cNvSpPr txBox="1"/>
          <p:nvPr/>
        </p:nvSpPr>
        <p:spPr>
          <a:xfrm>
            <a:off x="777240" y="3044952"/>
            <a:ext cx="1097280" cy="566928"/>
          </a:xfrm>
          <a:prstGeom prst="rect">
            <a:avLst/>
          </a:prstGeom>
          <a:noFill/>
          <a:ln/>
        </p:spPr>
        <p:txBody>
          <a:bodyPr wrap="square" lIns="0" tIns="0" rIns="0" bIns="0" rtlCol="0" anchor="ctr"/>
          <a:lstStyle/>
          <a:p>
            <a:pPr marL="0" indent="0">
              <a:buNone/>
            </a:pPr>
            <a:r>
              <a:rPr lang="en-US" sz="1600" b="1" dirty="0">
                <a:solidFill>
                  <a:schemeClr val="accent3"/>
                </a:solidFill>
              </a:rPr>
              <a:t>Code</a:t>
            </a:r>
            <a:endParaRPr lang="en-US" sz="1600" dirty="0"/>
          </a:p>
        </p:txBody>
      </p:sp>
      <p:sp>
        <p:nvSpPr>
          <p:cNvPr id="11" name="Text 9"/>
          <p:cNvSpPr txBox="1"/>
          <p:nvPr/>
        </p:nvSpPr>
        <p:spPr>
          <a:xfrm>
            <a:off x="1920240" y="3044952"/>
            <a:ext cx="9509760" cy="566928"/>
          </a:xfrm>
          <a:prstGeom prst="rect">
            <a:avLst/>
          </a:prstGeom>
          <a:noFill/>
          <a:ln/>
        </p:spPr>
        <p:txBody>
          <a:bodyPr wrap="square" lIns="0" tIns="0" rIns="0" bIns="0" rtlCol="0" anchor="ctr"/>
          <a:lstStyle/>
          <a:p>
            <a:pPr marL="0" indent="0">
              <a:buNone/>
            </a:pPr>
            <a:r>
              <a:rPr lang="en-US" sz="1600" dirty="0">
                <a:solidFill>
                  <a:schemeClr val="tx1"/>
                </a:solidFill>
              </a:rPr>
              <a:t>Rebuild the cost Hamiltonian for a 6-node graph with a weight-2 edge</a:t>
            </a:r>
            <a:endParaRPr lang="en-US" sz="1600" dirty="0"/>
          </a:p>
        </p:txBody>
      </p:sp>
      <p:sp>
        <p:nvSpPr>
          <p:cNvPr id="12" name="ex-card-3"/>
          <p:cNvSpPr/>
          <p:nvPr/>
        </p:nvSpPr>
        <p:spPr>
          <a:xfrm>
            <a:off x="548640" y="3776472"/>
            <a:ext cx="11064240" cy="676656"/>
          </a:xfrm>
          <a:prstGeom prst="roundRect">
            <a:avLst>
              <a:gd name="adj" fmla="val 16216"/>
            </a:avLst>
          </a:prstGeom>
          <a:solidFill>
            <a:schemeClr val="bg2"/>
          </a:solidFill>
          <a:ln w="12700">
            <a:solidFill>
              <a:schemeClr val="bg2"/>
            </a:solidFill>
            <a:prstDash val="solid"/>
          </a:ln>
        </p:spPr>
        <p:txBody>
          <a:bodyPr/>
          <a:lstStyle/>
          <a:p>
            <a:endParaRPr lang="en-US"/>
          </a:p>
        </p:txBody>
      </p:sp>
      <p:sp>
        <p:nvSpPr>
          <p:cNvPr id="13" name="Text 11"/>
          <p:cNvSpPr txBox="1"/>
          <p:nvPr/>
        </p:nvSpPr>
        <p:spPr>
          <a:xfrm>
            <a:off x="777240" y="3831336"/>
            <a:ext cx="1097280" cy="566928"/>
          </a:xfrm>
          <a:prstGeom prst="rect">
            <a:avLst/>
          </a:prstGeom>
          <a:noFill/>
          <a:ln/>
        </p:spPr>
        <p:txBody>
          <a:bodyPr wrap="square" lIns="0" tIns="0" rIns="0" bIns="0" rtlCol="0" anchor="ctr"/>
          <a:lstStyle/>
          <a:p>
            <a:pPr marL="0" indent="0">
              <a:buNone/>
            </a:pPr>
            <a:r>
              <a:rPr lang="en-US" sz="1600" b="1" dirty="0">
                <a:solidFill>
                  <a:schemeClr val="accent3"/>
                </a:solidFill>
              </a:rPr>
              <a:t>Run</a:t>
            </a:r>
            <a:endParaRPr lang="en-US" sz="1600" dirty="0"/>
          </a:p>
        </p:txBody>
      </p:sp>
      <p:sp>
        <p:nvSpPr>
          <p:cNvPr id="14" name="Text 12"/>
          <p:cNvSpPr txBox="1"/>
          <p:nvPr/>
        </p:nvSpPr>
        <p:spPr>
          <a:xfrm>
            <a:off x="1920240" y="3831336"/>
            <a:ext cx="9509760" cy="566928"/>
          </a:xfrm>
          <a:prstGeom prst="rect">
            <a:avLst/>
          </a:prstGeom>
          <a:noFill/>
          <a:ln/>
        </p:spPr>
        <p:txBody>
          <a:bodyPr wrap="square" lIns="0" tIns="0" rIns="0" bIns="0" rtlCol="0" anchor="ctr"/>
          <a:lstStyle/>
          <a:p>
            <a:pPr marL="0" indent="0">
              <a:buNone/>
            </a:pPr>
            <a:r>
              <a:rPr lang="en-US" sz="1600" dirty="0">
                <a:solidFill>
                  <a:schemeClr val="tx1"/>
                </a:solidFill>
              </a:rPr>
              <a:t>Run QAOA with reps = 1, 2, 3 and compare the final cost</a:t>
            </a:r>
            <a:endParaRPr lang="en-US" sz="1600" dirty="0"/>
          </a:p>
        </p:txBody>
      </p:sp>
      <p:sp>
        <p:nvSpPr>
          <p:cNvPr id="15" name="ex-card-4"/>
          <p:cNvSpPr/>
          <p:nvPr/>
        </p:nvSpPr>
        <p:spPr>
          <a:xfrm>
            <a:off x="548640" y="4562856"/>
            <a:ext cx="11064240" cy="676656"/>
          </a:xfrm>
          <a:prstGeom prst="roundRect">
            <a:avLst>
              <a:gd name="adj" fmla="val 16216"/>
            </a:avLst>
          </a:prstGeom>
          <a:solidFill>
            <a:schemeClr val="bg2"/>
          </a:solidFill>
          <a:ln w="12700">
            <a:solidFill>
              <a:schemeClr val="bg2"/>
            </a:solidFill>
            <a:prstDash val="solid"/>
          </a:ln>
        </p:spPr>
        <p:txBody>
          <a:bodyPr/>
          <a:lstStyle/>
          <a:p>
            <a:endParaRPr lang="en-US"/>
          </a:p>
        </p:txBody>
      </p:sp>
      <p:sp>
        <p:nvSpPr>
          <p:cNvPr id="16" name="Text 14"/>
          <p:cNvSpPr txBox="1"/>
          <p:nvPr/>
        </p:nvSpPr>
        <p:spPr>
          <a:xfrm>
            <a:off x="777240" y="4617720"/>
            <a:ext cx="1097280" cy="566928"/>
          </a:xfrm>
          <a:prstGeom prst="rect">
            <a:avLst/>
          </a:prstGeom>
          <a:noFill/>
          <a:ln/>
        </p:spPr>
        <p:txBody>
          <a:bodyPr wrap="square" lIns="0" tIns="0" rIns="0" bIns="0" rtlCol="0" anchor="ctr"/>
          <a:lstStyle/>
          <a:p>
            <a:pPr marL="0" indent="0">
              <a:buNone/>
            </a:pPr>
            <a:r>
              <a:rPr lang="en-US" sz="1600" b="1" dirty="0">
                <a:solidFill>
                  <a:schemeClr val="accent3"/>
                </a:solidFill>
              </a:rPr>
              <a:t>Run</a:t>
            </a:r>
            <a:endParaRPr lang="en-US" sz="1600" dirty="0"/>
          </a:p>
        </p:txBody>
      </p:sp>
      <p:sp>
        <p:nvSpPr>
          <p:cNvPr id="17" name="Text 15"/>
          <p:cNvSpPr txBox="1"/>
          <p:nvPr/>
        </p:nvSpPr>
        <p:spPr>
          <a:xfrm>
            <a:off x="1920240" y="4617720"/>
            <a:ext cx="9509760" cy="566928"/>
          </a:xfrm>
          <a:prstGeom prst="rect">
            <a:avLst/>
          </a:prstGeom>
          <a:noFill/>
          <a:ln/>
        </p:spPr>
        <p:txBody>
          <a:bodyPr wrap="square" lIns="0" tIns="0" rIns="0" bIns="0" rtlCol="0" anchor="ctr"/>
          <a:lstStyle/>
          <a:p>
            <a:pPr marL="0" indent="0">
              <a:buNone/>
            </a:pPr>
            <a:r>
              <a:rPr lang="en-US" sz="1600" dirty="0">
                <a:solidFill>
                  <a:schemeClr val="tx1"/>
                </a:solidFill>
              </a:rPr>
              <a:t>Transpile at optimization levels 1 and 3 and compare circuit depth</a:t>
            </a:r>
            <a:endParaRPr lang="en-US" sz="1600" dirty="0"/>
          </a:p>
        </p:txBody>
      </p:sp>
      <p:sp>
        <p:nvSpPr>
          <p:cNvPr id="18" name="ex-card-5"/>
          <p:cNvSpPr/>
          <p:nvPr/>
        </p:nvSpPr>
        <p:spPr>
          <a:xfrm>
            <a:off x="548640" y="5349240"/>
            <a:ext cx="11064240" cy="676656"/>
          </a:xfrm>
          <a:prstGeom prst="roundRect">
            <a:avLst>
              <a:gd name="adj" fmla="val 16216"/>
            </a:avLst>
          </a:prstGeom>
          <a:solidFill>
            <a:schemeClr val="bg2"/>
          </a:solidFill>
          <a:ln w="12700">
            <a:solidFill>
              <a:schemeClr val="bg2"/>
            </a:solidFill>
            <a:prstDash val="solid"/>
          </a:ln>
        </p:spPr>
        <p:txBody>
          <a:bodyPr/>
          <a:lstStyle/>
          <a:p>
            <a:endParaRPr lang="en-US"/>
          </a:p>
        </p:txBody>
      </p:sp>
      <p:sp>
        <p:nvSpPr>
          <p:cNvPr id="19" name="Text 17"/>
          <p:cNvSpPr txBox="1"/>
          <p:nvPr/>
        </p:nvSpPr>
        <p:spPr>
          <a:xfrm>
            <a:off x="777240" y="5404104"/>
            <a:ext cx="1097280" cy="566928"/>
          </a:xfrm>
          <a:prstGeom prst="rect">
            <a:avLst/>
          </a:prstGeom>
          <a:noFill/>
          <a:ln/>
        </p:spPr>
        <p:txBody>
          <a:bodyPr wrap="square" lIns="0" tIns="0" rIns="0" bIns="0" rtlCol="0" anchor="ctr"/>
          <a:lstStyle/>
          <a:p>
            <a:pPr marL="0" indent="0">
              <a:buNone/>
            </a:pPr>
            <a:r>
              <a:rPr lang="en-US" sz="1600" b="1" dirty="0">
                <a:solidFill>
                  <a:schemeClr val="accent3"/>
                </a:solidFill>
              </a:rPr>
              <a:t>Think</a:t>
            </a:r>
            <a:endParaRPr lang="en-US" sz="1600" dirty="0"/>
          </a:p>
        </p:txBody>
      </p:sp>
      <p:sp>
        <p:nvSpPr>
          <p:cNvPr id="20" name="Text 18"/>
          <p:cNvSpPr txBox="1"/>
          <p:nvPr/>
        </p:nvSpPr>
        <p:spPr>
          <a:xfrm>
            <a:off x="1920240" y="5404104"/>
            <a:ext cx="9509760" cy="566928"/>
          </a:xfrm>
          <a:prstGeom prst="rect">
            <a:avLst/>
          </a:prstGeom>
          <a:noFill/>
          <a:ln/>
        </p:spPr>
        <p:txBody>
          <a:bodyPr wrap="square" lIns="0" tIns="0" rIns="0" bIns="0" rtlCol="0" anchor="ctr"/>
          <a:lstStyle/>
          <a:p>
            <a:pPr marL="0" indent="0">
              <a:buNone/>
            </a:pPr>
            <a:r>
              <a:rPr lang="en-US" sz="1600" dirty="0">
                <a:solidFill>
                  <a:schemeClr val="tx1"/>
                </a:solidFill>
              </a:rPr>
              <a:t>Compare your QAOA cut with a random-sampling baseline and brute force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Further reading and next steps</a:t>
            </a:r>
            <a:endParaRPr lang="en-US" sz="3400" dirty="0"/>
          </a:p>
        </p:txBody>
      </p:sp>
      <p:sp>
        <p:nvSpPr>
          <p:cNvPr id="3" name="Text 1"/>
          <p:cNvSpPr txBox="1"/>
          <p:nvPr/>
        </p:nvSpPr>
        <p:spPr>
          <a:xfrm>
            <a:off x="548640" y="1463040"/>
            <a:ext cx="11064240" cy="47548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IBM Quantum tutorial: Quantum approximate optimization algorithm (the notebook this lecture follows)</a:t>
            </a:r>
            <a:endParaRPr lang="en-US" sz="1700" dirty="0"/>
          </a:p>
          <a:p>
            <a:pPr marL="342900" indent="-342900">
              <a:spcAft>
                <a:spcPts val="800"/>
              </a:spcAft>
              <a:buSzPct val="100000"/>
              <a:buChar char="•"/>
            </a:pPr>
            <a:r>
              <a:rPr lang="en-US" sz="1700" dirty="0">
                <a:solidFill>
                  <a:schemeClr val="tx1"/>
                </a:solidFill>
              </a:rPr>
              <a:t>IBM Quantum tutorial: Advanced techniques for QAOA</a:t>
            </a:r>
            <a:endParaRPr lang="en-US" sz="1700" dirty="0"/>
          </a:p>
          <a:p>
            <a:pPr marL="342900" indent="-342900">
              <a:spcAft>
                <a:spcPts val="800"/>
              </a:spcAft>
              <a:buSzPct val="100000"/>
              <a:buChar char="•"/>
            </a:pPr>
            <a:r>
              <a:rPr lang="en-US" sz="1700" dirty="0">
                <a:solidFill>
                  <a:schemeClr val="tx1"/>
                </a:solidFill>
              </a:rPr>
              <a:t>IBM Quantum learning: QAOA in depth, for utility-scale QAOA</a:t>
            </a:r>
            <a:endParaRPr lang="en-US" sz="1700" dirty="0"/>
          </a:p>
          <a:p>
            <a:pPr marL="342900" indent="-342900">
              <a:spcAft>
                <a:spcPts val="800"/>
              </a:spcAft>
              <a:buSzPct val="100000"/>
              <a:buChar char="•"/>
            </a:pPr>
            <a:r>
              <a:rPr lang="en-US" sz="1700" dirty="0">
                <a:solidFill>
                  <a:schemeClr val="tx1"/>
                </a:solidFill>
              </a:rPr>
              <a:t>IBM Quantum docs: Transpilation, and Error suppression and mitigation techniques</a:t>
            </a:r>
            <a:endParaRPr lang="en-US" sz="1700" dirty="0"/>
          </a:p>
          <a:p>
            <a:pPr marL="342900" indent="-342900">
              <a:spcAft>
                <a:spcPts val="800"/>
              </a:spcAft>
              <a:buSzPct val="100000"/>
              <a:buChar char="•"/>
            </a:pPr>
            <a:r>
              <a:rPr lang="en-US" sz="1700" dirty="0">
                <a:solidFill>
                  <a:schemeClr val="tx1"/>
                </a:solidFill>
              </a:rPr>
              <a:t>Community challenge: multi-objective optimization (QDC 2025, Track B)</a:t>
            </a:r>
            <a:endParaRPr lang="en-US" sz="1700" dirty="0"/>
          </a:p>
          <a:p>
            <a:pPr marL="342900" indent="-342900">
              <a:spcAft>
                <a:spcPts val="800"/>
              </a:spcAft>
              <a:buSzPct val="100000"/>
              <a:buChar char="•"/>
            </a:pPr>
            <a:r>
              <a:rPr lang="en-US" sz="1700" dirty="0">
                <a:solidFill>
                  <a:schemeClr val="tx1"/>
                </a:solidFill>
              </a:rPr>
              <a:t>Farhi, Goldstone, Gutmann (2014), A Quantum Approximate Optimization Algorithm, arXiv:1411.4028</a:t>
            </a:r>
            <a:endParaRPr lang="en-US" sz="1700" dirty="0"/>
          </a:p>
          <a:p>
            <a:pPr marL="342900" indent="-342900">
              <a:spcAft>
                <a:spcPts val="800"/>
              </a:spcAft>
              <a:buSzPct val="100000"/>
              <a:buChar char="•"/>
            </a:pPr>
            <a:r>
              <a:rPr lang="en-US" sz="1700" dirty="0">
                <a:solidFill>
                  <a:schemeClr val="tx1"/>
                </a:solidFill>
              </a:rPr>
              <a:t>Goemans and Williamson (1995), Improved approximation algorithms for maximum cut, Journal of the ACM</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52</a:t>
            </a:fld>
            <a:endParaRPr lang="en-US"/>
          </a:p>
        </p:txBody>
      </p:sp>
    </p:spTree>
  </p:cSld>
  <p:clrMapOvr>
    <a:masterClrMapping/>
  </p:clrMapOvr>
</p:sld>
</file>

<file path=ppt/theme/theme1.xml><?xml version="1.0" encoding="utf-8"?>
<a:theme xmlns:a="http://schemas.openxmlformats.org/drawingml/2006/main" name="QAOA Lecture">
  <a:themeElements>
    <a:clrScheme name="QAOA Lecture">
      <a:dk1>
        <a:srgbClr val="1B1646"/>
      </a:dk1>
      <a:lt1>
        <a:srgbClr val="FFFFFF"/>
      </a:lt1>
      <a:dk2>
        <a:srgbClr val="3D3A7C"/>
      </a:dk2>
      <a:lt2>
        <a:srgbClr val="EEF0FF"/>
      </a:lt2>
      <a:accent1>
        <a:srgbClr val="1FB5A6"/>
      </a:accent1>
      <a:accent2>
        <a:srgbClr val="FFB703"/>
      </a:accent2>
      <a:accent3>
        <a:srgbClr val="6A4FE0"/>
      </a:accent3>
      <a:accent4>
        <a:srgbClr val="E5484D"/>
      </a:accent4>
      <a:accent5>
        <a:srgbClr val="5C6BC0"/>
      </a:accent5>
      <a:accent6>
        <a:srgbClr val="8A90BD"/>
      </a:accent6>
      <a:hlink>
        <a:srgbClr val="6A4FE0"/>
      </a:hlink>
      <a:folHlink>
        <a:srgbClr val="8A90BD"/>
      </a:folHlink>
    </a:clrScheme>
    <a:fontScheme name="QAOA Lect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10893</Words>
  <Application>Microsoft Macintosh PowerPoint</Application>
  <PresentationFormat>Widescreen</PresentationFormat>
  <Paragraphs>903</Paragraphs>
  <Slides>52</Slides>
  <Notes>52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Cambria</vt:lpstr>
      <vt:lpstr>Courier New</vt:lpstr>
      <vt:lpstr>QAOA Lecture</vt:lpstr>
      <vt:lpstr>PowerPoint Presentation</vt:lpstr>
      <vt:lpstr>Learning outcomes</vt:lpstr>
      <vt:lpstr>Roadmap: four parts</vt:lpstr>
      <vt:lpstr>The big idea in one picture</vt:lpstr>
      <vt:lpstr>Classical foundations</vt:lpstr>
      <vt:lpstr>What is an optimization problem?</vt:lpstr>
      <vt:lpstr>Why combinatorial problems get hard</vt:lpstr>
      <vt:lpstr>P, NP, and NP-hard in plain words</vt:lpstr>
      <vt:lpstr>Graphs: the vocabulary</vt:lpstr>
      <vt:lpstr>The Max-Cut problem</vt:lpstr>
      <vt:lpstr>The objective function</vt:lpstr>
      <vt:lpstr>Worked example on the 5-node graph</vt:lpstr>
      <vt:lpstr>Check your understanding: Part A</vt:lpstr>
      <vt:lpstr>Quantum foundations</vt:lpstr>
      <vt:lpstr>Bits and qubits</vt:lpstr>
      <vt:lpstr>Measurement: how we read a qubit</vt:lpstr>
      <vt:lpstr>Amplitudes, probabilities, and interference</vt:lpstr>
      <vt:lpstr>Several qubits and bit order</vt:lpstr>
      <vt:lpstr>Pauli operators</vt:lpstr>
      <vt:lpstr>Pauli strings: several qubits at once</vt:lpstr>
      <vt:lpstr>Hamiltonians and ground states</vt:lpstr>
      <vt:lpstr>Expectation values</vt:lpstr>
      <vt:lpstr>Why minimize the average energy?</vt:lpstr>
      <vt:lpstr>Gates as rotations: the angles γ and β</vt:lpstr>
      <vt:lpstr>The hybrid quantum-classical loop</vt:lpstr>
      <vt:lpstr>Check your understanding: Part B</vt:lpstr>
      <vt:lpstr>QAOA</vt:lpstr>
      <vt:lpstr>From Max-Cut to the cost Hamiltonian</vt:lpstr>
      <vt:lpstr>The cost Hamiltonian of our 5-node graph</vt:lpstr>
      <vt:lpstr>The energy landscape of our 5-node graph</vt:lpstr>
      <vt:lpstr>QAOA at a glance: five steps</vt:lpstr>
      <vt:lpstr>Step 1: Encode the problem</vt:lpstr>
      <vt:lpstr>Step 2: Define the mixer Hamiltonian</vt:lpstr>
      <vt:lpstr>Step 3: Prepare the initial state</vt:lpstr>
      <vt:lpstr>Step 4: Build the alternating ansatz</vt:lpstr>
      <vt:lpstr>Step 5: Measure expectation values and optimize</vt:lpstr>
      <vt:lpstr>One QAOA layer, in pictures</vt:lpstr>
      <vt:lpstr>Worked example: QAOA by hand on one edge</vt:lpstr>
      <vt:lpstr>Worked example: following the probabilities</vt:lpstr>
      <vt:lpstr>Two knobs: γ and β</vt:lpstr>
      <vt:lpstr>Why does QAOA work? Intuition</vt:lpstr>
      <vt:lpstr>Check your understanding: Part C</vt:lpstr>
      <vt:lpstr>Qiskit pattern on hardware</vt:lpstr>
      <vt:lpstr>Qiskit patterns: a four-step workflow</vt:lpstr>
      <vt:lpstr>Why transpile? The chip is not fully connected</vt:lpstr>
      <vt:lpstr>Small-scale result: what the optimizer did</vt:lpstr>
      <vt:lpstr>Small-scale result: the sampled distribution</vt:lpstr>
      <vt:lpstr>What QAOA can and cannot do today</vt:lpstr>
      <vt:lpstr>Check your understanding: Part D</vt:lpstr>
      <vt:lpstr>Summary</vt:lpstr>
      <vt:lpstr>Exercises</vt:lpstr>
      <vt:lpstr>Further reading and 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QAOA for Max-Cut: core deck</dc:title>
  <dc:subject>PptxGenJS Presentation</dc:subject>
  <dc:creator>Lecture material</dc:creator>
  <cp:lastModifiedBy>Brinkley-Tapp, Lexus</cp:lastModifiedBy>
  <cp:revision>2</cp:revision>
  <dcterms:created xsi:type="dcterms:W3CDTF">2026-10-15T22:38:39Z</dcterms:created>
  <dcterms:modified xsi:type="dcterms:W3CDTF">2026-10-18T13:08:58Z</dcterms:modified>
</cp:coreProperties>
</file>