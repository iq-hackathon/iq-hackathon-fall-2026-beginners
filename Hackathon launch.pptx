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362" r:id="rId3"/>
    <p:sldId id="361" r:id="rId4"/>
    <p:sldId id="363" r:id="rId5"/>
    <p:sldId id="364" r:id="rId6"/>
    <p:sldId id="366" r:id="rId7"/>
    <p:sldId id="365" r:id="rId8"/>
    <p:sldId id="36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1"/>
  </p:normalViewPr>
  <p:slideViewPr>
    <p:cSldViewPr snapToGrid="0">
      <p:cViewPr varScale="1">
        <p:scale>
          <a:sx n="114" d="100"/>
          <a:sy n="114" d="100"/>
        </p:scale>
        <p:origin x="66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E8B668-EFFB-444C-A893-FC0C5D0F46B5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F3764A-51DB-4645-BF9F-27181E398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3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EE72E1-1AE0-4643-8460-6A602C5A1D2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7632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CE7DF-F7D4-8EC7-21CE-BA99F85FE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091D5F-9DE5-BDD4-23AB-0139FF731A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A1788C-A31E-9009-AC8B-3E0CE8AFBC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E214E8-5693-6254-CAFC-840AEFB1B3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EE72E1-1AE0-4643-8460-6A602C5A1D2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49834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1C2E2-5B9A-B1A6-D4E3-0372CA86D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943437-6923-BAC5-B6A9-BC81777FDD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93A6DD-6A79-AB18-BC51-B641148682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AA4B06-73F1-510D-5348-F390F9524D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EE72E1-1AE0-4643-8460-6A602C5A1D2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30677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0EA5F-2FD2-30C6-EF72-989BC4D70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7BF75B-2DE1-92C6-6512-91825230FA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4301B6-3D2C-6B98-EE82-76C30553EF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B5C113-FA7A-E0E9-09A8-44E87B5E82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EE72E1-1AE0-4643-8460-6A602C5A1D2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46774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B2902-D743-18A6-B953-D51A2EA5F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70ED8B-76DB-4771-C478-04B31BF61C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C47563-AA85-36F7-4954-B48651D917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21FA26-FF45-C038-6DEF-71E8D134E1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EE72E1-1AE0-4643-8460-6A602C5A1D2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36713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D6150-0600-61B0-B9A8-365486C31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17E19A-DC20-4808-1789-15CAF0E42F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0948C0-D5D8-0B00-9D8C-86C16F771A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43B100-09FB-2402-06F4-7A39F86452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EE72E1-1AE0-4643-8460-6A602C5A1D2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08149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FEE72-DCE1-53BD-E839-3FE5E5336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6EC3EF-F1B2-B425-88BA-6F80BA4330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58C039-EC9A-206B-7E4C-7AF35727C7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9E40EE-5024-D592-CA54-35610591A4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EE72E1-1AE0-4643-8460-6A602C5A1D2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18531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E9E62-1829-FF28-5A8F-5905C16C8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F0D397-F281-CAFF-296C-69491123DF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71DCC0-DDBB-9EE6-90BE-6A0711DA9A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4384E9-7982-38D9-6C84-EBA42E2D71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EE72E1-1AE0-4643-8460-6A602C5A1D2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10931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06E52-2615-E28B-78DC-4626221619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406C50-2007-DDCE-BAD4-32A03C8BBB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09F06-9EF2-35A2-8F9D-C7483DA1D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026BE-9A6F-A042-A9B4-F9D7C1618AD0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3B6987-DB59-02B9-95B3-DF5A06A09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77A8AA-74D8-5AB4-ABE6-04B842CC6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04E45-88E5-F84C-913B-BE626CB6D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409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DBBE4-D5EE-DC5D-0581-880F310E9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7CAB2-E4B5-F4BE-318F-E294403E8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9ECAF-4E64-A2B3-8CF5-BBA1F6AAF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026BE-9A6F-A042-A9B4-F9D7C1618AD0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AA6A6B-F288-B021-27B9-F07C4E582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DE05C-5454-B2CB-9673-9DAFD68A6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04E45-88E5-F84C-913B-BE626CB6D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311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5CF42-73BA-40B9-4723-82B6EE970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765680-78FB-E94B-02FA-D8AD7577C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0FB60C-FC94-D427-044A-001F7C8D4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026BE-9A6F-A042-A9B4-F9D7C1618AD0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BC6F2-9403-FA21-065E-9D61CBD14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718E3-CD92-B6F2-F79C-D3DDA9A78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04E45-88E5-F84C-913B-BE626CB6D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366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C23F9-2239-A7B6-C592-D951A4C8B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2A204-4549-F219-8B44-73C748FC86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D1B716-1EC8-6076-93D8-F04B80BC0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F18954-CEA1-05A9-2024-EA19B667C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026BE-9A6F-A042-A9B4-F9D7C1618AD0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86573D-A5B2-3F39-5EA3-C7BFE507B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CCD18A-116D-B17D-56F3-D94A9C266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04E45-88E5-F84C-913B-BE626CB6D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02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3EE20-CB33-18FB-5BCC-C88D0BCF6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2A8FD8-8770-C0C8-CD01-71F6B88C47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F6BAF6-EEEB-ABDB-8FC9-D26DA7A2B0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38535C-4C82-220C-DCFA-F0675EAB9D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513615-7E02-120A-758A-1CF40AC69B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8B4EE9-FEA2-2DDE-9706-024FEEF6F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026BE-9A6F-A042-A9B4-F9D7C1618AD0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858D55-C205-D859-6B09-C246B51FD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1CBD3F-B22B-E9AE-A9DF-E618EBE43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04E45-88E5-F84C-913B-BE626CB6D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493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936A2-9866-D644-605D-7B422EC8B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D166BB-4C6A-4503-D0B9-A098C41E1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026BE-9A6F-A042-A9B4-F9D7C1618AD0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8CEBCD-C80F-5374-D69A-AFBA96D93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8F70F4-39F9-E7A5-360D-6EF515587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04E45-88E5-F84C-913B-BE626CB6D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784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C2B72C-20E6-72A1-681D-AF41EEAE5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026BE-9A6F-A042-A9B4-F9D7C1618AD0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61366A-F732-22EF-65E1-B47A09D1A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B8BDBB-5FAC-87C9-FCD5-E18D7B468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04E45-88E5-F84C-913B-BE626CB6D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985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9B43D-01CC-6C46-8F60-30AC1A453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F63E7-7907-3CBE-EE9C-84DD536DB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760EC9-40E3-8896-5B24-4789DB6B33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98019C-EA79-861A-E9C4-164011E59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026BE-9A6F-A042-A9B4-F9D7C1618AD0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551EFD-935B-DD2B-357C-33F815395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50DBEA-D745-5FCE-579B-CD3408706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04E45-88E5-F84C-913B-BE626CB6D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873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BF34A-3550-BED9-18CB-B96E3F97D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BB029A-3141-0BD1-4416-49E4C198E21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06E32F-B75E-E038-5560-2EAE79B9D3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978202-A0B9-CE22-017A-3B999F5F4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026BE-9A6F-A042-A9B4-F9D7C1618AD0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BC8D8D-BE61-1AD8-29D9-F3C460EC3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23F81B-25FB-BB1D-98F9-7B049FA0C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04E45-88E5-F84C-913B-BE626CB6D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876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4D9F4-2CE9-142C-F727-F4DD865B7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41C23D-7A11-F95D-E6AC-87D6D9127B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A28208-5166-B7CC-99E9-7C72504D1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026BE-9A6F-A042-A9B4-F9D7C1618AD0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5291F-A3B2-D5D4-F7D0-91FD39E19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42C0F-C5C2-8927-E012-3DBB7FE7F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04E45-88E5-F84C-913B-BE626CB6D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435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3004FD-8EE3-2594-6CC6-9B224B2382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55CB94-6705-77B7-ED14-822519C604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2D821-C7BA-E656-1C3B-9033EF52F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026BE-9A6F-A042-A9B4-F9D7C1618AD0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42F796-75A6-6496-C7FE-1AE3397B4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74FC7-29D6-453E-97BF-7C60E9FCD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04E45-88E5-F84C-913B-BE626CB6D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948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12975B-4C66-79F1-FE15-8B1A70E22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8221F7-11D4-E378-4090-3F6ED195D4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C7527-5626-EE72-EC39-4F585D6E9E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026BE-9A6F-A042-A9B4-F9D7C1618AD0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FF60AB-8C96-7144-B985-C36F17AC5E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90C21-612C-9D78-5D91-42306C8369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204E45-88E5-F84C-913B-BE626CB6D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086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q-hackathon/IQ-Hackathon-Fall-2026-Beginner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74895D8-F085-F27D-F615-C19E3FA6AFE5}"/>
              </a:ext>
            </a:extLst>
          </p:cNvPr>
          <p:cNvSpPr/>
          <p:nvPr/>
        </p:nvSpPr>
        <p:spPr>
          <a:xfrm>
            <a:off x="256303" y="1170810"/>
            <a:ext cx="11676464" cy="1416817"/>
          </a:xfrm>
          <a:prstGeom prst="roundRect">
            <a:avLst/>
          </a:prstGeom>
          <a:solidFill>
            <a:srgbClr val="163E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Univers Light" panose="020B0403020202020204" pitchFamily="34" charset="0"/>
              </a:rPr>
              <a:t>Interstate Hackathon Event Launch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01BA97-38FD-9583-D2DE-0B527FA5C687}"/>
              </a:ext>
            </a:extLst>
          </p:cNvPr>
          <p:cNvSpPr txBox="1"/>
          <p:nvPr/>
        </p:nvSpPr>
        <p:spPr>
          <a:xfrm>
            <a:off x="4709381" y="3112441"/>
            <a:ext cx="27703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Univers Light" panose="020B0403020202020204" pitchFamily="34" charset="0"/>
              </a:rPr>
              <a:t>Abhijit Chakraborty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9ECB26-B47B-AB20-16F0-F002561277EA}"/>
              </a:ext>
            </a:extLst>
          </p:cNvPr>
          <p:cNvSpPr txBox="1"/>
          <p:nvPr/>
        </p:nvSpPr>
        <p:spPr>
          <a:xfrm>
            <a:off x="1728596" y="3839749"/>
            <a:ext cx="873187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Univers Light" panose="020B0403020202020204" pitchFamily="34" charset="0"/>
              </a:rPr>
              <a:t>Department of Physics and Astronomy, Middle Tennessee State University</a:t>
            </a:r>
          </a:p>
          <a:p>
            <a:pPr algn="ctr"/>
            <a:endParaRPr lang="en-US" sz="2000" dirty="0">
              <a:latin typeface="Univers Light" panose="020B0403020202020204" pitchFamily="34" charset="0"/>
            </a:endParaRPr>
          </a:p>
          <a:p>
            <a:pPr algn="ctr"/>
            <a:r>
              <a:rPr lang="en-US" sz="2000" dirty="0">
                <a:latin typeface="Univers Light" panose="020B0403020202020204" pitchFamily="34" charset="0"/>
              </a:rPr>
              <a:t>Interstate quantum hackathon for beginners 2026</a:t>
            </a:r>
          </a:p>
        </p:txBody>
      </p:sp>
      <p:pic>
        <p:nvPicPr>
          <p:cNvPr id="7" name="Picture 6" descr="MTSU, MTE partner on tech hub to build region's quantum infrastructure –  MTSU News">
            <a:extLst>
              <a:ext uri="{FF2B5EF4-FFF2-40B4-BE49-F238E27FC236}">
                <a16:creationId xmlns:a16="http://schemas.microsoft.com/office/drawing/2014/main" id="{459D38E1-7FC8-14A8-1627-BBD4C3C9A6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9281" y="5262546"/>
            <a:ext cx="1423471" cy="146414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5C0A6AB-011A-D5DA-94E1-E100229F3D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5753" y="5395476"/>
            <a:ext cx="1198283" cy="11982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08678F-6AE5-1178-0FF1-C3ADA58AEF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037" y="5632667"/>
            <a:ext cx="1689100" cy="7239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2AC55AC-BA89-0E32-7262-0898F5FFDF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9138" y="5371835"/>
            <a:ext cx="1984458" cy="1245564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EE798F41-75C0-E204-A42A-68EB36AC77B3}"/>
              </a:ext>
            </a:extLst>
          </p:cNvPr>
          <p:cNvGrpSpPr/>
          <p:nvPr/>
        </p:nvGrpSpPr>
        <p:grpSpPr>
          <a:xfrm>
            <a:off x="10876595" y="5279502"/>
            <a:ext cx="1260571" cy="1430230"/>
            <a:chOff x="10672195" y="5287563"/>
            <a:chExt cx="1260571" cy="1430230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F2C86932-90EB-50B4-6279-289E7B62E45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672195" y="5287563"/>
              <a:ext cx="1260571" cy="1245564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11016B4-BBE5-75C0-4935-0F16245EA126}"/>
                </a:ext>
              </a:extLst>
            </p:cNvPr>
            <p:cNvSpPr txBox="1"/>
            <p:nvPr/>
          </p:nvSpPr>
          <p:spPr>
            <a:xfrm>
              <a:off x="10743545" y="6348461"/>
              <a:ext cx="11178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Scan me!</a:t>
              </a: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6B369A1D-C89A-C0CE-0FEA-D90EB330F02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7473" t="5432" r="6851" b="9222"/>
          <a:stretch>
            <a:fillRect/>
          </a:stretch>
        </p:blipFill>
        <p:spPr>
          <a:xfrm>
            <a:off x="161366" y="5407291"/>
            <a:ext cx="2754914" cy="117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444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9BDB6-23F0-6E1F-F670-DD0C4BDC4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6AFD623-8F49-7E3D-AAEB-7D5EFF071CC9}"/>
              </a:ext>
            </a:extLst>
          </p:cNvPr>
          <p:cNvSpPr/>
          <p:nvPr/>
        </p:nvSpPr>
        <p:spPr>
          <a:xfrm>
            <a:off x="0" y="0"/>
            <a:ext cx="12192000" cy="653143"/>
          </a:xfrm>
          <a:prstGeom prst="rect">
            <a:avLst/>
          </a:prstGeom>
          <a:solidFill>
            <a:srgbClr val="163E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 panose="020B0403020202020204" pitchFamily="34" charset="0"/>
                <a:ea typeface="+mn-ea"/>
                <a:cs typeface="+mn-cs"/>
              </a:rPr>
              <a:t> Schedule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E2CB24-0FD5-AA29-6F3E-C769E338C3CE}"/>
              </a:ext>
            </a:extLst>
          </p:cNvPr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63E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Ligh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625B82-5BAE-F9D0-08F1-4F51694608E8}"/>
              </a:ext>
            </a:extLst>
          </p:cNvPr>
          <p:cNvSpPr txBox="1"/>
          <p:nvPr/>
        </p:nvSpPr>
        <p:spPr>
          <a:xfrm>
            <a:off x="1153722" y="6561723"/>
            <a:ext cx="9156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/>
                <a:ea typeface="+mn-ea"/>
                <a:cs typeface="+mn-cs"/>
              </a:rPr>
              <a:t>IQ Hack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F1DD00-48E8-F61C-0888-F257807262EB}"/>
              </a:ext>
            </a:extLst>
          </p:cNvPr>
          <p:cNvSpPr txBox="1"/>
          <p:nvPr/>
        </p:nvSpPr>
        <p:spPr>
          <a:xfrm>
            <a:off x="11450918" y="6551563"/>
            <a:ext cx="324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/>
                <a:ea typeface="+mn-ea"/>
                <a:cs typeface="+mn-cs"/>
              </a:rPr>
              <a:t>1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EBAFAD5-235F-EAD3-18E8-51306CF4E8CF}"/>
              </a:ext>
            </a:extLst>
          </p:cNvPr>
          <p:cNvCxnSpPr/>
          <p:nvPr/>
        </p:nvCxnSpPr>
        <p:spPr>
          <a:xfrm>
            <a:off x="2733040" y="6583680"/>
            <a:ext cx="0" cy="27432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E19A061-6357-241E-8EDE-328D6A138D6D}"/>
              </a:ext>
            </a:extLst>
          </p:cNvPr>
          <p:cNvCxnSpPr/>
          <p:nvPr/>
        </p:nvCxnSpPr>
        <p:spPr>
          <a:xfrm>
            <a:off x="7762240" y="6593840"/>
            <a:ext cx="0" cy="27432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C354CCA-0B1C-4BE3-4AD7-00E9ECC81073}"/>
              </a:ext>
            </a:extLst>
          </p:cNvPr>
          <p:cNvSpPr txBox="1"/>
          <p:nvPr/>
        </p:nvSpPr>
        <p:spPr>
          <a:xfrm flipH="1">
            <a:off x="8424424" y="6551563"/>
            <a:ext cx="20422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/>
                <a:ea typeface="+mn-ea"/>
                <a:cs typeface="+mn-cs"/>
              </a:rPr>
              <a:t>October </a:t>
            </a:r>
            <a:r>
              <a:rPr lang="en-US" sz="1600" dirty="0">
                <a:solidFill>
                  <a:prstClr val="white"/>
                </a:solidFill>
                <a:latin typeface="Univers Light"/>
              </a:rPr>
              <a:t>22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/>
                <a:ea typeface="+mn-ea"/>
                <a:cs typeface="+mn-cs"/>
              </a:rPr>
              <a:t>, 2026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F1D0F4E-86D7-37CA-20FD-7C4804614DC5}"/>
              </a:ext>
            </a:extLst>
          </p:cNvPr>
          <p:cNvCxnSpPr/>
          <p:nvPr/>
        </p:nvCxnSpPr>
        <p:spPr>
          <a:xfrm>
            <a:off x="10911840" y="6595477"/>
            <a:ext cx="0" cy="27432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3EEA4C3-58B4-344E-582F-26013B2A0186}"/>
              </a:ext>
            </a:extLst>
          </p:cNvPr>
          <p:cNvSpPr txBox="1"/>
          <p:nvPr/>
        </p:nvSpPr>
        <p:spPr>
          <a:xfrm>
            <a:off x="4857553" y="6551563"/>
            <a:ext cx="7649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prstClr val="white"/>
                </a:solidFill>
                <a:latin typeface="Univers Light"/>
              </a:rPr>
              <a:t>MTSU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Light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F2A38B-6C3D-3911-178A-0403110EBB91}"/>
              </a:ext>
            </a:extLst>
          </p:cNvPr>
          <p:cNvSpPr txBox="1"/>
          <p:nvPr/>
        </p:nvSpPr>
        <p:spPr>
          <a:xfrm>
            <a:off x="258183" y="968188"/>
            <a:ext cx="1174052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Thursday, October 22, 2026, 5:00 – 6:30 pm CDT: </a:t>
            </a:r>
            <a:r>
              <a:rPr lang="en-US" dirty="0"/>
              <a:t>Event Launch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Friday, October 23, 2026, 5:00 – 6:30 pm CDT: </a:t>
            </a:r>
            <a:r>
              <a:rPr lang="en-US" dirty="0"/>
              <a:t>Industry Expert talk (by Sophy Shin, IBM Quantum). Discussion session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Saturday , October 24, 2026, 9:00 am – 4:00 pm CDT: </a:t>
            </a:r>
            <a:r>
              <a:rPr lang="en-US" dirty="0"/>
              <a:t>Discussion, problem solving, coding, submission.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Closing ceremony: October 30 5:00 pm</a:t>
            </a:r>
          </a:p>
          <a:p>
            <a:endParaRPr lang="en-US" b="1" dirty="0"/>
          </a:p>
          <a:p>
            <a:r>
              <a:rPr lang="en-US" dirty="0"/>
              <a:t>Winners give a small presentation.</a:t>
            </a:r>
          </a:p>
          <a:p>
            <a:endParaRPr lang="en-US" b="1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FF20A75-98BE-F809-33F0-BC4585EA3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9086" y="3080053"/>
            <a:ext cx="6305740" cy="3397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711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E0165-F412-9B32-334F-2B37D7963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370F1BE-778A-E8CC-AC63-5C6A26E21ECB}"/>
              </a:ext>
            </a:extLst>
          </p:cNvPr>
          <p:cNvSpPr/>
          <p:nvPr/>
        </p:nvSpPr>
        <p:spPr>
          <a:xfrm>
            <a:off x="0" y="0"/>
            <a:ext cx="12192000" cy="653143"/>
          </a:xfrm>
          <a:prstGeom prst="rect">
            <a:avLst/>
          </a:prstGeom>
          <a:solidFill>
            <a:srgbClr val="163E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 panose="020B0403020202020204" pitchFamily="34" charset="0"/>
                <a:ea typeface="+mn-ea"/>
                <a:cs typeface="+mn-cs"/>
              </a:rPr>
              <a:t> Hackathon Challenges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38FE11E-989F-422F-168C-A7D757E811BB}"/>
              </a:ext>
            </a:extLst>
          </p:cNvPr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63E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Light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62BBAA-24D8-875B-7AD9-B72C96C40A29}"/>
              </a:ext>
            </a:extLst>
          </p:cNvPr>
          <p:cNvSpPr txBox="1"/>
          <p:nvPr/>
        </p:nvSpPr>
        <p:spPr>
          <a:xfrm>
            <a:off x="11450918" y="6551563"/>
            <a:ext cx="324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prstClr val="white"/>
                </a:solidFill>
                <a:latin typeface="Univers Light"/>
              </a:rPr>
              <a:t>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Light"/>
              <a:ea typeface="+mn-ea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FC1611-9A6A-7BD0-3BDE-747C3E8295EC}"/>
              </a:ext>
            </a:extLst>
          </p:cNvPr>
          <p:cNvCxnSpPr/>
          <p:nvPr/>
        </p:nvCxnSpPr>
        <p:spPr>
          <a:xfrm>
            <a:off x="2733040" y="6583680"/>
            <a:ext cx="0" cy="27432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F6A2E63-FA34-FD78-771C-7FF771525C5E}"/>
              </a:ext>
            </a:extLst>
          </p:cNvPr>
          <p:cNvCxnSpPr/>
          <p:nvPr/>
        </p:nvCxnSpPr>
        <p:spPr>
          <a:xfrm>
            <a:off x="7762240" y="6593840"/>
            <a:ext cx="0" cy="27432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7A6D4A9-C97E-01EA-F33C-2BF8447389C1}"/>
              </a:ext>
            </a:extLst>
          </p:cNvPr>
          <p:cNvSpPr txBox="1"/>
          <p:nvPr/>
        </p:nvSpPr>
        <p:spPr>
          <a:xfrm flipH="1">
            <a:off x="8424424" y="6551563"/>
            <a:ext cx="20422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/>
                <a:ea typeface="+mn-ea"/>
                <a:cs typeface="+mn-cs"/>
              </a:rPr>
              <a:t>October </a:t>
            </a:r>
            <a:r>
              <a:rPr lang="en-US" sz="1600" dirty="0">
                <a:solidFill>
                  <a:prstClr val="white"/>
                </a:solidFill>
                <a:latin typeface="Univers Light"/>
              </a:rPr>
              <a:t>22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/>
                <a:ea typeface="+mn-ea"/>
                <a:cs typeface="+mn-cs"/>
              </a:rPr>
              <a:t>, 2026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54CD114-09AF-8EF0-03C5-FAE4565C4012}"/>
              </a:ext>
            </a:extLst>
          </p:cNvPr>
          <p:cNvCxnSpPr/>
          <p:nvPr/>
        </p:nvCxnSpPr>
        <p:spPr>
          <a:xfrm>
            <a:off x="10911840" y="6595477"/>
            <a:ext cx="0" cy="27432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2005CA6-A77F-C7B4-56C5-4B40035747CB}"/>
              </a:ext>
            </a:extLst>
          </p:cNvPr>
          <p:cNvSpPr txBox="1"/>
          <p:nvPr/>
        </p:nvSpPr>
        <p:spPr>
          <a:xfrm>
            <a:off x="4857553" y="6551563"/>
            <a:ext cx="7649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prstClr val="white"/>
                </a:solidFill>
                <a:latin typeface="Univers Light"/>
              </a:rPr>
              <a:t>MTSU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Light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04A5EA-E9AB-5110-C337-1DEEEF14B358}"/>
              </a:ext>
            </a:extLst>
          </p:cNvPr>
          <p:cNvSpPr txBox="1"/>
          <p:nvPr/>
        </p:nvSpPr>
        <p:spPr>
          <a:xfrm>
            <a:off x="258184" y="800923"/>
            <a:ext cx="978945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To review materials: Visit our GitHub repository</a:t>
            </a:r>
          </a:p>
          <a:p>
            <a:endParaRPr lang="en-US" dirty="0"/>
          </a:p>
          <a:p>
            <a:r>
              <a:rPr lang="en-US" dirty="0">
                <a:hlinkClick r:id="rId3"/>
              </a:rPr>
              <a:t>https://github.com/iq-hackathon/IQ-Hackathon-Fall-2026-Beginners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Three tracks: </a:t>
            </a:r>
          </a:p>
          <a:p>
            <a:pPr marL="742950" lvl="1" indent="-285750">
              <a:buFont typeface="Wingdings" pitchFamily="2" charset="2"/>
              <a:buChar char="Ø"/>
            </a:pPr>
            <a:endParaRPr lang="en-US" dirty="0"/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Variational Quantum </a:t>
            </a:r>
            <a:r>
              <a:rPr lang="en-US" dirty="0" err="1"/>
              <a:t>Eigensolver</a:t>
            </a:r>
            <a:r>
              <a:rPr lang="en-US" dirty="0"/>
              <a:t> (VQE)</a:t>
            </a:r>
          </a:p>
          <a:p>
            <a:pPr marL="800100" lvl="1" indent="-342900">
              <a:buFont typeface="+mj-lt"/>
              <a:buAutoNum type="arabicPeriod"/>
            </a:pPr>
            <a:endParaRPr lang="en-US" dirty="0"/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Quantum Machine Learning (QML)</a:t>
            </a:r>
          </a:p>
          <a:p>
            <a:pPr marL="800100" lvl="1" indent="-342900">
              <a:buFont typeface="+mj-lt"/>
              <a:buAutoNum type="arabicPeriod"/>
            </a:pPr>
            <a:endParaRPr lang="en-US" dirty="0"/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Quantum Approximate Optimization Algorithm (QAOA)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742EE83-672F-75E5-3AA3-6B9292CAF7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1597" y="714059"/>
            <a:ext cx="1627991" cy="162799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EC2C2C9-8676-88EC-494D-FF2A6C7C8EE8}"/>
              </a:ext>
            </a:extLst>
          </p:cNvPr>
          <p:cNvSpPr txBox="1"/>
          <p:nvPr/>
        </p:nvSpPr>
        <p:spPr>
          <a:xfrm>
            <a:off x="10283780" y="2402967"/>
            <a:ext cx="1763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Github</a:t>
            </a:r>
            <a:r>
              <a:rPr lang="en-US" dirty="0"/>
              <a:t> QR code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ED6C57-CEF4-015F-87B9-A98717698484}"/>
              </a:ext>
            </a:extLst>
          </p:cNvPr>
          <p:cNvSpPr txBox="1"/>
          <p:nvPr/>
        </p:nvSpPr>
        <p:spPr>
          <a:xfrm>
            <a:off x="258184" y="4532288"/>
            <a:ext cx="9789458" cy="18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Challenge: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dirty="0"/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Choose a track to work on.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Take a look at the materials covered during the training session for the chosen track.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Choose a problem related to the notebook.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EA3171-C432-44A0-8661-BBA144258E38}"/>
              </a:ext>
            </a:extLst>
          </p:cNvPr>
          <p:cNvSpPr txBox="1"/>
          <p:nvPr/>
        </p:nvSpPr>
        <p:spPr>
          <a:xfrm>
            <a:off x="1153722" y="6561723"/>
            <a:ext cx="9156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/>
                <a:ea typeface="+mn-ea"/>
                <a:cs typeface="+mn-cs"/>
              </a:rPr>
              <a:t>IQ Hack</a:t>
            </a:r>
          </a:p>
        </p:txBody>
      </p:sp>
    </p:spTree>
    <p:extLst>
      <p:ext uri="{BB962C8B-B14F-4D97-AF65-F5344CB8AC3E}">
        <p14:creationId xmlns:p14="http://schemas.microsoft.com/office/powerpoint/2010/main" val="505950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6C35F-613C-1A74-F77B-02A7C9BF9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7028301-5867-5558-18A3-B9569B69F86A}"/>
              </a:ext>
            </a:extLst>
          </p:cNvPr>
          <p:cNvSpPr/>
          <p:nvPr/>
        </p:nvSpPr>
        <p:spPr>
          <a:xfrm>
            <a:off x="0" y="0"/>
            <a:ext cx="12192000" cy="653143"/>
          </a:xfrm>
          <a:prstGeom prst="rect">
            <a:avLst/>
          </a:prstGeom>
          <a:solidFill>
            <a:srgbClr val="163E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 panose="020B0403020202020204" pitchFamily="34" charset="0"/>
                <a:ea typeface="+mn-ea"/>
                <a:cs typeface="+mn-cs"/>
              </a:rPr>
              <a:t> Hackathon Challenges: Example problem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A91F47-86F6-54D6-10CB-6ED92D688F6C}"/>
              </a:ext>
            </a:extLst>
          </p:cNvPr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63E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Light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7DD498-6690-2E14-3B42-06846C36FD3F}"/>
              </a:ext>
            </a:extLst>
          </p:cNvPr>
          <p:cNvSpPr txBox="1"/>
          <p:nvPr/>
        </p:nvSpPr>
        <p:spPr>
          <a:xfrm>
            <a:off x="11450918" y="6551563"/>
            <a:ext cx="324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prstClr val="white"/>
                </a:solidFill>
                <a:latin typeface="Univers Light"/>
              </a:rPr>
              <a:t>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Light"/>
              <a:ea typeface="+mn-ea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29CD6BB-7B69-EB71-AE68-BC0A81CB69C9}"/>
              </a:ext>
            </a:extLst>
          </p:cNvPr>
          <p:cNvCxnSpPr/>
          <p:nvPr/>
        </p:nvCxnSpPr>
        <p:spPr>
          <a:xfrm>
            <a:off x="2733040" y="6583680"/>
            <a:ext cx="0" cy="27432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B5238D2-D599-9F8A-4456-6178D46BC40F}"/>
              </a:ext>
            </a:extLst>
          </p:cNvPr>
          <p:cNvCxnSpPr/>
          <p:nvPr/>
        </p:nvCxnSpPr>
        <p:spPr>
          <a:xfrm>
            <a:off x="7762240" y="6593840"/>
            <a:ext cx="0" cy="27432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FD744E3-64D8-1116-8A5E-B580980B4E51}"/>
              </a:ext>
            </a:extLst>
          </p:cNvPr>
          <p:cNvSpPr txBox="1"/>
          <p:nvPr/>
        </p:nvSpPr>
        <p:spPr>
          <a:xfrm flipH="1">
            <a:off x="8424424" y="6551563"/>
            <a:ext cx="20422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/>
                <a:ea typeface="+mn-ea"/>
                <a:cs typeface="+mn-cs"/>
              </a:rPr>
              <a:t>October </a:t>
            </a:r>
            <a:r>
              <a:rPr lang="en-US" sz="1600" dirty="0">
                <a:solidFill>
                  <a:prstClr val="white"/>
                </a:solidFill>
                <a:latin typeface="Univers Light"/>
              </a:rPr>
              <a:t>22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/>
                <a:ea typeface="+mn-ea"/>
                <a:cs typeface="+mn-cs"/>
              </a:rPr>
              <a:t>, 2026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802F7BE-583E-A262-2553-566CE0E0B584}"/>
              </a:ext>
            </a:extLst>
          </p:cNvPr>
          <p:cNvCxnSpPr/>
          <p:nvPr/>
        </p:nvCxnSpPr>
        <p:spPr>
          <a:xfrm>
            <a:off x="10911840" y="6595477"/>
            <a:ext cx="0" cy="27432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79A4D3C-472E-CAF3-5FAA-EFB0CEAACB3E}"/>
              </a:ext>
            </a:extLst>
          </p:cNvPr>
          <p:cNvSpPr txBox="1"/>
          <p:nvPr/>
        </p:nvSpPr>
        <p:spPr>
          <a:xfrm>
            <a:off x="4857553" y="6551563"/>
            <a:ext cx="7649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prstClr val="white"/>
                </a:solidFill>
                <a:latin typeface="Univers Light"/>
              </a:rPr>
              <a:t>MTSU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Light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236266-EA31-7201-F1F0-983EB61B13B5}"/>
              </a:ext>
            </a:extLst>
          </p:cNvPr>
          <p:cNvSpPr txBox="1"/>
          <p:nvPr/>
        </p:nvSpPr>
        <p:spPr>
          <a:xfrm>
            <a:off x="258183" y="800923"/>
            <a:ext cx="10380079" cy="5176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VQE: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dirty="0"/>
          </a:p>
          <a:p>
            <a:pPr marL="1257300" lvl="2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Hamiltonian for a different molecule/ different bond length: trying to find ground state.</a:t>
            </a:r>
          </a:p>
          <a:p>
            <a:pPr marL="1257300" lvl="2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Effect of different circuit parametrization/optimizer.</a:t>
            </a:r>
          </a:p>
          <a:p>
            <a:pPr marL="1257300" lvl="2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Gradient-based vs gradient-free optimization.</a:t>
            </a:r>
          </a:p>
          <a:p>
            <a:pPr marL="1257300" lvl="2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Physics problem: many-body physics Hamiltonian (Ising model, Heisenberg model).</a:t>
            </a:r>
          </a:p>
          <a:p>
            <a:pPr marL="1257300" lvl="2" indent="-342900">
              <a:lnSpc>
                <a:spcPct val="150000"/>
              </a:lnSpc>
              <a:buFont typeface="+mj-lt"/>
              <a:buAutoNum type="arabicPeriod"/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QML:</a:t>
            </a:r>
          </a:p>
          <a:p>
            <a:pPr marL="1200150" lvl="2" indent="-285750">
              <a:lnSpc>
                <a:spcPct val="150000"/>
              </a:lnSpc>
              <a:buFont typeface="Wingdings" pitchFamily="2" charset="2"/>
              <a:buChar char="Ø"/>
            </a:pPr>
            <a:endParaRPr lang="en-US" dirty="0"/>
          </a:p>
          <a:p>
            <a:pPr marL="1257300" lvl="2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Use different feature map.</a:t>
            </a:r>
          </a:p>
          <a:p>
            <a:pPr marL="1257300" lvl="2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Use different dataset.</a:t>
            </a:r>
          </a:p>
          <a:p>
            <a:pPr marL="1257300" lvl="2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Explore variational quantum classifier for a classification problem you like.</a:t>
            </a:r>
          </a:p>
          <a:p>
            <a:pPr marL="1257300" lvl="2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Use different QML algorithm.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C49341-7265-2A76-5915-4B38EB6322D8}"/>
              </a:ext>
            </a:extLst>
          </p:cNvPr>
          <p:cNvSpPr txBox="1"/>
          <p:nvPr/>
        </p:nvSpPr>
        <p:spPr>
          <a:xfrm>
            <a:off x="1153722" y="6561723"/>
            <a:ext cx="9156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/>
                <a:ea typeface="+mn-ea"/>
                <a:cs typeface="+mn-cs"/>
              </a:rPr>
              <a:t>IQ Hack</a:t>
            </a:r>
          </a:p>
        </p:txBody>
      </p:sp>
    </p:spTree>
    <p:extLst>
      <p:ext uri="{BB962C8B-B14F-4D97-AF65-F5344CB8AC3E}">
        <p14:creationId xmlns:p14="http://schemas.microsoft.com/office/powerpoint/2010/main" val="4117504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D739A-5B57-9C71-152A-9C1C4FAED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552F9D-73B7-2FDD-7E85-0714416EE7EE}"/>
              </a:ext>
            </a:extLst>
          </p:cNvPr>
          <p:cNvSpPr/>
          <p:nvPr/>
        </p:nvSpPr>
        <p:spPr>
          <a:xfrm>
            <a:off x="0" y="0"/>
            <a:ext cx="12192000" cy="653143"/>
          </a:xfrm>
          <a:prstGeom prst="rect">
            <a:avLst/>
          </a:prstGeom>
          <a:solidFill>
            <a:srgbClr val="163E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 panose="020B0403020202020204" pitchFamily="34" charset="0"/>
                <a:ea typeface="+mn-ea"/>
                <a:cs typeface="+mn-cs"/>
              </a:rPr>
              <a:t> Hackathon Challenges: Example problem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F37917-196C-4535-F1D6-E414446B2769}"/>
              </a:ext>
            </a:extLst>
          </p:cNvPr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63E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Light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00EF25-EECF-6AE1-A910-93A4D16B90DD}"/>
              </a:ext>
            </a:extLst>
          </p:cNvPr>
          <p:cNvSpPr txBox="1"/>
          <p:nvPr/>
        </p:nvSpPr>
        <p:spPr>
          <a:xfrm>
            <a:off x="11450918" y="6551563"/>
            <a:ext cx="324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prstClr val="white"/>
                </a:solidFill>
                <a:latin typeface="Univers Light"/>
              </a:rPr>
              <a:t>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Light"/>
              <a:ea typeface="+mn-ea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CA4F04B-0AD8-CACF-1C6F-370E97C88CAC}"/>
              </a:ext>
            </a:extLst>
          </p:cNvPr>
          <p:cNvCxnSpPr/>
          <p:nvPr/>
        </p:nvCxnSpPr>
        <p:spPr>
          <a:xfrm>
            <a:off x="2733040" y="6583680"/>
            <a:ext cx="0" cy="27432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631C9BD-348B-84A6-DC8B-57D78EFAFCFC}"/>
              </a:ext>
            </a:extLst>
          </p:cNvPr>
          <p:cNvCxnSpPr/>
          <p:nvPr/>
        </p:nvCxnSpPr>
        <p:spPr>
          <a:xfrm>
            <a:off x="7762240" y="6593840"/>
            <a:ext cx="0" cy="27432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9496272-92D7-DA52-F32A-EFEFF961A888}"/>
              </a:ext>
            </a:extLst>
          </p:cNvPr>
          <p:cNvSpPr txBox="1"/>
          <p:nvPr/>
        </p:nvSpPr>
        <p:spPr>
          <a:xfrm flipH="1">
            <a:off x="8424424" y="6551563"/>
            <a:ext cx="20422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/>
                <a:ea typeface="+mn-ea"/>
                <a:cs typeface="+mn-cs"/>
              </a:rPr>
              <a:t>October </a:t>
            </a:r>
            <a:r>
              <a:rPr lang="en-US" sz="1600" dirty="0">
                <a:solidFill>
                  <a:prstClr val="white"/>
                </a:solidFill>
                <a:latin typeface="Univers Light"/>
              </a:rPr>
              <a:t>22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/>
                <a:ea typeface="+mn-ea"/>
                <a:cs typeface="+mn-cs"/>
              </a:rPr>
              <a:t>, 2026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75FB078-FFE0-7BE4-9FF2-06395DA02F48}"/>
              </a:ext>
            </a:extLst>
          </p:cNvPr>
          <p:cNvCxnSpPr/>
          <p:nvPr/>
        </p:nvCxnSpPr>
        <p:spPr>
          <a:xfrm>
            <a:off x="10911840" y="6595477"/>
            <a:ext cx="0" cy="27432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C15B5FC-D5E6-6108-DEA4-9B9F7F1C4F69}"/>
              </a:ext>
            </a:extLst>
          </p:cNvPr>
          <p:cNvSpPr txBox="1"/>
          <p:nvPr/>
        </p:nvSpPr>
        <p:spPr>
          <a:xfrm>
            <a:off x="4857553" y="6551563"/>
            <a:ext cx="7649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prstClr val="white"/>
                </a:solidFill>
                <a:latin typeface="Univers Light"/>
              </a:rPr>
              <a:t>MTSU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Light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37F5A2-25C1-6565-CE68-0A991DE43AB6}"/>
              </a:ext>
            </a:extLst>
          </p:cNvPr>
          <p:cNvSpPr txBox="1"/>
          <p:nvPr/>
        </p:nvSpPr>
        <p:spPr>
          <a:xfrm>
            <a:off x="258183" y="800923"/>
            <a:ext cx="11773983" cy="3930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QAOA</a:t>
            </a:r>
          </a:p>
          <a:p>
            <a:pPr marL="742950" lvl="1" indent="-285750">
              <a:buFont typeface="Wingdings" pitchFamily="2" charset="2"/>
              <a:buChar char="Ø"/>
            </a:pPr>
            <a:endParaRPr lang="en-US" dirty="0"/>
          </a:p>
          <a:p>
            <a:pPr marL="1257300" lvl="2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Choose optimization problem to solve using a QUBO.</a:t>
            </a:r>
          </a:p>
          <a:p>
            <a:pPr marL="1257300" lvl="2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Check effects of optimizers.</a:t>
            </a:r>
          </a:p>
          <a:p>
            <a:pPr marL="1257300" lvl="2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System size effect.</a:t>
            </a:r>
          </a:p>
          <a:p>
            <a:pPr marL="1257300" lvl="2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Different mixer Hamiltonian.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The goal is to explore as much as you can once you choose a topic. The more exploration you do the more you learn.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It will also enrich your submission, making you a better contender for the prize.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FBE8CA-3D2A-A944-678B-19F7AFAC5585}"/>
              </a:ext>
            </a:extLst>
          </p:cNvPr>
          <p:cNvSpPr txBox="1"/>
          <p:nvPr/>
        </p:nvSpPr>
        <p:spPr>
          <a:xfrm>
            <a:off x="1153722" y="6561723"/>
            <a:ext cx="9156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/>
                <a:ea typeface="+mn-ea"/>
                <a:cs typeface="+mn-cs"/>
              </a:rPr>
              <a:t>IQ Hack</a:t>
            </a:r>
          </a:p>
        </p:txBody>
      </p:sp>
    </p:spTree>
    <p:extLst>
      <p:ext uri="{BB962C8B-B14F-4D97-AF65-F5344CB8AC3E}">
        <p14:creationId xmlns:p14="http://schemas.microsoft.com/office/powerpoint/2010/main" val="2666221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1DB7F-AF5E-A8F0-226E-70F84C68F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325AD26-61A1-85A1-0C5E-D91C61B10288}"/>
              </a:ext>
            </a:extLst>
          </p:cNvPr>
          <p:cNvSpPr/>
          <p:nvPr/>
        </p:nvSpPr>
        <p:spPr>
          <a:xfrm>
            <a:off x="0" y="0"/>
            <a:ext cx="12192000" cy="653143"/>
          </a:xfrm>
          <a:prstGeom prst="rect">
            <a:avLst/>
          </a:prstGeom>
          <a:solidFill>
            <a:srgbClr val="163E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white"/>
                </a:solidFill>
                <a:latin typeface="Univers Light" panose="020B0403020202020204" pitchFamily="34" charset="0"/>
              </a:rPr>
              <a:t> Winners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Light" panose="020B0403020202020204" pitchFamily="34" charset="0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E6B29B-06E9-7613-C583-71EFD9B18B43}"/>
              </a:ext>
            </a:extLst>
          </p:cNvPr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63E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Light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8EEFC0-E6DE-6A5F-B670-324DBDDA1C9F}"/>
              </a:ext>
            </a:extLst>
          </p:cNvPr>
          <p:cNvSpPr txBox="1"/>
          <p:nvPr/>
        </p:nvSpPr>
        <p:spPr>
          <a:xfrm>
            <a:off x="11450918" y="6551563"/>
            <a:ext cx="324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prstClr val="white"/>
                </a:solidFill>
                <a:latin typeface="Univers Light"/>
              </a:rPr>
              <a:t>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Light"/>
              <a:ea typeface="+mn-ea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F13274C-BB19-EB31-2FDF-59CA27D0BD94}"/>
              </a:ext>
            </a:extLst>
          </p:cNvPr>
          <p:cNvCxnSpPr/>
          <p:nvPr/>
        </p:nvCxnSpPr>
        <p:spPr>
          <a:xfrm>
            <a:off x="2733040" y="6583680"/>
            <a:ext cx="0" cy="27432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68AB5C7-1235-1A87-6E55-4702B6164A10}"/>
              </a:ext>
            </a:extLst>
          </p:cNvPr>
          <p:cNvCxnSpPr/>
          <p:nvPr/>
        </p:nvCxnSpPr>
        <p:spPr>
          <a:xfrm>
            <a:off x="7762240" y="6593840"/>
            <a:ext cx="0" cy="27432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A78BC19-DCB4-E882-D63D-57AAF691C216}"/>
              </a:ext>
            </a:extLst>
          </p:cNvPr>
          <p:cNvSpPr txBox="1"/>
          <p:nvPr/>
        </p:nvSpPr>
        <p:spPr>
          <a:xfrm flipH="1">
            <a:off x="8424424" y="6551563"/>
            <a:ext cx="20422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/>
                <a:ea typeface="+mn-ea"/>
                <a:cs typeface="+mn-cs"/>
              </a:rPr>
              <a:t>October </a:t>
            </a:r>
            <a:r>
              <a:rPr lang="en-US" sz="1600" dirty="0">
                <a:solidFill>
                  <a:prstClr val="white"/>
                </a:solidFill>
                <a:latin typeface="Univers Light"/>
              </a:rPr>
              <a:t>22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/>
                <a:ea typeface="+mn-ea"/>
                <a:cs typeface="+mn-cs"/>
              </a:rPr>
              <a:t>, 2026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7FDA8FA-2DA0-6516-A0D3-A83700673B57}"/>
              </a:ext>
            </a:extLst>
          </p:cNvPr>
          <p:cNvCxnSpPr/>
          <p:nvPr/>
        </p:nvCxnSpPr>
        <p:spPr>
          <a:xfrm>
            <a:off x="10911840" y="6595477"/>
            <a:ext cx="0" cy="27432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F924FFE-0DBE-805B-540C-4EB679DEE730}"/>
              </a:ext>
            </a:extLst>
          </p:cNvPr>
          <p:cNvSpPr txBox="1"/>
          <p:nvPr/>
        </p:nvSpPr>
        <p:spPr>
          <a:xfrm>
            <a:off x="4857553" y="6551563"/>
            <a:ext cx="7649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prstClr val="white"/>
                </a:solidFill>
                <a:latin typeface="Univers Light"/>
              </a:rPr>
              <a:t>MTSU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Light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46CD8F-D31F-634A-32D3-68FBEDD75703}"/>
              </a:ext>
            </a:extLst>
          </p:cNvPr>
          <p:cNvSpPr txBox="1"/>
          <p:nvPr/>
        </p:nvSpPr>
        <p:spPr>
          <a:xfrm>
            <a:off x="258183" y="800923"/>
            <a:ext cx="1177398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 are two categories for your Hackathon submission:</a:t>
            </a:r>
          </a:p>
          <a:p>
            <a:endParaRPr lang="en-US" dirty="0"/>
          </a:p>
          <a:p>
            <a:pPr marL="742950" lvl="1" indent="-285750">
              <a:buFont typeface="Wingdings" pitchFamily="2" charset="2"/>
              <a:buChar char="Ø"/>
            </a:pPr>
            <a:r>
              <a:rPr lang="en-US" b="1" dirty="0"/>
              <a:t>Rising-star:</a:t>
            </a:r>
            <a:r>
              <a:rPr lang="en-US" dirty="0"/>
              <a:t> For people with no/very basic prior experience to Quantum Mechanics.</a:t>
            </a:r>
          </a:p>
          <a:p>
            <a:pPr marL="742950" lvl="1" indent="-285750">
              <a:buFont typeface="Wingdings" pitchFamily="2" charset="2"/>
              <a:buChar char="Ø"/>
            </a:pPr>
            <a:endParaRPr lang="en-US" dirty="0"/>
          </a:p>
          <a:p>
            <a:pPr marL="742950" lvl="1" indent="-285750">
              <a:buFont typeface="Wingdings" pitchFamily="2" charset="2"/>
              <a:buChar char="Ø"/>
            </a:pPr>
            <a:r>
              <a:rPr lang="en-US" b="1" dirty="0"/>
              <a:t>Champion:</a:t>
            </a:r>
            <a:r>
              <a:rPr lang="en-US" dirty="0"/>
              <a:t> For people with some/more experience to Quantum Mechanics.</a:t>
            </a:r>
          </a:p>
          <a:p>
            <a:pPr lvl="1"/>
            <a:endParaRPr lang="en-US" dirty="0"/>
          </a:p>
          <a:p>
            <a:r>
              <a:rPr lang="en-US" dirty="0"/>
              <a:t>Choose which category you want to submit to. However, the final choice of the category is determined by the grading committee.</a:t>
            </a:r>
          </a:p>
          <a:p>
            <a:pPr marL="742950" lvl="1" indent="-285750">
              <a:buFont typeface="Wingdings" pitchFamily="2" charset="2"/>
              <a:buChar char="Ø"/>
            </a:pPr>
            <a:endParaRPr lang="en-US" dirty="0"/>
          </a:p>
          <a:p>
            <a:pPr marL="742950" lvl="1" indent="-285750">
              <a:buFont typeface="Wingdings" pitchFamily="2" charset="2"/>
              <a:buChar char="Ø"/>
            </a:pPr>
            <a:endParaRPr lang="en-US" dirty="0"/>
          </a:p>
          <a:p>
            <a:r>
              <a:rPr lang="en-US" dirty="0"/>
              <a:t>There will be two winners in each of the Rising-star and Champion categories.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Everyone participating in the Hackathon gets the IBM and MTSU Badge.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217500-B21F-54A2-E923-9840D3F9C7ED}"/>
              </a:ext>
            </a:extLst>
          </p:cNvPr>
          <p:cNvSpPr txBox="1"/>
          <p:nvPr/>
        </p:nvSpPr>
        <p:spPr>
          <a:xfrm>
            <a:off x="1153722" y="6561723"/>
            <a:ext cx="9156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/>
                <a:ea typeface="+mn-ea"/>
                <a:cs typeface="+mn-cs"/>
              </a:rPr>
              <a:t>IQ Hack</a:t>
            </a:r>
          </a:p>
        </p:txBody>
      </p:sp>
    </p:spTree>
    <p:extLst>
      <p:ext uri="{BB962C8B-B14F-4D97-AF65-F5344CB8AC3E}">
        <p14:creationId xmlns:p14="http://schemas.microsoft.com/office/powerpoint/2010/main" val="4014261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EBA46-5E9F-99D6-EFCE-AAFBCC7AE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D2B4618-CC60-2A28-D8E0-C67207EFB527}"/>
              </a:ext>
            </a:extLst>
          </p:cNvPr>
          <p:cNvSpPr/>
          <p:nvPr/>
        </p:nvSpPr>
        <p:spPr>
          <a:xfrm>
            <a:off x="0" y="0"/>
            <a:ext cx="12192000" cy="653143"/>
          </a:xfrm>
          <a:prstGeom prst="rect">
            <a:avLst/>
          </a:prstGeom>
          <a:solidFill>
            <a:srgbClr val="163E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 panose="020B0403020202020204" pitchFamily="34" charset="0"/>
                <a:ea typeface="+mn-ea"/>
                <a:cs typeface="+mn-cs"/>
              </a:rPr>
              <a:t> Submission rules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E0C58F-8D81-C194-933D-9EC4ED62B597}"/>
              </a:ext>
            </a:extLst>
          </p:cNvPr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63E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Light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2DF31E-9BE3-280B-5C71-797BD3F6B545}"/>
              </a:ext>
            </a:extLst>
          </p:cNvPr>
          <p:cNvSpPr txBox="1"/>
          <p:nvPr/>
        </p:nvSpPr>
        <p:spPr>
          <a:xfrm>
            <a:off x="11450918" y="6551563"/>
            <a:ext cx="324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prstClr val="white"/>
                </a:solidFill>
                <a:latin typeface="Univers Light"/>
              </a:rPr>
              <a:t>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Light"/>
              <a:ea typeface="+mn-ea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C1EAA9-96C7-D656-C130-08C44CD94044}"/>
              </a:ext>
            </a:extLst>
          </p:cNvPr>
          <p:cNvCxnSpPr/>
          <p:nvPr/>
        </p:nvCxnSpPr>
        <p:spPr>
          <a:xfrm>
            <a:off x="2733040" y="6583680"/>
            <a:ext cx="0" cy="27432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7D9029E-789E-D0C6-98CB-CA40D0A9464A}"/>
              </a:ext>
            </a:extLst>
          </p:cNvPr>
          <p:cNvCxnSpPr/>
          <p:nvPr/>
        </p:nvCxnSpPr>
        <p:spPr>
          <a:xfrm>
            <a:off x="7762240" y="6593840"/>
            <a:ext cx="0" cy="27432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9E8E837-AC7D-C741-34D1-E26A22C57FF6}"/>
              </a:ext>
            </a:extLst>
          </p:cNvPr>
          <p:cNvSpPr txBox="1"/>
          <p:nvPr/>
        </p:nvSpPr>
        <p:spPr>
          <a:xfrm flipH="1">
            <a:off x="8424424" y="6551563"/>
            <a:ext cx="20422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/>
                <a:ea typeface="+mn-ea"/>
                <a:cs typeface="+mn-cs"/>
              </a:rPr>
              <a:t>October </a:t>
            </a:r>
            <a:r>
              <a:rPr lang="en-US" sz="1600" dirty="0">
                <a:solidFill>
                  <a:prstClr val="white"/>
                </a:solidFill>
                <a:latin typeface="Univers Light"/>
              </a:rPr>
              <a:t>22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/>
                <a:ea typeface="+mn-ea"/>
                <a:cs typeface="+mn-cs"/>
              </a:rPr>
              <a:t>, 2026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D778FB1-0A3B-C988-B572-43B1BAEAE3B6}"/>
              </a:ext>
            </a:extLst>
          </p:cNvPr>
          <p:cNvCxnSpPr/>
          <p:nvPr/>
        </p:nvCxnSpPr>
        <p:spPr>
          <a:xfrm>
            <a:off x="10911840" y="6595477"/>
            <a:ext cx="0" cy="27432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7B4F793-C130-D979-D2B7-E18844C57383}"/>
              </a:ext>
            </a:extLst>
          </p:cNvPr>
          <p:cNvSpPr txBox="1"/>
          <p:nvPr/>
        </p:nvSpPr>
        <p:spPr>
          <a:xfrm>
            <a:off x="4857553" y="6551563"/>
            <a:ext cx="7649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prstClr val="white"/>
                </a:solidFill>
                <a:latin typeface="Univers Light"/>
              </a:rPr>
              <a:t>MTSU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 Light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195081-4DC6-23F9-3EC0-A64DBEE231BF}"/>
              </a:ext>
            </a:extLst>
          </p:cNvPr>
          <p:cNvSpPr txBox="1"/>
          <p:nvPr/>
        </p:nvSpPr>
        <p:spPr>
          <a:xfrm>
            <a:off x="258183" y="689413"/>
            <a:ext cx="11773983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You will be judged on your code submission and project report.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dirty="0"/>
          </a:p>
          <a:p>
            <a:pPr marL="1257300" lvl="2" indent="-342900">
              <a:buFont typeface="+mj-lt"/>
              <a:buAutoNum type="arabicPeriod"/>
            </a:pPr>
            <a:r>
              <a:rPr lang="en-US" dirty="0"/>
              <a:t>You must submit </a:t>
            </a:r>
            <a:r>
              <a:rPr lang="en-US" b="1" dirty="0"/>
              <a:t>your code (notebook) and project report </a:t>
            </a:r>
            <a:r>
              <a:rPr lang="en-US" dirty="0"/>
              <a:t>via a </a:t>
            </a:r>
            <a:r>
              <a:rPr lang="en-US" b="1" dirty="0"/>
              <a:t>public GitHub repository</a:t>
            </a:r>
            <a:r>
              <a:rPr lang="en-US" dirty="0"/>
              <a:t>.</a:t>
            </a:r>
          </a:p>
          <a:p>
            <a:pPr marL="1257300" lvl="2" indent="-342900">
              <a:buFont typeface="+mj-lt"/>
              <a:buAutoNum type="arabicPeriod"/>
            </a:pPr>
            <a:endParaRPr lang="en-US" dirty="0"/>
          </a:p>
          <a:p>
            <a:pPr marL="1257300" lvl="2" indent="-342900">
              <a:buFont typeface="+mj-lt"/>
              <a:buAutoNum type="arabicPeriod"/>
            </a:pPr>
            <a:r>
              <a:rPr lang="en-US" dirty="0"/>
              <a:t>Code must be functional with a command in the beginning that will install all necessary packages.</a:t>
            </a:r>
          </a:p>
          <a:p>
            <a:pPr marL="1257300" lvl="2" indent="-342900">
              <a:buFont typeface="+mj-lt"/>
              <a:buAutoNum type="arabicPeriod"/>
            </a:pPr>
            <a:endParaRPr lang="en-US" dirty="0"/>
          </a:p>
          <a:p>
            <a:pPr lvl="2"/>
            <a:r>
              <a:rPr lang="en-US" dirty="0"/>
              <a:t>Example: %pip install </a:t>
            </a:r>
            <a:r>
              <a:rPr lang="en-US" dirty="0" err="1"/>
              <a:t>numpy</a:t>
            </a:r>
            <a:r>
              <a:rPr lang="en-US" dirty="0"/>
              <a:t> </a:t>
            </a:r>
            <a:r>
              <a:rPr lang="en-US" dirty="0" err="1"/>
              <a:t>scipy</a:t>
            </a:r>
            <a:r>
              <a:rPr lang="en-US" dirty="0"/>
              <a:t> matplotlib </a:t>
            </a:r>
            <a:r>
              <a:rPr lang="en-US" dirty="0" err="1"/>
              <a:t>ipywidgets</a:t>
            </a:r>
            <a:r>
              <a:rPr lang="en-US" dirty="0"/>
              <a:t> </a:t>
            </a:r>
            <a:r>
              <a:rPr lang="en-US" dirty="0" err="1"/>
              <a:t>pylatexenc</a:t>
            </a:r>
            <a:r>
              <a:rPr lang="en-US" dirty="0"/>
              <a:t> </a:t>
            </a:r>
            <a:r>
              <a:rPr lang="en-US" dirty="0" err="1"/>
              <a:t>qiskit</a:t>
            </a:r>
            <a:r>
              <a:rPr lang="en-US" dirty="0"/>
              <a:t> </a:t>
            </a:r>
            <a:r>
              <a:rPr lang="en-US" dirty="0" err="1"/>
              <a:t>pyscf</a:t>
            </a:r>
            <a:r>
              <a:rPr lang="en-US" dirty="0"/>
              <a:t> </a:t>
            </a:r>
            <a:r>
              <a:rPr lang="en-US" dirty="0" err="1"/>
              <a:t>qiskit_nature</a:t>
            </a:r>
            <a:r>
              <a:rPr lang="en-US" dirty="0"/>
              <a:t>  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3. Report must haves: </a:t>
            </a:r>
          </a:p>
          <a:p>
            <a:pPr lvl="2"/>
            <a:r>
              <a:rPr lang="en-US" dirty="0"/>
              <a:t>	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dirty="0"/>
              <a:t>Your group’s name and all group members’ names, affiliation, department, and career level.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dirty="0"/>
              <a:t>Submission category.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dirty="0"/>
              <a:t>A bullet point summary list of what you did.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dirty="0"/>
              <a:t>A description of what is your motivation to choose the track and the problem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dirty="0"/>
              <a:t>Brief workflow explaining your code.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dirty="0"/>
              <a:t>Results. This is the most important part. Carefully report your results with proper plots (axes labelled).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Once you are done, send me an email with the link of your public repository containing the notebook and report.</a:t>
            </a:r>
          </a:p>
          <a:p>
            <a:pPr lvl="3"/>
            <a:endParaRPr lang="en-US" dirty="0"/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dirty="0" err="1"/>
              <a:t>Abhijit.Chakraborty@mtsu.edu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B1FA3E-25CF-5419-4BE2-701147E0E2A5}"/>
              </a:ext>
            </a:extLst>
          </p:cNvPr>
          <p:cNvSpPr txBox="1"/>
          <p:nvPr/>
        </p:nvSpPr>
        <p:spPr>
          <a:xfrm>
            <a:off x="1153722" y="6561723"/>
            <a:ext cx="9156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Light"/>
                <a:ea typeface="+mn-ea"/>
                <a:cs typeface="+mn-cs"/>
              </a:rPr>
              <a:t>IQ Hack</a:t>
            </a:r>
          </a:p>
        </p:txBody>
      </p:sp>
    </p:spTree>
    <p:extLst>
      <p:ext uri="{BB962C8B-B14F-4D97-AF65-F5344CB8AC3E}">
        <p14:creationId xmlns:p14="http://schemas.microsoft.com/office/powerpoint/2010/main" val="699631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044F7-B258-502C-BCCE-384526F35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0A39F40-1B8B-7C94-F427-283B7672AA02}"/>
              </a:ext>
            </a:extLst>
          </p:cNvPr>
          <p:cNvSpPr txBox="1"/>
          <p:nvPr/>
        </p:nvSpPr>
        <p:spPr>
          <a:xfrm>
            <a:off x="4597013" y="2852749"/>
            <a:ext cx="299797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5286796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648</Words>
  <Application>Microsoft Macintosh PowerPoint</Application>
  <PresentationFormat>Widescreen</PresentationFormat>
  <Paragraphs>131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Univers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Abhijit Chakraborty</dc:creator>
  <cp:lastModifiedBy>Abhijit Chakraborty</cp:lastModifiedBy>
  <cp:revision>8</cp:revision>
  <dcterms:created xsi:type="dcterms:W3CDTF">2026-10-22T18:46:03Z</dcterms:created>
  <dcterms:modified xsi:type="dcterms:W3CDTF">2026-10-22T21:41:55Z</dcterms:modified>
</cp:coreProperties>
</file>